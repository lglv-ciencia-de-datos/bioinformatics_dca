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embeddedFontLst>
    <p:embeddedFont>
      <p:font typeface="Raleway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Bold" panose="02000000000000000000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24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71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10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hyperlink" Target="https://www.ebi.ac.uk/jdispatcher/" TargetMode="External"/><Relationship Id="rId4" Type="http://schemas.openxmlformats.org/officeDocument/2006/relationships/hyperlink" Target="https://www.ncbi.nlm.nih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Alineamiento de Secuencias y Algoritmo de Matriz de Puntos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Bioinformática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Unidad II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81658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Importa el Alineamiento de Secuencias?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259905"/>
            <a:ext cx="6296860" cy="16328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7954" y="2464792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Fundamento de la Bioinformática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7954" y="2847578"/>
            <a:ext cx="578549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tienes una buena idea sobre el alineamiento de secuencias, será muy fácil entender el resto de los conceptos bioinformáticos. Es la piedra angular de toda la disciplina.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63305"/>
            <a:ext cx="6296860" cy="19129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7954" y="4268192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Similitudes Evolutivas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7954" y="4650978"/>
            <a:ext cx="578549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organismos comparten ADN de un ancestro común, por lo que debería haber similitudes en el ADN presente en diferentes organismos. El alineamiento nos permite cuantificar y visualizar esas similitudes.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620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Contexto Evolutivo: La Historia de la Vida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2045097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700510"/>
            <a:ext cx="353428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Ancestro Común a la Diversidad Actual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189" y="2385020"/>
            <a:ext cx="3534282" cy="24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primeras formas de vida fueron bacterias arqueales con ADN simple. Estas bacterias son los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ancestros de todos los organismos vivientes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presentes en la superficie terrestre.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través de miles de millones de años de evolución, el ADN se transfirió, duplicó y divergió. Las similitudes y diferencias que observamos hoy en las secuencias son el registro molecular de esa historia evolutiva.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02189" y="5022056"/>
            <a:ext cx="3534282" cy="877491"/>
          </a:xfrm>
          <a:prstGeom prst="roundRect">
            <a:avLst>
              <a:gd name="adj" fmla="val 8142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246" y="5252938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54923" y="5202238"/>
            <a:ext cx="281149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secuencias de ADN son el "fósil molecular" de la evolución.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es el Alineamiento de Secuencias?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42431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843113"/>
            <a:ext cx="5226911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forma de identificar similitudes y diferencias evolutivas en secuencias se llama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alineamiento de secuencias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comparación de secuencias. Es una comparación sistemática de secuencias de ADN o proteínas para revelar relaciones evolutivas y funcionales.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alineamiento permite responder preguntas fundamentales: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411365"/>
            <a:ext cx="5226911" cy="882848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tan relacionados están dos organismos?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¿Comparten dos proteínas una función común?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regiones del genoma están conservadas?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59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Tipos de Alineamiento de Secuencias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09006"/>
            <a:ext cx="6296860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856832" y="240436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Alineamiento por Pares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13050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Comparamos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dos secuencias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la vez, ya sean secuencias de proteínas o ADN. Es el método más simple y la base de los algoritmos más complejos.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104680"/>
            <a:ext cx="6296860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56832" y="430004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Alineamiento Múltiple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708723"/>
            <a:ext cx="59061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Comparación de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más de dos secuencias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simultáneamente. El alineamiento múltiple proporciona más información que el alineamiento por pares, permitiendo identificar patrones conservados a través de familias de genes.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Alineamiento Global vs. Local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9659" y="2388691"/>
            <a:ext cx="2536861" cy="28417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50546" y="250021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498765" y="3071118"/>
            <a:ext cx="21586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Global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498765" y="3489920"/>
            <a:ext cx="2158648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compara la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longitud completa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las dos secuencias entre sí, de inicio a fin. Ideal cuando las secuencias tienen longitud comparable.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9610" y="2388691"/>
            <a:ext cx="2536960" cy="28417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40498" y="250021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9188716" y="3071118"/>
            <a:ext cx="21587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188716" y="3489920"/>
            <a:ext cx="2158748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 alinea la longitud completa, sino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parches de las secuencias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Preferido cuando las secuencias tienen longitudes muy diferentes.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2672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Introducción al Algoritmo de Matriz de Puntos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9149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732365" y="26269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75723" y="265638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Método Visual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3065066"/>
            <a:ext cx="56826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conoce como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Dot-matrix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Dot-matcher porque colocamos puntos entre residuos similares. Es el primer algoritmo de comparación de secuencias desarrollado en bioinformática.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35034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732365" y="438576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75723" y="441523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Conceptual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275723" y="4823916"/>
            <a:ext cx="56826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Aunque simple, la matriz de puntos sienta las bases conceptuales para algoritmos más complejos como la programación dinámica (Needleman-Wunsch, Smith-Waterman).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2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Funciona la Matriz de Puntos?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62" y="2336899"/>
            <a:ext cx="5152896" cy="305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3149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Conectar diagonales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08883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Marcar coincidencias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68297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Colocar secuencias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32251" y="169138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Procedimiento Paso a Paso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032251" y="2175669"/>
            <a:ext cx="350421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Consideramos cada residuo del eje X y buscamos coincidencias en los residuos del eje Y. Donde hay coincidencia, se coloca un punto.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conectar los puntos en diagonal, emergen patrones que revelan la naturaleza del alineamiento entre las dos secuencias comparadas.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32251" y="4977705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258" y="5264448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6499" y="5194995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diagonales son la clave interpretativa de toda la matriz.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035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Interpretación de Resultados: Patrones Diagonales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79675"/>
            <a:ext cx="3083344" cy="1905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2160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Diagonal Central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5030291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línea diagonal central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continua o discontinua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indica alineamiento global entre las dos secuencias. La continuidad refleja el grado de similitud.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479675"/>
            <a:ext cx="3083443" cy="1905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462160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Diagonales en Bordes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5030291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Pequeñas líneas diagonales en los bordes indican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similitud en porciones específicas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 secuencia, correspondiendo a alineamiento local.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5743"/>
            <a:ext cx="10868745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Especial: Identificación de Secuencias Repetidas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2226667"/>
            <a:ext cx="352376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Procedimiento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2668091"/>
            <a:ext cx="3523765" cy="233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alinea la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misma secuencia consigo misma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Se obtiene una línea diagonal central sólida, pero si hay secuencias repetidas, se observan pequeñas líneas diagonales paralelas.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pequeñas líneas diagonales paralelas indican que hay una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secuencia que se repite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la secuencia de ADN analizada.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5154712"/>
            <a:ext cx="3523765" cy="936625"/>
          </a:xfrm>
          <a:prstGeom prst="rect">
            <a:avLst/>
          </a:prstGeom>
          <a:noFill/>
          <a:ln/>
        </p:spPr>
        <p:txBody>
          <a:bodyPr wrap="square" lIns="0" tIns="70705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Útil para detectar repeticiones en tándem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duplicaciones génicas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Revela elementos transponibles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618" y="2244328"/>
            <a:ext cx="6567919" cy="37218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1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Ventajas y Limitaciones de la Matriz de Puntos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49686"/>
            <a:ext cx="10868745" cy="2509738"/>
          </a:xfrm>
          <a:prstGeom prst="roundRect">
            <a:avLst>
              <a:gd name="adj" fmla="val 316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67825" y="2256036"/>
            <a:ext cx="5428023" cy="2497038"/>
          </a:xfrm>
          <a:custGeom>
            <a:avLst/>
            <a:gdLst/>
            <a:ahLst/>
            <a:cxnLst/>
            <a:rect l="l" t="t" r="r" b="b"/>
            <a:pathLst>
              <a:path w="5428023" h="2497038">
                <a:moveTo>
                  <a:pt x="66156" y="0"/>
                </a:moveTo>
                <a:lnTo>
                  <a:pt x="5428023" y="0"/>
                </a:lnTo>
                <a:lnTo>
                  <a:pt x="5428023" y="2497038"/>
                </a:lnTo>
                <a:lnTo>
                  <a:pt x="66156" y="2497038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56832" y="244504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Ventajas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853730"/>
            <a:ext cx="5050009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visual e intuitivo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 comparación de secuencias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secuencias repetidas en el ADN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 alineamiento global y local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simultáneamente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conceptual para algoritmos más avanzados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256036"/>
            <a:ext cx="5428023" cy="2497038"/>
          </a:xfrm>
          <a:custGeom>
            <a:avLst/>
            <a:gdLst/>
            <a:ahLst/>
            <a:cxnLst/>
            <a:rect l="l" t="t" r="r" b="b"/>
            <a:pathLst>
              <a:path w="5428023" h="2497038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2430880"/>
                </a:lnTo>
                <a:arcTo wR="66156" hR="66158" stAng="0" swAng="5400000"/>
                <a:lnTo>
                  <a:pt x="0" y="249703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095848" y="2256036"/>
            <a:ext cx="25399" cy="249703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284854" y="244504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Limitaciones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2853730"/>
            <a:ext cx="5050009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Comparación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cualitativa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 cuantitativa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detecta indels (inserciones y deleciones)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muestra la historia evolutiva completa: revela sustituciones pero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deleciones e inserciones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 limitada para secuencias muy largas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97205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matriz de puntos sigue siendo una herramienta pedagógica y exploratoria fundamental en bioinformática, a pesar de sus limitaciones computacionales.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3154725" y="5317588"/>
            <a:ext cx="5857977" cy="1209822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568" y="5457724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4678" y="5194995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F845D-3F2A-9EA5-61CA-F927D1475A26}"/>
              </a:ext>
            </a:extLst>
          </p:cNvPr>
          <p:cNvSpPr txBox="1"/>
          <p:nvPr/>
        </p:nvSpPr>
        <p:spPr>
          <a:xfrm>
            <a:off x="984739" y="575345"/>
            <a:ext cx="8651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Raleway" pitchFamily="2" charset="0"/>
              </a:rPr>
              <a:t>Conceptos Clave: Homología y Umbrales de Identidad</a:t>
            </a:r>
            <a:endParaRPr lang="es-E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925C2-0D4C-6A2E-2A22-A981F29D1AFB}"/>
              </a:ext>
            </a:extLst>
          </p:cNvPr>
          <p:cNvSpPr txBox="1"/>
          <p:nvPr/>
        </p:nvSpPr>
        <p:spPr>
          <a:xfrm>
            <a:off x="2411527" y="1669101"/>
            <a:ext cx="7372833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Homología: </a:t>
            </a:r>
          </a:p>
          <a:p>
            <a:endParaRPr lang="es-ES" dirty="0"/>
          </a:p>
          <a:p>
            <a:r>
              <a:rPr lang="es-ES" dirty="0"/>
              <a:t>Similitud suficiente entre secuencias </a:t>
            </a:r>
          </a:p>
          <a:p>
            <a:endParaRPr lang="es-ES" dirty="0"/>
          </a:p>
          <a:p>
            <a:r>
              <a:rPr lang="es-ES" sz="2800" dirty="0"/>
              <a:t>Umbrales:</a:t>
            </a:r>
            <a:r>
              <a:rPr lang="es-ES" dirty="0"/>
              <a:t> </a:t>
            </a:r>
          </a:p>
          <a:p>
            <a:pPr algn="ctr"/>
            <a:r>
              <a:rPr lang="es-ES" sz="2800" dirty="0">
                <a:solidFill>
                  <a:srgbClr val="00B050"/>
                </a:solidFill>
                <a:highlight>
                  <a:srgbClr val="000000"/>
                </a:highlight>
              </a:rPr>
              <a:t>&gt;40% identidad (zona segura),  </a:t>
            </a:r>
          </a:p>
          <a:p>
            <a:pPr algn="ctr"/>
            <a:r>
              <a:rPr lang="es-ES" sz="2800" dirty="0">
                <a:solidFill>
                  <a:srgbClr val="FFFF00"/>
                </a:solidFill>
                <a:highlight>
                  <a:srgbClr val="000000"/>
                </a:highlight>
              </a:rPr>
              <a:t>20-40% (zona crepuscular), </a:t>
            </a:r>
          </a:p>
          <a:p>
            <a:pPr algn="ctr"/>
            <a:r>
              <a:rPr lang="es-ES" sz="2800" dirty="0">
                <a:solidFill>
                  <a:srgbClr val="FF0000"/>
                </a:solidFill>
                <a:highlight>
                  <a:srgbClr val="000000"/>
                </a:highlight>
              </a:rPr>
              <a:t>&lt;20% (zona medianoche)</a:t>
            </a:r>
            <a:endParaRPr lang="es-MX" sz="2800" dirty="0">
              <a:solidFill>
                <a:srgbClr val="FF0000"/>
              </a:solidFill>
              <a:highlight>
                <a:srgbClr val="000000"/>
              </a:highlight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1A81DB7-F70F-B273-AE92-0E40DD2E7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323" y="5405266"/>
            <a:ext cx="22700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Secuencia (5’       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3')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EEB1DA-1E46-30C5-64C4-5AF5DE60BED1}"/>
              </a:ext>
            </a:extLst>
          </p:cNvPr>
          <p:cNvCxnSpPr/>
          <p:nvPr/>
        </p:nvCxnSpPr>
        <p:spPr>
          <a:xfrm>
            <a:off x="5274946" y="5611274"/>
            <a:ext cx="337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B3FA3B-68C9-C164-FFBB-AAE74A1012E1}"/>
              </a:ext>
            </a:extLst>
          </p:cNvPr>
          <p:cNvSpPr txBox="1"/>
          <p:nvPr/>
        </p:nvSpPr>
        <p:spPr>
          <a:xfrm>
            <a:off x="4118389" y="5749178"/>
            <a:ext cx="161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A G C T </a:t>
            </a:r>
            <a:r>
              <a:rPr lang="fr-FR" sz="1400" dirty="0" err="1">
                <a:solidFill>
                  <a:srgbClr val="FF0000"/>
                </a:solidFill>
              </a:rPr>
              <a:t>T</a:t>
            </a:r>
            <a:r>
              <a:rPr lang="fr-FR" sz="1400" dirty="0"/>
              <a:t> C G A T C</a:t>
            </a:r>
            <a:endParaRPr lang="es-MX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107CD9-F359-15EF-563A-7DA73F29E284}"/>
              </a:ext>
            </a:extLst>
          </p:cNvPr>
          <p:cNvSpPr txBox="1"/>
          <p:nvPr/>
        </p:nvSpPr>
        <p:spPr>
          <a:xfrm>
            <a:off x="4118389" y="6118695"/>
            <a:ext cx="161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A G C T </a:t>
            </a:r>
            <a:r>
              <a:rPr lang="fr-FR" sz="1400" dirty="0">
                <a:solidFill>
                  <a:srgbClr val="00B050"/>
                </a:solidFill>
              </a:rPr>
              <a:t>G</a:t>
            </a:r>
            <a:r>
              <a:rPr lang="fr-FR" sz="1400" dirty="0"/>
              <a:t> C G A T C</a:t>
            </a:r>
            <a:endParaRPr lang="es-MX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8794E3-20AF-05C1-A241-0F5186B3D33F}"/>
              </a:ext>
            </a:extLst>
          </p:cNvPr>
          <p:cNvSpPr txBox="1"/>
          <p:nvPr/>
        </p:nvSpPr>
        <p:spPr>
          <a:xfrm>
            <a:off x="3187568" y="5786972"/>
            <a:ext cx="8596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dirty="0">
                <a:solidFill>
                  <a:srgbClr val="FF0000"/>
                </a:solidFill>
              </a:rPr>
              <a:t>Organismo 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2B4D5-D856-9B30-B305-36ECBDCEF534}"/>
              </a:ext>
            </a:extLst>
          </p:cNvPr>
          <p:cNvSpPr txBox="1"/>
          <p:nvPr/>
        </p:nvSpPr>
        <p:spPr>
          <a:xfrm>
            <a:off x="5696202" y="5749178"/>
            <a:ext cx="23919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100% (Ancestro / Referencia)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BC615B-1D82-48CD-3EE1-2783C77E3176}"/>
              </a:ext>
            </a:extLst>
          </p:cNvPr>
          <p:cNvSpPr txBox="1"/>
          <p:nvPr/>
        </p:nvSpPr>
        <p:spPr>
          <a:xfrm>
            <a:off x="3187568" y="6180251"/>
            <a:ext cx="13973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dirty="0">
                <a:solidFill>
                  <a:srgbClr val="00B050"/>
                </a:solidFill>
              </a:rPr>
              <a:t>Organismo B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41D448B5-31D2-7B06-314B-7280FC583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719" y="6125220"/>
            <a:ext cx="333394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 (Sustitución en posición 5: 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        G)</a:t>
            </a: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4FD96A-77C3-C653-9ACA-C61B96279EF2}"/>
              </a:ext>
            </a:extLst>
          </p:cNvPr>
          <p:cNvCxnSpPr>
            <a:cxnSpLocks/>
          </p:cNvCxnSpPr>
          <p:nvPr/>
        </p:nvCxnSpPr>
        <p:spPr>
          <a:xfrm>
            <a:off x="8442520" y="6295197"/>
            <a:ext cx="256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79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2524"/>
            <a:ext cx="6588076" cy="2434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Ejercicio</a:t>
            </a:r>
            <a:r>
              <a:rPr lang="en-US" sz="4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</a:t>
            </a:r>
            <a:r>
              <a:rPr lang="en-US" sz="48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práctica</a:t>
            </a:r>
            <a:r>
              <a:rPr lang="en-US" sz="4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480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1B1B27"/>
                </a:solidFill>
              </a:rPr>
              <a:t>1. Entra a la </a:t>
            </a:r>
            <a:r>
              <a:rPr lang="en-US" sz="4800" dirty="0" err="1">
                <a:solidFill>
                  <a:srgbClr val="1B1B27"/>
                </a:solidFill>
              </a:rPr>
              <a:t>siguiente</a:t>
            </a:r>
            <a:r>
              <a:rPr lang="en-US" sz="4800" dirty="0">
                <a:solidFill>
                  <a:srgbClr val="1B1B27"/>
                </a:solidFill>
              </a:rPr>
              <a:t> </a:t>
            </a:r>
            <a:r>
              <a:rPr lang="en-US" sz="4800" dirty="0" err="1">
                <a:solidFill>
                  <a:srgbClr val="1B1B27"/>
                </a:solidFill>
              </a:rPr>
              <a:t>liga</a:t>
            </a:r>
            <a:r>
              <a:rPr lang="en-US" sz="4800" dirty="0">
                <a:solidFill>
                  <a:srgbClr val="1B1B27"/>
                </a:solidFill>
              </a:rPr>
              <a:t>: </a:t>
            </a:r>
            <a:r>
              <a:rPr lang="en-US" sz="4800" dirty="0">
                <a:solidFill>
                  <a:srgbClr val="1B1B27"/>
                </a:solidFill>
                <a:hlinkClick r:id="rId4"/>
              </a:rPr>
              <a:t>https://www.ncbi.nlm.nih.gov/</a:t>
            </a:r>
            <a:endParaRPr lang="en-US" sz="4800" dirty="0">
              <a:solidFill>
                <a:srgbClr val="1B1B27"/>
              </a:solidFill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4800" dirty="0">
              <a:solidFill>
                <a:srgbClr val="1B1B27"/>
              </a:solidFill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4800" dirty="0"/>
              <a:t>2. </a:t>
            </a:r>
            <a:r>
              <a:rPr lang="en-US" sz="4800" dirty="0" err="1"/>
              <a:t>Busca</a:t>
            </a:r>
            <a:r>
              <a:rPr lang="en-US" sz="4800" dirty="0"/>
              <a:t> un gen de </a:t>
            </a:r>
            <a:r>
              <a:rPr lang="en-US" sz="4800" dirty="0" err="1"/>
              <a:t>tu</a:t>
            </a:r>
            <a:r>
              <a:rPr lang="en-US" sz="4800" dirty="0"/>
              <a:t> </a:t>
            </a:r>
            <a:r>
              <a:rPr lang="en-US" sz="4800" dirty="0" err="1"/>
              <a:t>interés</a:t>
            </a:r>
            <a:r>
              <a:rPr lang="en-US" sz="4800" dirty="0"/>
              <a:t>, </a:t>
            </a:r>
            <a:r>
              <a:rPr lang="en-US" sz="4800" dirty="0" err="1"/>
              <a:t>por</a:t>
            </a:r>
            <a:r>
              <a:rPr lang="en-US" sz="4800" dirty="0"/>
              <a:t> </a:t>
            </a:r>
            <a:r>
              <a:rPr lang="en-US" sz="4800" dirty="0" err="1"/>
              <a:t>ejemplo</a:t>
            </a:r>
            <a:r>
              <a:rPr lang="en-US" sz="4800" dirty="0"/>
              <a:t>: </a:t>
            </a:r>
            <a:r>
              <a:rPr lang="es-ES" sz="4800" dirty="0"/>
              <a:t>genes tipo </a:t>
            </a:r>
            <a:r>
              <a:rPr lang="es-ES" sz="4800" b="0" i="1" u="none" strike="noStrike" dirty="0">
                <a:effectLst/>
              </a:rPr>
              <a:t>DHN</a:t>
            </a:r>
            <a:r>
              <a:rPr lang="es-ES" sz="4800" dirty="0"/>
              <a:t> que ayudan a tolerar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la sequía extrema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3. Coloca en el buscador: DHN and </a:t>
            </a:r>
            <a:r>
              <a:rPr lang="es-ES" sz="4800" dirty="0" err="1"/>
              <a:t>RefSeq</a:t>
            </a:r>
            <a:r>
              <a:rPr lang="es-ES" sz="4800" dirty="0"/>
              <a:t> 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b="1" dirty="0" err="1">
                <a:solidFill>
                  <a:srgbClr val="FF0000"/>
                </a:solidFill>
              </a:rPr>
              <a:t>RefSeq</a:t>
            </a:r>
            <a:r>
              <a:rPr lang="es-ES" sz="4800" b="1" dirty="0"/>
              <a:t>: Es un recurso público diseñado para proporcionar un estándar de referencia curado y sin redundancia para secuencias biológicas (ADN, ARN y proteínas).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4. Elige los dos organismos que deseas analizar y descarga sus archivos FASTA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5. Coloca al inicio del encabezado sin quitar el signo &gt; el nombre del organismo, en cada archivo FASTA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6. Enseguida </a:t>
            </a:r>
            <a:r>
              <a:rPr lang="es-ES" sz="4800" dirty="0" err="1"/>
              <a:t>dirigete</a:t>
            </a:r>
            <a:r>
              <a:rPr lang="es-ES" sz="4800" dirty="0"/>
              <a:t> a la </a:t>
            </a:r>
            <a:r>
              <a:rPr lang="es-ES" sz="4800" dirty="0" err="1"/>
              <a:t>sigunete</a:t>
            </a:r>
            <a:r>
              <a:rPr lang="es-ES" sz="4800" dirty="0"/>
              <a:t> liga: </a:t>
            </a:r>
            <a:r>
              <a:rPr lang="es-ES" sz="4800" dirty="0">
                <a:hlinkClick r:id="rId5"/>
              </a:rPr>
              <a:t>https://www.ebi.ac.uk/jdispatcher/</a:t>
            </a: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Y en la parte inferior se halla EMBOSS </a:t>
            </a:r>
            <a:r>
              <a:rPr lang="es-ES" sz="4800" dirty="0" err="1"/>
              <a:t>tools</a:t>
            </a:r>
            <a:r>
              <a:rPr lang="es-ES" sz="4800" dirty="0"/>
              <a:t>, da clic en more y aparece una imagen como la que observas abajo. Ve a </a:t>
            </a:r>
            <a:r>
              <a:rPr lang="es-ES" sz="4800" dirty="0" err="1"/>
              <a:t>Dotmatcher</a:t>
            </a:r>
            <a:r>
              <a:rPr lang="es-ES" sz="4800" dirty="0"/>
              <a:t>.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7. En la página que te abre, elige ADN y sube los dos documentos que descargaste. 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s-ES" sz="4800" dirty="0"/>
              <a:t>8. Da clic al botón </a:t>
            </a:r>
            <a:r>
              <a:rPr lang="es-ES" sz="4800" dirty="0" err="1"/>
              <a:t>Submit</a:t>
            </a:r>
            <a:r>
              <a:rPr lang="es-ES" sz="4800" dirty="0"/>
              <a:t> y espera el resultado.</a:t>
            </a:r>
          </a:p>
          <a:p>
            <a:pPr marL="0" indent="0" algn="l">
              <a:lnSpc>
                <a:spcPct val="104000"/>
              </a:lnSpc>
              <a:buNone/>
            </a:pPr>
            <a:endParaRPr lang="es-ES" sz="4800" dirty="0"/>
          </a:p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28F38-6A07-1D92-F107-48544E626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3490" y="3587824"/>
            <a:ext cx="3971778" cy="109482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E0BE42-996E-F976-1871-925EF94114EE}"/>
              </a:ext>
            </a:extLst>
          </p:cNvPr>
          <p:cNvCxnSpPr>
            <a:cxnSpLocks/>
          </p:cNvCxnSpPr>
          <p:nvPr/>
        </p:nvCxnSpPr>
        <p:spPr>
          <a:xfrm flipH="1" flipV="1">
            <a:off x="4506351" y="4490389"/>
            <a:ext cx="121920" cy="384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2291197-69DD-CA64-EE24-763097636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0506" y="5286108"/>
            <a:ext cx="2613806" cy="4294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A57A62-8A81-FF6F-E3E0-8B1D9EE42F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4250" y="6183029"/>
            <a:ext cx="665367" cy="2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0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1041</Words>
  <Application>Microsoft Office PowerPoint</Application>
  <PresentationFormat>Widescreen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Roboto</vt:lpstr>
      <vt:lpstr>Google Sans Text</vt:lpstr>
      <vt:lpstr>Raleway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Luis Germán López Valdez</dc:creator>
  <cp:lastModifiedBy>LUIS GERMAN LOPEZ VALDEZ</cp:lastModifiedBy>
  <cp:revision>4</cp:revision>
  <dcterms:created xsi:type="dcterms:W3CDTF">2026-08-27T16:11:14Z</dcterms:created>
  <dcterms:modified xsi:type="dcterms:W3CDTF">2026-08-27T17:25:47Z</dcterms:modified>
</cp:coreProperties>
</file>