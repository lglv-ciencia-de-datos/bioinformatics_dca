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919B"/>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51" y="43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8079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57"/>
        </a:solidFill>
        <a:effectLst/>
      </p:bgPr>
    </p:bg>
    <p:spTree>
      <p:nvGrpSpPr>
        <p:cNvPr id="1" name=""/>
        <p:cNvGrpSpPr/>
        <p:nvPr/>
      </p:nvGrpSpPr>
      <p:grpSpPr>
        <a:xfrm>
          <a:off x="0" y="0"/>
          <a:ext cx="0" cy="0"/>
          <a:chOff x="0" y="0"/>
          <a:chExt cx="0" cy="0"/>
        </a:xfrm>
      </p:grpSpPr>
      <p:sp>
        <p:nvSpPr>
          <p:cNvPr id="2" name="Shape 0"/>
          <p:cNvSpPr/>
          <p:nvPr/>
        </p:nvSpPr>
        <p:spPr>
          <a:xfrm>
            <a:off x="9692640" y="-1463040"/>
            <a:ext cx="5029200" cy="5029200"/>
          </a:xfrm>
          <a:prstGeom prst="ellipse">
            <a:avLst/>
          </a:prstGeom>
          <a:solidFill>
            <a:srgbClr val="14919B">
              <a:alpha val="22000"/>
            </a:srgbClr>
          </a:solidFill>
          <a:ln/>
        </p:spPr>
        <p:txBody>
          <a:bodyPr/>
          <a:lstStyle/>
          <a:p>
            <a:endParaRPr lang="es-MX"/>
          </a:p>
        </p:txBody>
      </p:sp>
      <p:sp>
        <p:nvSpPr>
          <p:cNvPr id="3" name="Shape 1"/>
          <p:cNvSpPr/>
          <p:nvPr/>
        </p:nvSpPr>
        <p:spPr>
          <a:xfrm>
            <a:off x="10789920" y="3931920"/>
            <a:ext cx="3840480" cy="3840480"/>
          </a:xfrm>
          <a:prstGeom prst="ellipse">
            <a:avLst/>
          </a:prstGeom>
          <a:solidFill>
            <a:srgbClr val="00C2A8">
              <a:alpha val="18000"/>
            </a:srgbClr>
          </a:solidFill>
          <a:ln/>
        </p:spPr>
        <p:txBody>
          <a:bodyPr/>
          <a:lstStyle/>
          <a:p>
            <a:endParaRPr lang="es-MX"/>
          </a:p>
        </p:txBody>
      </p:sp>
      <p:sp>
        <p:nvSpPr>
          <p:cNvPr id="4" name="Text 2"/>
          <p:cNvSpPr/>
          <p:nvPr/>
        </p:nvSpPr>
        <p:spPr>
          <a:xfrm>
            <a:off x="822960" y="1417320"/>
            <a:ext cx="5486400" cy="365760"/>
          </a:xfrm>
          <a:prstGeom prst="rect">
            <a:avLst/>
          </a:prstGeom>
          <a:noFill/>
          <a:ln/>
        </p:spPr>
        <p:txBody>
          <a:bodyPr wrap="square" rtlCol="0" anchor="ctr"/>
          <a:lstStyle/>
          <a:p>
            <a:pPr marL="0" indent="0">
              <a:buNone/>
            </a:pPr>
            <a:r>
              <a:rPr lang="en-US" sz="1400" b="1" kern="0" spc="300" dirty="0">
                <a:solidFill>
                  <a:srgbClr val="00C2A8"/>
                </a:solidFill>
                <a:latin typeface="Calibri" pitchFamily="34" charset="0"/>
                <a:ea typeface="Calibri" pitchFamily="34" charset="-122"/>
                <a:cs typeface="Calibri" pitchFamily="34" charset="-120"/>
              </a:rPr>
              <a:t>CAPÍTULO 14</a:t>
            </a:r>
            <a:endParaRPr lang="en-US" sz="1400" dirty="0"/>
          </a:p>
        </p:txBody>
      </p:sp>
      <p:sp>
        <p:nvSpPr>
          <p:cNvPr id="5" name="Text 3"/>
          <p:cNvSpPr/>
          <p:nvPr/>
        </p:nvSpPr>
        <p:spPr>
          <a:xfrm>
            <a:off x="822960" y="1828800"/>
            <a:ext cx="9875520" cy="1371600"/>
          </a:xfrm>
          <a:prstGeom prst="rect">
            <a:avLst/>
          </a:prstGeom>
          <a:noFill/>
          <a:ln/>
        </p:spPr>
        <p:txBody>
          <a:bodyPr wrap="square"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Introducción a BLAST</a:t>
            </a:r>
            <a:endParaRPr lang="en-US" sz="4600" dirty="0"/>
          </a:p>
        </p:txBody>
      </p:sp>
      <p:sp>
        <p:nvSpPr>
          <p:cNvPr id="6" name="Text 4"/>
          <p:cNvSpPr/>
          <p:nvPr/>
        </p:nvSpPr>
        <p:spPr>
          <a:xfrm>
            <a:off x="822960" y="3063240"/>
            <a:ext cx="8778240" cy="822960"/>
          </a:xfrm>
          <a:prstGeom prst="rect">
            <a:avLst/>
          </a:prstGeom>
          <a:noFill/>
          <a:ln/>
        </p:spPr>
        <p:txBody>
          <a:bodyPr wrap="square"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Aplicaciones para el diseño y desarrollo de fármacos asistido por computadora</a:t>
            </a:r>
            <a:endParaRPr lang="en-US" sz="1800" dirty="0"/>
          </a:p>
        </p:txBody>
      </p:sp>
      <p:sp>
        <p:nvSpPr>
          <p:cNvPr id="7" name="Shape 5"/>
          <p:cNvSpPr/>
          <p:nvPr/>
        </p:nvSpPr>
        <p:spPr>
          <a:xfrm>
            <a:off x="868680" y="4160520"/>
            <a:ext cx="2011680" cy="0"/>
          </a:xfrm>
          <a:prstGeom prst="line">
            <a:avLst/>
          </a:prstGeom>
          <a:noFill/>
          <a:ln w="25400">
            <a:solidFill>
              <a:srgbClr val="00C2A8"/>
            </a:solidFill>
            <a:prstDash val="solid"/>
          </a:ln>
        </p:spPr>
        <p:txBody>
          <a:bodyPr/>
          <a:lstStyle/>
          <a:p>
            <a:endParaRPr lang="es-MX"/>
          </a:p>
        </p:txBody>
      </p:sp>
      <p:sp>
        <p:nvSpPr>
          <p:cNvPr id="8" name="Text 6"/>
          <p:cNvSpPr/>
          <p:nvPr/>
        </p:nvSpPr>
        <p:spPr>
          <a:xfrm>
            <a:off x="868680" y="4343400"/>
            <a:ext cx="8229600" cy="731520"/>
          </a:xfrm>
          <a:prstGeom prst="rect">
            <a:avLst/>
          </a:prstGeom>
          <a:noFill/>
          <a:ln/>
        </p:spPr>
        <p:txBody>
          <a:bodyPr wrap="square" rtlCol="0" anchor="ctr"/>
          <a:lstStyle/>
          <a:p>
            <a:pPr marL="0" indent="0">
              <a:lnSpc>
                <a:spcPts val="1800"/>
              </a:lnSpc>
              <a:buNone/>
            </a:pPr>
            <a:r>
              <a:rPr lang="en-US" sz="1400" b="1" dirty="0">
                <a:solidFill>
                  <a:srgbClr val="FFFFFF"/>
                </a:solidFill>
                <a:latin typeface="Calibri" pitchFamily="34" charset="0"/>
                <a:ea typeface="Calibri" pitchFamily="34" charset="-122"/>
                <a:cs typeface="Calibri" pitchFamily="34" charset="-120"/>
              </a:rPr>
              <a:t>Tanmay Arora, Asrar A. Malik
</a:t>
            </a:r>
            <a:r>
              <a:rPr lang="en-US" sz="1200" dirty="0">
                <a:solidFill>
                  <a:srgbClr val="CADCFC"/>
                </a:solidFill>
                <a:latin typeface="Calibri" pitchFamily="34" charset="0"/>
                <a:ea typeface="Calibri" pitchFamily="34" charset="-122"/>
                <a:cs typeface="Calibri" pitchFamily="34" charset="-120"/>
              </a:rPr>
              <a:t>School of Chemical and Life Sciences (SCLS), Jamia Hamdard, Nueva Delhi, India</a:t>
            </a:r>
            <a:endParaRPr lang="en-US" sz="1400" dirty="0"/>
          </a:p>
        </p:txBody>
      </p:sp>
      <p:sp>
        <p:nvSpPr>
          <p:cNvPr id="9" name="Text 7"/>
          <p:cNvSpPr/>
          <p:nvPr/>
        </p:nvSpPr>
        <p:spPr>
          <a:xfrm>
            <a:off x="822960" y="6172200"/>
            <a:ext cx="10515600" cy="457200"/>
          </a:xfrm>
          <a:prstGeom prst="rect">
            <a:avLst/>
          </a:prstGeom>
          <a:noFill/>
          <a:ln/>
        </p:spPr>
        <p:txBody>
          <a:bodyPr wrap="square" rtlCol="0" anchor="ctr"/>
          <a:lstStyle/>
          <a:p>
            <a:pPr marL="0" indent="0">
              <a:buNone/>
            </a:pPr>
            <a:r>
              <a:rPr lang="en-US" sz="1000" dirty="0">
                <a:solidFill>
                  <a:srgbClr val="9FC7CF"/>
                </a:solidFill>
                <a:latin typeface="Calibri" pitchFamily="34" charset="0"/>
                <a:ea typeface="Calibri" pitchFamily="34" charset="-122"/>
                <a:cs typeface="Calibri" pitchFamily="34" charset="-120"/>
              </a:rPr>
              <a:t>Material educativo de bioinformática · Basado en: Arora, T. &amp; Malik, A.A. (2021). Chemoinformatics and Bioinformatics in the Pharmaceutical Sciences, Cap. 14. Elsevier.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4919B"/>
                </a:solidFill>
                <a:latin typeface="Calibri" pitchFamily="34" charset="0"/>
                <a:ea typeface="Calibri" pitchFamily="34" charset="-122"/>
                <a:cs typeface="Calibri" pitchFamily="34" charset="-120"/>
              </a:rPr>
              <a:t>CONTENIDO</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buNone/>
            </a:pPr>
            <a:r>
              <a:rPr lang="en-US" sz="3200" b="1" dirty="0">
                <a:solidFill>
                  <a:srgbClr val="0B3D57"/>
                </a:solidFill>
                <a:latin typeface="Cambria" pitchFamily="34" charset="0"/>
                <a:ea typeface="Cambria" pitchFamily="34" charset="-122"/>
                <a:cs typeface="Cambria" pitchFamily="34" charset="-120"/>
              </a:rPr>
              <a:t>Qué vamos a recorrer</a:t>
            </a:r>
            <a:endParaRPr lang="en-US" sz="3200" dirty="0"/>
          </a:p>
        </p:txBody>
      </p:sp>
      <p:sp>
        <p:nvSpPr>
          <p:cNvPr id="4" name="Shape 2"/>
          <p:cNvSpPr/>
          <p:nvPr/>
        </p:nvSpPr>
        <p:spPr>
          <a:xfrm>
            <a:off x="548640" y="1737360"/>
            <a:ext cx="5257800" cy="1417320"/>
          </a:xfrm>
          <a:prstGeom prst="roundRect">
            <a:avLst>
              <a:gd name="adj" fmla="val 5161"/>
            </a:avLst>
          </a:prstGeom>
          <a:solidFill>
            <a:srgbClr val="EAF4F4"/>
          </a:solidFill>
          <a:ln/>
        </p:spPr>
        <p:txBody>
          <a:bodyPr/>
          <a:lstStyle/>
          <a:p>
            <a:endParaRPr lang="es-MX"/>
          </a:p>
        </p:txBody>
      </p:sp>
      <p:sp>
        <p:nvSpPr>
          <p:cNvPr id="5" name="Text 3"/>
          <p:cNvSpPr/>
          <p:nvPr/>
        </p:nvSpPr>
        <p:spPr>
          <a:xfrm>
            <a:off x="777240" y="1901952"/>
            <a:ext cx="914400" cy="640080"/>
          </a:xfrm>
          <a:prstGeom prst="rect">
            <a:avLst/>
          </a:prstGeom>
          <a:noFill/>
          <a:ln/>
        </p:spPr>
        <p:txBody>
          <a:bodyPr wrap="square" rtlCol="0" anchor="ctr"/>
          <a:lstStyle/>
          <a:p>
            <a:pPr marL="0" indent="0">
              <a:buNone/>
            </a:pPr>
            <a:r>
              <a:rPr lang="en-US" sz="3000" b="1" dirty="0">
                <a:solidFill>
                  <a:srgbClr val="14919B"/>
                </a:solidFill>
                <a:latin typeface="Cambria" pitchFamily="34" charset="0"/>
                <a:ea typeface="Cambria" pitchFamily="34" charset="-122"/>
                <a:cs typeface="Cambria" pitchFamily="34" charset="-120"/>
              </a:rPr>
              <a:t>01</a:t>
            </a:r>
            <a:endParaRPr lang="en-US" sz="3000" dirty="0"/>
          </a:p>
        </p:txBody>
      </p:sp>
      <p:sp>
        <p:nvSpPr>
          <p:cNvPr id="6" name="Text 4"/>
          <p:cNvSpPr/>
          <p:nvPr/>
        </p:nvSpPr>
        <p:spPr>
          <a:xfrm>
            <a:off x="1600200" y="1901952"/>
            <a:ext cx="3977640" cy="457200"/>
          </a:xfrm>
          <a:prstGeom prst="rect">
            <a:avLst/>
          </a:prstGeom>
          <a:noFill/>
          <a:ln/>
        </p:spPr>
        <p:txBody>
          <a:bodyPr wrap="square" rtlCol="0" anchor="ctr"/>
          <a:lstStyle/>
          <a:p>
            <a:pPr marL="0" indent="0">
              <a:buNone/>
            </a:pPr>
            <a:r>
              <a:rPr lang="en-US" sz="1500" b="1" dirty="0">
                <a:solidFill>
                  <a:srgbClr val="0B3D57"/>
                </a:solidFill>
                <a:latin typeface="Calibri" pitchFamily="34" charset="0"/>
                <a:ea typeface="Calibri" pitchFamily="34" charset="-122"/>
                <a:cs typeface="Calibri" pitchFamily="34" charset="-120"/>
              </a:rPr>
              <a:t>Fundamentos biológicos</a:t>
            </a:r>
            <a:endParaRPr lang="en-US" sz="1500" dirty="0"/>
          </a:p>
        </p:txBody>
      </p:sp>
      <p:sp>
        <p:nvSpPr>
          <p:cNvPr id="7" name="Text 5"/>
          <p:cNvSpPr/>
          <p:nvPr/>
        </p:nvSpPr>
        <p:spPr>
          <a:xfrm>
            <a:off x="1600200" y="2359152"/>
            <a:ext cx="3977640" cy="685800"/>
          </a:xfrm>
          <a:prstGeom prst="rect">
            <a:avLst/>
          </a:prstGeom>
          <a:noFill/>
          <a:ln/>
        </p:spPr>
        <p:txBody>
          <a:bodyPr wrap="square" rtlCol="0" anchor="t"/>
          <a:lstStyle/>
          <a:p>
            <a:pPr marL="0" indent="0">
              <a:buNone/>
            </a:pPr>
            <a:r>
              <a:rPr lang="en-US" sz="1150" dirty="0">
                <a:solidFill>
                  <a:srgbClr val="5C7A85"/>
                </a:solidFill>
                <a:latin typeface="Calibri" pitchFamily="34" charset="0"/>
                <a:ea typeface="Calibri" pitchFamily="34" charset="-122"/>
                <a:cs typeface="Calibri" pitchFamily="34" charset="-120"/>
              </a:rPr>
              <a:t>ADN, ARN, proteínas y alineamiento de secuencias</a:t>
            </a:r>
            <a:endParaRPr lang="en-US" sz="1150" dirty="0"/>
          </a:p>
        </p:txBody>
      </p:sp>
      <p:sp>
        <p:nvSpPr>
          <p:cNvPr id="8" name="Shape 6"/>
          <p:cNvSpPr/>
          <p:nvPr/>
        </p:nvSpPr>
        <p:spPr>
          <a:xfrm>
            <a:off x="6172200" y="1737360"/>
            <a:ext cx="5257800" cy="1417320"/>
          </a:xfrm>
          <a:prstGeom prst="roundRect">
            <a:avLst>
              <a:gd name="adj" fmla="val 5161"/>
            </a:avLst>
          </a:prstGeom>
          <a:solidFill>
            <a:srgbClr val="EAF4F4"/>
          </a:solidFill>
          <a:ln/>
        </p:spPr>
        <p:txBody>
          <a:bodyPr/>
          <a:lstStyle/>
          <a:p>
            <a:endParaRPr lang="es-MX"/>
          </a:p>
        </p:txBody>
      </p:sp>
      <p:sp>
        <p:nvSpPr>
          <p:cNvPr id="9" name="Text 7"/>
          <p:cNvSpPr/>
          <p:nvPr/>
        </p:nvSpPr>
        <p:spPr>
          <a:xfrm>
            <a:off x="6400800" y="1901952"/>
            <a:ext cx="914400" cy="640080"/>
          </a:xfrm>
          <a:prstGeom prst="rect">
            <a:avLst/>
          </a:prstGeom>
          <a:noFill/>
          <a:ln/>
        </p:spPr>
        <p:txBody>
          <a:bodyPr wrap="square" rtlCol="0" anchor="ctr"/>
          <a:lstStyle/>
          <a:p>
            <a:pPr marL="0" indent="0">
              <a:buNone/>
            </a:pPr>
            <a:r>
              <a:rPr lang="en-US" sz="3000" b="1" dirty="0">
                <a:solidFill>
                  <a:srgbClr val="14919B"/>
                </a:solidFill>
                <a:latin typeface="Cambria" pitchFamily="34" charset="0"/>
                <a:ea typeface="Cambria" pitchFamily="34" charset="-122"/>
                <a:cs typeface="Cambria" pitchFamily="34" charset="-120"/>
              </a:rPr>
              <a:t>02</a:t>
            </a:r>
            <a:endParaRPr lang="en-US" sz="3000" dirty="0"/>
          </a:p>
        </p:txBody>
      </p:sp>
      <p:sp>
        <p:nvSpPr>
          <p:cNvPr id="10" name="Text 8"/>
          <p:cNvSpPr/>
          <p:nvPr/>
        </p:nvSpPr>
        <p:spPr>
          <a:xfrm>
            <a:off x="7223760" y="1901952"/>
            <a:ext cx="3977640" cy="457200"/>
          </a:xfrm>
          <a:prstGeom prst="rect">
            <a:avLst/>
          </a:prstGeom>
          <a:noFill/>
          <a:ln/>
        </p:spPr>
        <p:txBody>
          <a:bodyPr wrap="square" rtlCol="0" anchor="ctr"/>
          <a:lstStyle/>
          <a:p>
            <a:pPr marL="0" indent="0">
              <a:buNone/>
            </a:pPr>
            <a:r>
              <a:rPr lang="en-US" sz="1500" b="1" dirty="0">
                <a:solidFill>
                  <a:srgbClr val="0B3D57"/>
                </a:solidFill>
                <a:latin typeface="Calibri" pitchFamily="34" charset="0"/>
                <a:ea typeface="Calibri" pitchFamily="34" charset="-122"/>
                <a:cs typeface="Calibri" pitchFamily="34" charset="-120"/>
              </a:rPr>
              <a:t>Homología, similitud e identidad</a:t>
            </a:r>
            <a:endParaRPr lang="en-US" sz="1500" dirty="0"/>
          </a:p>
        </p:txBody>
      </p:sp>
      <p:sp>
        <p:nvSpPr>
          <p:cNvPr id="11" name="Text 9"/>
          <p:cNvSpPr/>
          <p:nvPr/>
        </p:nvSpPr>
        <p:spPr>
          <a:xfrm>
            <a:off x="7223760" y="2359152"/>
            <a:ext cx="3977640" cy="685800"/>
          </a:xfrm>
          <a:prstGeom prst="rect">
            <a:avLst/>
          </a:prstGeom>
          <a:noFill/>
          <a:ln/>
        </p:spPr>
        <p:txBody>
          <a:bodyPr wrap="square" rtlCol="0" anchor="t"/>
          <a:lstStyle/>
          <a:p>
            <a:pPr marL="0" indent="0">
              <a:buNone/>
            </a:pPr>
            <a:r>
              <a:rPr lang="en-US" sz="1150" dirty="0">
                <a:solidFill>
                  <a:srgbClr val="5C7A85"/>
                </a:solidFill>
                <a:latin typeface="Calibri" pitchFamily="34" charset="0"/>
                <a:ea typeface="Calibri" pitchFamily="34" charset="-122"/>
                <a:cs typeface="Calibri" pitchFamily="34" charset="-120"/>
              </a:rPr>
              <a:t>Conceptos clave y su relación evolutiva</a:t>
            </a:r>
            <a:endParaRPr lang="en-US" sz="1150" dirty="0"/>
          </a:p>
        </p:txBody>
      </p:sp>
      <p:sp>
        <p:nvSpPr>
          <p:cNvPr id="12" name="Shape 10"/>
          <p:cNvSpPr/>
          <p:nvPr/>
        </p:nvSpPr>
        <p:spPr>
          <a:xfrm>
            <a:off x="548640" y="3291840"/>
            <a:ext cx="5257800" cy="1417320"/>
          </a:xfrm>
          <a:prstGeom prst="roundRect">
            <a:avLst>
              <a:gd name="adj" fmla="val 5161"/>
            </a:avLst>
          </a:prstGeom>
          <a:solidFill>
            <a:srgbClr val="EAF4F4"/>
          </a:solidFill>
          <a:ln/>
        </p:spPr>
        <p:txBody>
          <a:bodyPr/>
          <a:lstStyle/>
          <a:p>
            <a:endParaRPr lang="es-MX"/>
          </a:p>
        </p:txBody>
      </p:sp>
      <p:sp>
        <p:nvSpPr>
          <p:cNvPr id="13" name="Text 11"/>
          <p:cNvSpPr/>
          <p:nvPr/>
        </p:nvSpPr>
        <p:spPr>
          <a:xfrm>
            <a:off x="777240" y="3456432"/>
            <a:ext cx="914400" cy="640080"/>
          </a:xfrm>
          <a:prstGeom prst="rect">
            <a:avLst/>
          </a:prstGeom>
          <a:noFill/>
          <a:ln/>
        </p:spPr>
        <p:txBody>
          <a:bodyPr wrap="square" rtlCol="0" anchor="ctr"/>
          <a:lstStyle/>
          <a:p>
            <a:pPr marL="0" indent="0">
              <a:buNone/>
            </a:pPr>
            <a:r>
              <a:rPr lang="en-US" sz="3000" b="1" dirty="0">
                <a:solidFill>
                  <a:srgbClr val="14919B"/>
                </a:solidFill>
                <a:latin typeface="Cambria" pitchFamily="34" charset="0"/>
                <a:ea typeface="Cambria" pitchFamily="34" charset="-122"/>
                <a:cs typeface="Cambria" pitchFamily="34" charset="-120"/>
              </a:rPr>
              <a:t>03</a:t>
            </a:r>
            <a:endParaRPr lang="en-US" sz="3000" dirty="0"/>
          </a:p>
        </p:txBody>
      </p:sp>
      <p:sp>
        <p:nvSpPr>
          <p:cNvPr id="14" name="Text 12"/>
          <p:cNvSpPr/>
          <p:nvPr/>
        </p:nvSpPr>
        <p:spPr>
          <a:xfrm>
            <a:off x="1600200" y="3456432"/>
            <a:ext cx="3977640" cy="457200"/>
          </a:xfrm>
          <a:prstGeom prst="rect">
            <a:avLst/>
          </a:prstGeom>
          <a:noFill/>
          <a:ln/>
        </p:spPr>
        <p:txBody>
          <a:bodyPr wrap="square" rtlCol="0" anchor="ctr"/>
          <a:lstStyle/>
          <a:p>
            <a:pPr marL="0" indent="0">
              <a:buNone/>
            </a:pPr>
            <a:r>
              <a:rPr lang="en-US" sz="1500" b="1" dirty="0">
                <a:solidFill>
                  <a:srgbClr val="0B3D57"/>
                </a:solidFill>
                <a:latin typeface="Calibri" pitchFamily="34" charset="0"/>
                <a:ea typeface="Calibri" pitchFamily="34" charset="-122"/>
                <a:cs typeface="Calibri" pitchFamily="34" charset="-120"/>
              </a:rPr>
              <a:t>Matrices y algoritmos de puntuación</a:t>
            </a:r>
            <a:endParaRPr lang="en-US" sz="1500" dirty="0"/>
          </a:p>
        </p:txBody>
      </p:sp>
      <p:sp>
        <p:nvSpPr>
          <p:cNvPr id="15" name="Text 13"/>
          <p:cNvSpPr/>
          <p:nvPr/>
        </p:nvSpPr>
        <p:spPr>
          <a:xfrm>
            <a:off x="1600200" y="3913632"/>
            <a:ext cx="3977640" cy="685800"/>
          </a:xfrm>
          <a:prstGeom prst="rect">
            <a:avLst/>
          </a:prstGeom>
          <a:noFill/>
          <a:ln/>
        </p:spPr>
        <p:txBody>
          <a:bodyPr wrap="square" rtlCol="0" anchor="t"/>
          <a:lstStyle/>
          <a:p>
            <a:pPr marL="0" indent="0">
              <a:buNone/>
            </a:pPr>
            <a:r>
              <a:rPr lang="en-US" sz="1150" dirty="0">
                <a:solidFill>
                  <a:srgbClr val="5C7A85"/>
                </a:solidFill>
                <a:latin typeface="Calibri" pitchFamily="34" charset="0"/>
                <a:ea typeface="Calibri" pitchFamily="34" charset="-122"/>
                <a:cs typeface="Calibri" pitchFamily="34" charset="-120"/>
              </a:rPr>
              <a:t>PAM, BLOSUM, Needleman-Wunsch, Smith-Waterman</a:t>
            </a:r>
            <a:endParaRPr lang="en-US" sz="1150" dirty="0"/>
          </a:p>
        </p:txBody>
      </p:sp>
      <p:sp>
        <p:nvSpPr>
          <p:cNvPr id="16" name="Shape 14"/>
          <p:cNvSpPr/>
          <p:nvPr/>
        </p:nvSpPr>
        <p:spPr>
          <a:xfrm>
            <a:off x="6172200" y="3291840"/>
            <a:ext cx="5257800" cy="1417320"/>
          </a:xfrm>
          <a:prstGeom prst="roundRect">
            <a:avLst>
              <a:gd name="adj" fmla="val 5161"/>
            </a:avLst>
          </a:prstGeom>
          <a:solidFill>
            <a:srgbClr val="EAF4F4"/>
          </a:solidFill>
          <a:ln/>
        </p:spPr>
        <p:txBody>
          <a:bodyPr/>
          <a:lstStyle/>
          <a:p>
            <a:endParaRPr lang="es-MX"/>
          </a:p>
        </p:txBody>
      </p:sp>
      <p:sp>
        <p:nvSpPr>
          <p:cNvPr id="17" name="Text 15"/>
          <p:cNvSpPr/>
          <p:nvPr/>
        </p:nvSpPr>
        <p:spPr>
          <a:xfrm>
            <a:off x="6400800" y="3456432"/>
            <a:ext cx="914400" cy="640080"/>
          </a:xfrm>
          <a:prstGeom prst="rect">
            <a:avLst/>
          </a:prstGeom>
          <a:noFill/>
          <a:ln/>
        </p:spPr>
        <p:txBody>
          <a:bodyPr wrap="square" rtlCol="0" anchor="ctr"/>
          <a:lstStyle/>
          <a:p>
            <a:pPr marL="0" indent="0">
              <a:buNone/>
            </a:pPr>
            <a:r>
              <a:rPr lang="en-US" sz="3000" b="1" dirty="0">
                <a:solidFill>
                  <a:srgbClr val="14919B"/>
                </a:solidFill>
                <a:latin typeface="Cambria" pitchFamily="34" charset="0"/>
                <a:ea typeface="Cambria" pitchFamily="34" charset="-122"/>
                <a:cs typeface="Cambria" pitchFamily="34" charset="-120"/>
              </a:rPr>
              <a:t>04</a:t>
            </a:r>
            <a:endParaRPr lang="en-US" sz="3000" dirty="0"/>
          </a:p>
        </p:txBody>
      </p:sp>
      <p:sp>
        <p:nvSpPr>
          <p:cNvPr id="18" name="Text 16"/>
          <p:cNvSpPr/>
          <p:nvPr/>
        </p:nvSpPr>
        <p:spPr>
          <a:xfrm>
            <a:off x="7223760" y="3456432"/>
            <a:ext cx="3977640" cy="457200"/>
          </a:xfrm>
          <a:prstGeom prst="rect">
            <a:avLst/>
          </a:prstGeom>
          <a:noFill/>
          <a:ln/>
        </p:spPr>
        <p:txBody>
          <a:bodyPr wrap="square" rtlCol="0" anchor="ctr"/>
          <a:lstStyle/>
          <a:p>
            <a:pPr marL="0" indent="0">
              <a:buNone/>
            </a:pPr>
            <a:r>
              <a:rPr lang="en-US" sz="1500" b="1" dirty="0">
                <a:solidFill>
                  <a:srgbClr val="0B3D57"/>
                </a:solidFill>
                <a:latin typeface="Calibri" pitchFamily="34" charset="0"/>
                <a:ea typeface="Calibri" pitchFamily="34" charset="-122"/>
                <a:cs typeface="Calibri" pitchFamily="34" charset="-120"/>
              </a:rPr>
              <a:t>Cómo funciona BLAST</a:t>
            </a:r>
            <a:endParaRPr lang="en-US" sz="1500" dirty="0"/>
          </a:p>
        </p:txBody>
      </p:sp>
      <p:sp>
        <p:nvSpPr>
          <p:cNvPr id="19" name="Text 17"/>
          <p:cNvSpPr/>
          <p:nvPr/>
        </p:nvSpPr>
        <p:spPr>
          <a:xfrm>
            <a:off x="7223760" y="3913632"/>
            <a:ext cx="3977640" cy="685800"/>
          </a:xfrm>
          <a:prstGeom prst="rect">
            <a:avLst/>
          </a:prstGeom>
          <a:noFill/>
          <a:ln/>
        </p:spPr>
        <p:txBody>
          <a:bodyPr wrap="square" rtlCol="0" anchor="t"/>
          <a:lstStyle/>
          <a:p>
            <a:pPr marL="0" indent="0">
              <a:buNone/>
            </a:pPr>
            <a:r>
              <a:rPr lang="en-US" sz="1150" dirty="0">
                <a:solidFill>
                  <a:srgbClr val="5C7A85"/>
                </a:solidFill>
                <a:latin typeface="Calibri" pitchFamily="34" charset="0"/>
                <a:ea typeface="Calibri" pitchFamily="34" charset="-122"/>
                <a:cs typeface="Calibri" pitchFamily="34" charset="-120"/>
              </a:rPr>
              <a:t>Semillas, extensión, HSP, P-value y E-value</a:t>
            </a:r>
            <a:endParaRPr lang="en-US" sz="1150" dirty="0"/>
          </a:p>
        </p:txBody>
      </p:sp>
      <p:sp>
        <p:nvSpPr>
          <p:cNvPr id="20" name="Shape 18"/>
          <p:cNvSpPr/>
          <p:nvPr/>
        </p:nvSpPr>
        <p:spPr>
          <a:xfrm>
            <a:off x="548640" y="4846320"/>
            <a:ext cx="5257800" cy="1417320"/>
          </a:xfrm>
          <a:prstGeom prst="roundRect">
            <a:avLst>
              <a:gd name="adj" fmla="val 5161"/>
            </a:avLst>
          </a:prstGeom>
          <a:solidFill>
            <a:srgbClr val="EAF4F4"/>
          </a:solidFill>
          <a:ln/>
        </p:spPr>
        <p:txBody>
          <a:bodyPr/>
          <a:lstStyle/>
          <a:p>
            <a:endParaRPr lang="es-MX"/>
          </a:p>
        </p:txBody>
      </p:sp>
      <p:sp>
        <p:nvSpPr>
          <p:cNvPr id="21" name="Text 19"/>
          <p:cNvSpPr/>
          <p:nvPr/>
        </p:nvSpPr>
        <p:spPr>
          <a:xfrm>
            <a:off x="777240" y="5010912"/>
            <a:ext cx="914400" cy="640080"/>
          </a:xfrm>
          <a:prstGeom prst="rect">
            <a:avLst/>
          </a:prstGeom>
          <a:noFill/>
          <a:ln/>
        </p:spPr>
        <p:txBody>
          <a:bodyPr wrap="square" rtlCol="0" anchor="ctr"/>
          <a:lstStyle/>
          <a:p>
            <a:pPr marL="0" indent="0">
              <a:buNone/>
            </a:pPr>
            <a:r>
              <a:rPr lang="en-US" sz="3000" b="1" dirty="0">
                <a:solidFill>
                  <a:srgbClr val="14919B"/>
                </a:solidFill>
                <a:latin typeface="Cambria" pitchFamily="34" charset="0"/>
                <a:ea typeface="Cambria" pitchFamily="34" charset="-122"/>
                <a:cs typeface="Cambria" pitchFamily="34" charset="-120"/>
              </a:rPr>
              <a:t>05</a:t>
            </a:r>
            <a:endParaRPr lang="en-US" sz="3000" dirty="0"/>
          </a:p>
        </p:txBody>
      </p:sp>
      <p:sp>
        <p:nvSpPr>
          <p:cNvPr id="22" name="Text 20"/>
          <p:cNvSpPr/>
          <p:nvPr/>
        </p:nvSpPr>
        <p:spPr>
          <a:xfrm>
            <a:off x="1600200" y="5010912"/>
            <a:ext cx="3977640" cy="457200"/>
          </a:xfrm>
          <a:prstGeom prst="rect">
            <a:avLst/>
          </a:prstGeom>
          <a:noFill/>
          <a:ln/>
        </p:spPr>
        <p:txBody>
          <a:bodyPr wrap="square" rtlCol="0" anchor="ctr"/>
          <a:lstStyle/>
          <a:p>
            <a:pPr marL="0" indent="0">
              <a:buNone/>
            </a:pPr>
            <a:r>
              <a:rPr lang="en-US" sz="1500" b="1" dirty="0">
                <a:solidFill>
                  <a:srgbClr val="0B3D57"/>
                </a:solidFill>
                <a:latin typeface="Calibri" pitchFamily="34" charset="0"/>
                <a:ea typeface="Calibri" pitchFamily="34" charset="-122"/>
                <a:cs typeface="Calibri" pitchFamily="34" charset="-120"/>
              </a:rPr>
              <a:t>Tipos de BLAST y aplicaciones</a:t>
            </a:r>
            <a:endParaRPr lang="en-US" sz="1500" dirty="0"/>
          </a:p>
        </p:txBody>
      </p:sp>
      <p:sp>
        <p:nvSpPr>
          <p:cNvPr id="23" name="Text 21"/>
          <p:cNvSpPr/>
          <p:nvPr/>
        </p:nvSpPr>
        <p:spPr>
          <a:xfrm>
            <a:off x="1600200" y="5468112"/>
            <a:ext cx="3977640" cy="685800"/>
          </a:xfrm>
          <a:prstGeom prst="rect">
            <a:avLst/>
          </a:prstGeom>
          <a:noFill/>
          <a:ln/>
        </p:spPr>
        <p:txBody>
          <a:bodyPr wrap="square" rtlCol="0" anchor="t"/>
          <a:lstStyle/>
          <a:p>
            <a:pPr marL="0" indent="0">
              <a:buNone/>
            </a:pPr>
            <a:r>
              <a:rPr lang="en-US" sz="1150" dirty="0">
                <a:solidFill>
                  <a:srgbClr val="5C7A85"/>
                </a:solidFill>
                <a:latin typeface="Calibri" pitchFamily="34" charset="0"/>
                <a:ea typeface="Calibri" pitchFamily="34" charset="-122"/>
                <a:cs typeface="Calibri" pitchFamily="34" charset="-120"/>
              </a:rPr>
              <a:t>BLASTN, BLASTP, BLASTX, TBLASTN, TBLASTX</a:t>
            </a:r>
            <a:endParaRPr lang="en-US" sz="1150" dirty="0"/>
          </a:p>
        </p:txBody>
      </p:sp>
      <p:sp>
        <p:nvSpPr>
          <p:cNvPr id="24" name="Shape 22"/>
          <p:cNvSpPr/>
          <p:nvPr/>
        </p:nvSpPr>
        <p:spPr>
          <a:xfrm>
            <a:off x="6172200" y="4846320"/>
            <a:ext cx="5257800" cy="1417320"/>
          </a:xfrm>
          <a:prstGeom prst="roundRect">
            <a:avLst>
              <a:gd name="adj" fmla="val 5161"/>
            </a:avLst>
          </a:prstGeom>
          <a:solidFill>
            <a:srgbClr val="EAF4F4"/>
          </a:solidFill>
          <a:ln/>
        </p:spPr>
        <p:txBody>
          <a:bodyPr/>
          <a:lstStyle/>
          <a:p>
            <a:endParaRPr lang="es-MX"/>
          </a:p>
        </p:txBody>
      </p:sp>
      <p:sp>
        <p:nvSpPr>
          <p:cNvPr id="25" name="Text 23"/>
          <p:cNvSpPr/>
          <p:nvPr/>
        </p:nvSpPr>
        <p:spPr>
          <a:xfrm>
            <a:off x="6400800" y="5010912"/>
            <a:ext cx="914400" cy="640080"/>
          </a:xfrm>
          <a:prstGeom prst="rect">
            <a:avLst/>
          </a:prstGeom>
          <a:noFill/>
          <a:ln/>
        </p:spPr>
        <p:txBody>
          <a:bodyPr wrap="square" rtlCol="0" anchor="ctr"/>
          <a:lstStyle/>
          <a:p>
            <a:pPr marL="0" indent="0">
              <a:buNone/>
            </a:pPr>
            <a:r>
              <a:rPr lang="en-US" sz="3000" b="1" dirty="0">
                <a:solidFill>
                  <a:srgbClr val="14919B"/>
                </a:solidFill>
                <a:latin typeface="Cambria" pitchFamily="34" charset="0"/>
                <a:ea typeface="Cambria" pitchFamily="34" charset="-122"/>
                <a:cs typeface="Cambria" pitchFamily="34" charset="-120"/>
              </a:rPr>
              <a:t>06</a:t>
            </a:r>
            <a:endParaRPr lang="en-US" sz="3000" dirty="0"/>
          </a:p>
        </p:txBody>
      </p:sp>
      <p:sp>
        <p:nvSpPr>
          <p:cNvPr id="26" name="Text 24"/>
          <p:cNvSpPr/>
          <p:nvPr/>
        </p:nvSpPr>
        <p:spPr>
          <a:xfrm>
            <a:off x="7223760" y="5010912"/>
            <a:ext cx="3977640" cy="457200"/>
          </a:xfrm>
          <a:prstGeom prst="rect">
            <a:avLst/>
          </a:prstGeom>
          <a:noFill/>
          <a:ln/>
        </p:spPr>
        <p:txBody>
          <a:bodyPr wrap="square" rtlCol="0" anchor="ctr"/>
          <a:lstStyle/>
          <a:p>
            <a:pPr marL="0" indent="0">
              <a:buNone/>
            </a:pPr>
            <a:r>
              <a:rPr lang="en-US" sz="1500" b="1" dirty="0">
                <a:solidFill>
                  <a:srgbClr val="0B3D57"/>
                </a:solidFill>
                <a:latin typeface="Calibri" pitchFamily="34" charset="0"/>
                <a:ea typeface="Calibri" pitchFamily="34" charset="-122"/>
                <a:cs typeface="Calibri" pitchFamily="34" charset="-120"/>
              </a:rPr>
              <a:t>BLAST en el diseño de fármacos</a:t>
            </a:r>
            <a:endParaRPr lang="en-US" sz="1500" dirty="0"/>
          </a:p>
        </p:txBody>
      </p:sp>
      <p:sp>
        <p:nvSpPr>
          <p:cNvPr id="27" name="Text 25"/>
          <p:cNvSpPr/>
          <p:nvPr/>
        </p:nvSpPr>
        <p:spPr>
          <a:xfrm>
            <a:off x="7223760" y="5468112"/>
            <a:ext cx="3977640" cy="685800"/>
          </a:xfrm>
          <a:prstGeom prst="rect">
            <a:avLst/>
          </a:prstGeom>
          <a:noFill/>
          <a:ln/>
        </p:spPr>
        <p:txBody>
          <a:bodyPr wrap="square" rtlCol="0" anchor="t"/>
          <a:lstStyle/>
          <a:p>
            <a:pPr marL="0" indent="0">
              <a:buNone/>
            </a:pPr>
            <a:r>
              <a:rPr lang="en-US" sz="1150" dirty="0">
                <a:solidFill>
                  <a:srgbClr val="5C7A85"/>
                </a:solidFill>
                <a:latin typeface="Calibri" pitchFamily="34" charset="0"/>
                <a:ea typeface="Calibri" pitchFamily="34" charset="-122"/>
                <a:cs typeface="Calibri" pitchFamily="34" charset="-120"/>
              </a:rPr>
              <a:t>CADD, identificación de dianas y caso SARS-CoV-2</a:t>
            </a:r>
            <a:endParaRPr lang="en-US" sz="1150" dirty="0"/>
          </a:p>
        </p:txBody>
      </p:sp>
      <p:sp>
        <p:nvSpPr>
          <p:cNvPr id="28" name="Text 26"/>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7A85"/>
                </a:solidFill>
                <a:latin typeface="Calibri" pitchFamily="34" charset="0"/>
                <a:ea typeface="Calibri" pitchFamily="34" charset="-122"/>
                <a:cs typeface="Calibri" pitchFamily="34" charset="-120"/>
              </a:rPr>
              <a:t>BLAST y diseño de fármacos asistido por computadora</a:t>
            </a:r>
            <a:endParaRPr lang="en-US" sz="900" dirty="0"/>
          </a:p>
        </p:txBody>
      </p:sp>
      <p:sp>
        <p:nvSpPr>
          <p:cNvPr id="29" name="Text 27"/>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7A8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4919B"/>
                </a:solidFill>
                <a:latin typeface="Calibri" pitchFamily="34" charset="0"/>
                <a:ea typeface="Calibri" pitchFamily="34" charset="-122"/>
                <a:cs typeface="Calibri" pitchFamily="34" charset="-120"/>
              </a:rPr>
              <a:t>14.1 · INTRODUCCIÓN</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buNone/>
            </a:pPr>
            <a:r>
              <a:rPr lang="en-US" sz="3200" b="1" dirty="0">
                <a:solidFill>
                  <a:srgbClr val="0B3D57"/>
                </a:solidFill>
                <a:latin typeface="Cambria" pitchFamily="34" charset="0"/>
                <a:ea typeface="Cambria" pitchFamily="34" charset="-122"/>
                <a:cs typeface="Cambria" pitchFamily="34" charset="-120"/>
              </a:rPr>
              <a:t>¿Qué es BLAST?</a:t>
            </a:r>
            <a:endParaRPr lang="en-US" sz="3200" dirty="0"/>
          </a:p>
        </p:txBody>
      </p:sp>
      <p:sp>
        <p:nvSpPr>
          <p:cNvPr id="4" name="Shape 2"/>
          <p:cNvSpPr/>
          <p:nvPr/>
        </p:nvSpPr>
        <p:spPr>
          <a:xfrm>
            <a:off x="548640" y="1691640"/>
            <a:ext cx="6400800" cy="4480560"/>
          </a:xfrm>
          <a:prstGeom prst="roundRect">
            <a:avLst>
              <a:gd name="adj" fmla="val 1633"/>
            </a:avLst>
          </a:prstGeom>
          <a:solidFill>
            <a:srgbClr val="EAF4F4"/>
          </a:solidFill>
          <a:ln/>
        </p:spPr>
        <p:txBody>
          <a:bodyPr/>
          <a:lstStyle/>
          <a:p>
            <a:endParaRPr lang="es-MX"/>
          </a:p>
        </p:txBody>
      </p:sp>
      <p:sp>
        <p:nvSpPr>
          <p:cNvPr id="5" name="Text 3"/>
          <p:cNvSpPr/>
          <p:nvPr/>
        </p:nvSpPr>
        <p:spPr>
          <a:xfrm>
            <a:off x="868680" y="1920240"/>
            <a:ext cx="5760720" cy="365760"/>
          </a:xfrm>
          <a:prstGeom prst="rect">
            <a:avLst/>
          </a:prstGeom>
          <a:noFill/>
          <a:ln/>
        </p:spPr>
        <p:txBody>
          <a:bodyPr wrap="square" rtlCol="0" anchor="ctr"/>
          <a:lstStyle/>
          <a:p>
            <a:pPr marL="0" indent="0">
              <a:buNone/>
            </a:pPr>
            <a:r>
              <a:rPr lang="en-US" sz="1500" b="1" dirty="0">
                <a:solidFill>
                  <a:srgbClr val="14919B"/>
                </a:solidFill>
                <a:latin typeface="Calibri" pitchFamily="34" charset="0"/>
                <a:ea typeface="Calibri" pitchFamily="34" charset="-122"/>
                <a:cs typeface="Calibri" pitchFamily="34" charset="-120"/>
              </a:rPr>
              <a:t>La analogía de Google</a:t>
            </a:r>
            <a:endParaRPr lang="en-US" sz="1500" dirty="0"/>
          </a:p>
        </p:txBody>
      </p:sp>
      <p:sp>
        <p:nvSpPr>
          <p:cNvPr id="6" name="Text 4"/>
          <p:cNvSpPr/>
          <p:nvPr/>
        </p:nvSpPr>
        <p:spPr>
          <a:xfrm>
            <a:off x="868680" y="2377440"/>
            <a:ext cx="5760720" cy="1554480"/>
          </a:xfrm>
          <a:prstGeom prst="rect">
            <a:avLst/>
          </a:prstGeom>
          <a:noFill/>
          <a:ln/>
        </p:spPr>
        <p:txBody>
          <a:bodyPr wrap="square" rtlCol="0" anchor="ctr"/>
          <a:lstStyle/>
          <a:p>
            <a:pPr marL="0" indent="0">
              <a:lnSpc>
                <a:spcPts val="2000"/>
              </a:lnSpc>
              <a:buNone/>
            </a:pPr>
            <a:r>
              <a:rPr lang="en-US" sz="1350" dirty="0">
                <a:solidFill>
                  <a:srgbClr val="17303B"/>
                </a:solidFill>
                <a:latin typeface="Calibri" pitchFamily="34" charset="0"/>
                <a:ea typeface="Calibri" pitchFamily="34" charset="-122"/>
                <a:cs typeface="Calibri" pitchFamily="34" charset="-120"/>
              </a:rPr>
              <a:t>Al buscar un término en Google, el motor de búsqueda compara la consulta con páginas web y devuelve los resultados más parecidos. BLAST (Basic Local Alignment Search Tool) funciona igual, pero en lugar de palabras clave usa secuencias de ADN o proteína, comparándolas contra bases de datos biológicas de todo el mundo.</a:t>
            </a:r>
            <a:endParaRPr lang="en-US" sz="1350" dirty="0"/>
          </a:p>
        </p:txBody>
      </p:sp>
      <p:sp>
        <p:nvSpPr>
          <p:cNvPr id="7" name="Shape 5"/>
          <p:cNvSpPr/>
          <p:nvPr/>
        </p:nvSpPr>
        <p:spPr>
          <a:xfrm>
            <a:off x="868680" y="4069080"/>
            <a:ext cx="5760720" cy="0"/>
          </a:xfrm>
          <a:prstGeom prst="line">
            <a:avLst/>
          </a:prstGeom>
          <a:noFill/>
          <a:ln w="12700">
            <a:solidFill>
              <a:srgbClr val="D6E7E7"/>
            </a:solidFill>
            <a:prstDash val="solid"/>
          </a:ln>
        </p:spPr>
        <p:txBody>
          <a:bodyPr/>
          <a:lstStyle/>
          <a:p>
            <a:endParaRPr lang="es-MX"/>
          </a:p>
        </p:txBody>
      </p:sp>
      <p:sp>
        <p:nvSpPr>
          <p:cNvPr id="8" name="Text 6"/>
          <p:cNvSpPr/>
          <p:nvPr/>
        </p:nvSpPr>
        <p:spPr>
          <a:xfrm>
            <a:off x="868680" y="4251960"/>
            <a:ext cx="5760720" cy="1828800"/>
          </a:xfrm>
          <a:prstGeom prst="rect">
            <a:avLst/>
          </a:prstGeom>
          <a:noFill/>
          <a:ln/>
        </p:spPr>
        <p:txBody>
          <a:bodyPr wrap="square" rtlCol="0" anchor="ctr"/>
          <a:lstStyle/>
          <a:p>
            <a:pPr marL="0" indent="0">
              <a:lnSpc>
                <a:spcPts val="2000"/>
              </a:lnSpc>
              <a:buNone/>
            </a:pPr>
            <a:r>
              <a:rPr lang="en-US" sz="1350" dirty="0">
                <a:solidFill>
                  <a:srgbClr val="17303B"/>
                </a:solidFill>
                <a:latin typeface="Calibri" pitchFamily="34" charset="0"/>
                <a:ea typeface="Calibri" pitchFamily="34" charset="-122"/>
                <a:cs typeface="Calibri" pitchFamily="34" charset="-120"/>
              </a:rPr>
              <a:t>BLAST toma una secuencia (formato FASTA o GenBank) y una matriz de peso (PAM o BLOSUM), y la alinea contra otras secuencias biológicas en línea. El resultado — una lista de coincidencias o "hits" — puede revelar el objetivo molecular de un fármaco frente a una enfermedad.</a:t>
            </a:r>
            <a:endParaRPr lang="en-US" sz="1350" dirty="0"/>
          </a:p>
        </p:txBody>
      </p:sp>
      <p:sp>
        <p:nvSpPr>
          <p:cNvPr id="9" name="Shape 7"/>
          <p:cNvSpPr/>
          <p:nvPr/>
        </p:nvSpPr>
        <p:spPr>
          <a:xfrm>
            <a:off x="7223760" y="1691640"/>
            <a:ext cx="4389120" cy="4480560"/>
          </a:xfrm>
          <a:prstGeom prst="roundRect">
            <a:avLst>
              <a:gd name="adj" fmla="val 1667"/>
            </a:avLst>
          </a:prstGeom>
          <a:solidFill>
            <a:srgbClr val="0B3D57"/>
          </a:solidFill>
          <a:ln/>
        </p:spPr>
        <p:txBody>
          <a:bodyPr/>
          <a:lstStyle/>
          <a:p>
            <a:endParaRPr lang="es-MX"/>
          </a:p>
        </p:txBody>
      </p:sp>
      <p:sp>
        <p:nvSpPr>
          <p:cNvPr id="10" name="Text 8"/>
          <p:cNvSpPr/>
          <p:nvPr/>
        </p:nvSpPr>
        <p:spPr>
          <a:xfrm>
            <a:off x="7543800" y="2103120"/>
            <a:ext cx="3749040" cy="2103120"/>
          </a:xfrm>
          <a:prstGeom prst="rect">
            <a:avLst/>
          </a:prstGeom>
          <a:noFill/>
          <a:ln/>
        </p:spPr>
        <p:txBody>
          <a:bodyPr wrap="square" rtlCol="0" anchor="ctr"/>
          <a:lstStyle/>
          <a:p>
            <a:pPr marL="0" indent="0">
              <a:lnSpc>
                <a:spcPts val="2200"/>
              </a:lnSpc>
              <a:buNone/>
            </a:pPr>
            <a:r>
              <a:rPr lang="en-US" sz="1500" i="1" dirty="0">
                <a:solidFill>
                  <a:srgbClr val="FFFFFF"/>
                </a:solidFill>
                <a:latin typeface="Cambria" pitchFamily="34" charset="0"/>
                <a:ea typeface="Cambria" pitchFamily="34" charset="-122"/>
                <a:cs typeface="Cambria" pitchFamily="34" charset="-120"/>
              </a:rPr>
              <a:t>“La biología se parece más a la historia que a la física… no hay todavía una teoría predictiva de la biología.”</a:t>
            </a:r>
            <a:endParaRPr lang="en-US" sz="1500" dirty="0"/>
          </a:p>
        </p:txBody>
      </p:sp>
      <p:sp>
        <p:nvSpPr>
          <p:cNvPr id="11" name="Text 9"/>
          <p:cNvSpPr/>
          <p:nvPr/>
        </p:nvSpPr>
        <p:spPr>
          <a:xfrm>
            <a:off x="7543800" y="4206240"/>
            <a:ext cx="3749040" cy="365760"/>
          </a:xfrm>
          <a:prstGeom prst="rect">
            <a:avLst/>
          </a:prstGeom>
          <a:noFill/>
          <a:ln/>
        </p:spPr>
        <p:txBody>
          <a:bodyPr wrap="square" rtlCol="0" anchor="ctr"/>
          <a:lstStyle/>
          <a:p>
            <a:pPr marL="0" indent="0">
              <a:buNone/>
            </a:pPr>
            <a:r>
              <a:rPr lang="en-US" sz="1150" b="1" dirty="0">
                <a:solidFill>
                  <a:srgbClr val="00C2A8"/>
                </a:solidFill>
                <a:latin typeface="Calibri" pitchFamily="34" charset="0"/>
                <a:ea typeface="Calibri" pitchFamily="34" charset="-122"/>
                <a:cs typeface="Calibri" pitchFamily="34" charset="-120"/>
              </a:rPr>
              <a:t>— Carl Sagan, COSMOS</a:t>
            </a:r>
            <a:endParaRPr lang="en-US" sz="1150" dirty="0"/>
          </a:p>
        </p:txBody>
      </p:sp>
      <p:sp>
        <p:nvSpPr>
          <p:cNvPr id="12" name="Text 10"/>
          <p:cNvSpPr/>
          <p:nvPr/>
        </p:nvSpPr>
        <p:spPr>
          <a:xfrm>
            <a:off x="7543800" y="4800600"/>
            <a:ext cx="3749040" cy="1188720"/>
          </a:xfrm>
          <a:prstGeom prst="rect">
            <a:avLst/>
          </a:prstGeom>
          <a:noFill/>
          <a:ln/>
        </p:spPr>
        <p:txBody>
          <a:bodyPr wrap="square" rtlCol="0" anchor="ctr"/>
          <a:lstStyle/>
          <a:p>
            <a:pPr marL="0" indent="0">
              <a:lnSpc>
                <a:spcPts val="1800"/>
              </a:lnSpc>
              <a:buNone/>
            </a:pPr>
            <a:r>
              <a:rPr lang="en-US" sz="1150" dirty="0">
                <a:solidFill>
                  <a:srgbClr val="CADCFC"/>
                </a:solidFill>
                <a:latin typeface="Calibri" pitchFamily="34" charset="0"/>
                <a:ea typeface="Calibri" pitchFamily="34" charset="-122"/>
                <a:cs typeface="Calibri" pitchFamily="34" charset="-120"/>
              </a:rPr>
              <a:t>BLAST permite conectar el pasado evolutivo de una secuencia con su función presente: la base para descubrir nuevas dianas terapéuticas.</a:t>
            </a:r>
            <a:endParaRPr lang="en-US" sz="1150" dirty="0"/>
          </a:p>
        </p:txBody>
      </p:sp>
      <p:sp>
        <p:nvSpPr>
          <p:cNvPr id="13" name="Text 11"/>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7A85"/>
                </a:solidFill>
                <a:latin typeface="Calibri" pitchFamily="34" charset="0"/>
                <a:ea typeface="Calibri" pitchFamily="34" charset="-122"/>
                <a:cs typeface="Calibri" pitchFamily="34" charset="-120"/>
              </a:rPr>
              <a:t>BLAST y diseño de fármacos asistido por computadora</a:t>
            </a:r>
            <a:endParaRPr lang="en-US" sz="900" dirty="0"/>
          </a:p>
        </p:txBody>
      </p:sp>
      <p:sp>
        <p:nvSpPr>
          <p:cNvPr id="14" name="Text 12"/>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7A8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4919B"/>
                </a:solidFill>
                <a:latin typeface="Calibri" pitchFamily="34" charset="0"/>
                <a:ea typeface="Calibri" pitchFamily="34" charset="-122"/>
                <a:cs typeface="Calibri" pitchFamily="34" charset="-120"/>
              </a:rPr>
              <a:t>14.2 · FUNDAMENTOS</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buNone/>
            </a:pPr>
            <a:r>
              <a:rPr lang="en-US" sz="3200" b="1" dirty="0">
                <a:solidFill>
                  <a:srgbClr val="0B3D57"/>
                </a:solidFill>
                <a:latin typeface="Cambria" pitchFamily="34" charset="0"/>
                <a:ea typeface="Cambria" pitchFamily="34" charset="-122"/>
                <a:cs typeface="Cambria" pitchFamily="34" charset="-120"/>
              </a:rPr>
              <a:t>Los bloques de construcción</a:t>
            </a:r>
            <a:endParaRPr lang="en-US" sz="3200" dirty="0"/>
          </a:p>
        </p:txBody>
      </p:sp>
      <p:sp>
        <p:nvSpPr>
          <p:cNvPr id="4" name="Text 2"/>
          <p:cNvSpPr/>
          <p:nvPr/>
        </p:nvSpPr>
        <p:spPr>
          <a:xfrm>
            <a:off x="548640" y="1600200"/>
            <a:ext cx="5943600" cy="1463040"/>
          </a:xfrm>
          <a:prstGeom prst="rect">
            <a:avLst/>
          </a:prstGeom>
          <a:noFill/>
          <a:ln/>
        </p:spPr>
        <p:txBody>
          <a:bodyPr wrap="square" rtlCol="0" anchor="ctr"/>
          <a:lstStyle/>
          <a:p>
            <a:pPr marL="0" indent="0">
              <a:lnSpc>
                <a:spcPts val="2000"/>
              </a:lnSpc>
              <a:buNone/>
            </a:pPr>
            <a:r>
              <a:rPr lang="en-US" sz="1350" dirty="0">
                <a:solidFill>
                  <a:srgbClr val="17303B"/>
                </a:solidFill>
                <a:latin typeface="Calibri" pitchFamily="34" charset="0"/>
                <a:ea typeface="Calibri" pitchFamily="34" charset="-122"/>
                <a:cs typeface="Calibri" pitchFamily="34" charset="-120"/>
              </a:rPr>
              <a:t>Los ácidos nucleicos (ADN/ARN) están formados por nucleótidos (4 bases); las proteínas, por cadenas de aminoácidos (20 posibles) unidas por enlaces peptídicos. La diferencia en el orden de estas secuencias distingue un gen o una proteína de otro/a.</a:t>
            </a:r>
            <a:endParaRPr lang="en-US" sz="1350" dirty="0"/>
          </a:p>
        </p:txBody>
      </p:sp>
      <p:sp>
        <p:nvSpPr>
          <p:cNvPr id="5" name="Shape 3"/>
          <p:cNvSpPr/>
          <p:nvPr/>
        </p:nvSpPr>
        <p:spPr>
          <a:xfrm>
            <a:off x="548640" y="3291840"/>
            <a:ext cx="146304" cy="146304"/>
          </a:xfrm>
          <a:prstGeom prst="ellipse">
            <a:avLst/>
          </a:prstGeom>
          <a:solidFill>
            <a:srgbClr val="00C2A8"/>
          </a:solidFill>
          <a:ln/>
        </p:spPr>
        <p:txBody>
          <a:bodyPr/>
          <a:lstStyle/>
          <a:p>
            <a:endParaRPr lang="es-MX"/>
          </a:p>
        </p:txBody>
      </p:sp>
      <p:sp>
        <p:nvSpPr>
          <p:cNvPr id="6" name="Text 4"/>
          <p:cNvSpPr/>
          <p:nvPr/>
        </p:nvSpPr>
        <p:spPr>
          <a:xfrm>
            <a:off x="822960" y="3108960"/>
            <a:ext cx="5669280" cy="548640"/>
          </a:xfrm>
          <a:prstGeom prst="rect">
            <a:avLst/>
          </a:prstGeom>
          <a:noFill/>
          <a:ln/>
        </p:spPr>
        <p:txBody>
          <a:bodyPr wrap="square" rtlCol="0" anchor="ctr"/>
          <a:lstStyle/>
          <a:p>
            <a:pPr marL="0" indent="0">
              <a:lnSpc>
                <a:spcPts val="1600"/>
              </a:lnSpc>
              <a:buNone/>
            </a:pPr>
            <a:r>
              <a:rPr lang="en-US" sz="1250" b="1" dirty="0">
                <a:solidFill>
                  <a:srgbClr val="0B3D57"/>
                </a:solidFill>
                <a:latin typeface="Calibri" pitchFamily="34" charset="0"/>
                <a:ea typeface="Calibri" pitchFamily="34" charset="-122"/>
                <a:cs typeface="Calibri" pitchFamily="34" charset="-120"/>
              </a:rPr>
              <a:t>ADN / ARN — </a:t>
            </a:r>
            <a:r>
              <a:rPr lang="en-US" sz="1250" dirty="0">
                <a:solidFill>
                  <a:srgbClr val="17303B"/>
                </a:solidFill>
                <a:latin typeface="Calibri" pitchFamily="34" charset="0"/>
                <a:ea typeface="Calibri" pitchFamily="34" charset="-122"/>
                <a:cs typeface="Calibri" pitchFamily="34" charset="-120"/>
              </a:rPr>
              <a:t>4 bases nitrogenadas: A, T/U, G, C — unidas por azúcar-fosfato</a:t>
            </a:r>
            <a:endParaRPr lang="en-US" sz="1250" dirty="0"/>
          </a:p>
        </p:txBody>
      </p:sp>
      <p:sp>
        <p:nvSpPr>
          <p:cNvPr id="7" name="Shape 5"/>
          <p:cNvSpPr/>
          <p:nvPr/>
        </p:nvSpPr>
        <p:spPr>
          <a:xfrm>
            <a:off x="548640" y="4069080"/>
            <a:ext cx="146304" cy="146304"/>
          </a:xfrm>
          <a:prstGeom prst="ellipse">
            <a:avLst/>
          </a:prstGeom>
          <a:solidFill>
            <a:srgbClr val="00C2A8"/>
          </a:solidFill>
          <a:ln/>
        </p:spPr>
        <p:txBody>
          <a:bodyPr/>
          <a:lstStyle/>
          <a:p>
            <a:endParaRPr lang="es-MX"/>
          </a:p>
        </p:txBody>
      </p:sp>
      <p:sp>
        <p:nvSpPr>
          <p:cNvPr id="8" name="Text 6"/>
          <p:cNvSpPr/>
          <p:nvPr/>
        </p:nvSpPr>
        <p:spPr>
          <a:xfrm>
            <a:off x="822960" y="3886200"/>
            <a:ext cx="5669280" cy="548640"/>
          </a:xfrm>
          <a:prstGeom prst="rect">
            <a:avLst/>
          </a:prstGeom>
          <a:noFill/>
          <a:ln/>
        </p:spPr>
        <p:txBody>
          <a:bodyPr wrap="square" rtlCol="0" anchor="ctr"/>
          <a:lstStyle/>
          <a:p>
            <a:pPr marL="0" indent="0">
              <a:lnSpc>
                <a:spcPts val="1600"/>
              </a:lnSpc>
              <a:buNone/>
            </a:pPr>
            <a:r>
              <a:rPr lang="en-US" sz="1250" b="1" dirty="0">
                <a:solidFill>
                  <a:srgbClr val="0B3D57"/>
                </a:solidFill>
                <a:latin typeface="Calibri" pitchFamily="34" charset="0"/>
                <a:ea typeface="Calibri" pitchFamily="34" charset="-122"/>
                <a:cs typeface="Calibri" pitchFamily="34" charset="-120"/>
              </a:rPr>
              <a:t>Proteínas — </a:t>
            </a:r>
            <a:r>
              <a:rPr lang="en-US" sz="1250" dirty="0">
                <a:solidFill>
                  <a:srgbClr val="17303B"/>
                </a:solidFill>
                <a:latin typeface="Calibri" pitchFamily="34" charset="0"/>
                <a:ea typeface="Calibri" pitchFamily="34" charset="-122"/>
                <a:cs typeface="Calibri" pitchFamily="34" charset="-120"/>
              </a:rPr>
              <a:t>20 aminoácidos unidos por enlaces peptídicos</a:t>
            </a:r>
            <a:endParaRPr lang="en-US" sz="1250" dirty="0"/>
          </a:p>
        </p:txBody>
      </p:sp>
      <p:sp>
        <p:nvSpPr>
          <p:cNvPr id="9" name="Shape 7"/>
          <p:cNvSpPr/>
          <p:nvPr/>
        </p:nvSpPr>
        <p:spPr>
          <a:xfrm>
            <a:off x="548640" y="4846320"/>
            <a:ext cx="146304" cy="146304"/>
          </a:xfrm>
          <a:prstGeom prst="ellipse">
            <a:avLst/>
          </a:prstGeom>
          <a:solidFill>
            <a:srgbClr val="00C2A8"/>
          </a:solidFill>
          <a:ln/>
        </p:spPr>
        <p:txBody>
          <a:bodyPr/>
          <a:lstStyle/>
          <a:p>
            <a:endParaRPr lang="es-MX"/>
          </a:p>
        </p:txBody>
      </p:sp>
      <p:sp>
        <p:nvSpPr>
          <p:cNvPr id="10" name="Text 8"/>
          <p:cNvSpPr/>
          <p:nvPr/>
        </p:nvSpPr>
        <p:spPr>
          <a:xfrm>
            <a:off x="822960" y="4663440"/>
            <a:ext cx="5669280" cy="548640"/>
          </a:xfrm>
          <a:prstGeom prst="rect">
            <a:avLst/>
          </a:prstGeom>
          <a:noFill/>
          <a:ln/>
        </p:spPr>
        <p:txBody>
          <a:bodyPr wrap="square" rtlCol="0" anchor="ctr"/>
          <a:lstStyle/>
          <a:p>
            <a:pPr marL="0" indent="0">
              <a:lnSpc>
                <a:spcPts val="1600"/>
              </a:lnSpc>
              <a:buNone/>
            </a:pPr>
            <a:r>
              <a:rPr lang="en-US" sz="1250" b="1" dirty="0">
                <a:solidFill>
                  <a:srgbClr val="0B3D57"/>
                </a:solidFill>
                <a:latin typeface="Calibri" pitchFamily="34" charset="0"/>
                <a:ea typeface="Calibri" pitchFamily="34" charset="-122"/>
                <a:cs typeface="Calibri" pitchFamily="34" charset="-120"/>
              </a:rPr>
              <a:t>Secuencia biológica — </a:t>
            </a:r>
            <a:r>
              <a:rPr lang="en-US" sz="1250" dirty="0">
                <a:solidFill>
                  <a:srgbClr val="17303B"/>
                </a:solidFill>
                <a:latin typeface="Calibri" pitchFamily="34" charset="0"/>
                <a:ea typeface="Calibri" pitchFamily="34" charset="-122"/>
                <a:cs typeface="Calibri" pitchFamily="34" charset="-120"/>
              </a:rPr>
              <a:t>Una molécula continua de ácido nucleico o proteína</a:t>
            </a:r>
            <a:endParaRPr lang="en-US" sz="1250" dirty="0"/>
          </a:p>
        </p:txBody>
      </p:sp>
      <p:pic>
        <p:nvPicPr>
          <p:cNvPr id="11" name="Image 0" descr="/home/claude/work/img/fig14_1.jpg"/>
          <p:cNvPicPr>
            <a:picLocks noChangeAspect="1"/>
          </p:cNvPicPr>
          <p:nvPr/>
        </p:nvPicPr>
        <p:blipFill>
          <a:blip r:embed="rId3"/>
          <a:stretch>
            <a:fillRect/>
          </a:stretch>
        </p:blipFill>
        <p:spPr>
          <a:xfrm>
            <a:off x="6949440" y="1508760"/>
            <a:ext cx="4572000" cy="4800600"/>
          </a:xfrm>
          <a:prstGeom prst="rect">
            <a:avLst/>
          </a:prstGeom>
        </p:spPr>
      </p:pic>
      <p:sp>
        <p:nvSpPr>
          <p:cNvPr id="12" name="Text 9"/>
          <p:cNvSpPr/>
          <p:nvPr/>
        </p:nvSpPr>
        <p:spPr>
          <a:xfrm>
            <a:off x="6812280" y="6355080"/>
            <a:ext cx="4846320" cy="320040"/>
          </a:xfrm>
          <a:prstGeom prst="rect">
            <a:avLst/>
          </a:prstGeom>
          <a:noFill/>
          <a:ln/>
        </p:spPr>
        <p:txBody>
          <a:bodyPr wrap="square" rtlCol="0" anchor="ctr"/>
          <a:lstStyle/>
          <a:p>
            <a:pPr marL="0" indent="0">
              <a:buNone/>
            </a:pPr>
            <a:r>
              <a:rPr lang="en-US" sz="900" i="1" dirty="0">
                <a:solidFill>
                  <a:srgbClr val="5C7A85"/>
                </a:solidFill>
                <a:latin typeface="Calibri" pitchFamily="34" charset="0"/>
                <a:ea typeface="Calibri" pitchFamily="34" charset="-122"/>
                <a:cs typeface="Calibri" pitchFamily="34" charset="-120"/>
              </a:rPr>
              <a:t>Fig. 14.1 — Secuencias de ADN, ARN y proteína, y cómo dos secuencias de ADN codifican distintos aminoácidos.</a:t>
            </a:r>
            <a:endParaRPr lang="en-US" sz="900" dirty="0"/>
          </a:p>
        </p:txBody>
      </p:sp>
      <p:sp>
        <p:nvSpPr>
          <p:cNvPr id="13" name="Text 10"/>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7A85"/>
                </a:solidFill>
                <a:latin typeface="Calibri" pitchFamily="34" charset="0"/>
                <a:ea typeface="Calibri" pitchFamily="34" charset="-122"/>
                <a:cs typeface="Calibri" pitchFamily="34" charset="-120"/>
              </a:rPr>
              <a:t>BLAST y diseño de fármacos asistido por computadora</a:t>
            </a:r>
            <a:endParaRPr lang="en-US" sz="900" dirty="0"/>
          </a:p>
        </p:txBody>
      </p:sp>
      <p:sp>
        <p:nvSpPr>
          <p:cNvPr id="14" name="Text 11"/>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7A8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4919B"/>
                </a:solidFill>
                <a:latin typeface="Calibri" pitchFamily="34" charset="0"/>
                <a:ea typeface="Calibri" pitchFamily="34" charset="-122"/>
                <a:cs typeface="Calibri" pitchFamily="34" charset="-120"/>
              </a:rPr>
              <a:t>14.2.1 · ALINEAMIENTO DE SECUENCIAS</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buNone/>
            </a:pPr>
            <a:r>
              <a:rPr lang="en-US" sz="3200" b="1" dirty="0">
                <a:solidFill>
                  <a:srgbClr val="0B3D57"/>
                </a:solidFill>
                <a:latin typeface="Cambria" pitchFamily="34" charset="0"/>
                <a:ea typeface="Cambria" pitchFamily="34" charset="-122"/>
                <a:cs typeface="Cambria" pitchFamily="34" charset="-120"/>
              </a:rPr>
              <a:t>¿Qué es alinear dos secuencias?</a:t>
            </a:r>
            <a:endParaRPr lang="en-US" sz="3200" dirty="0"/>
          </a:p>
        </p:txBody>
      </p:sp>
      <p:sp>
        <p:nvSpPr>
          <p:cNvPr id="4" name="Text 2"/>
          <p:cNvSpPr/>
          <p:nvPr/>
        </p:nvSpPr>
        <p:spPr>
          <a:xfrm>
            <a:off x="548640" y="1645920"/>
            <a:ext cx="10881360" cy="822960"/>
          </a:xfrm>
          <a:prstGeom prst="rect">
            <a:avLst/>
          </a:prstGeom>
          <a:noFill/>
          <a:ln/>
        </p:spPr>
        <p:txBody>
          <a:bodyPr wrap="square" rtlCol="0" anchor="ctr"/>
          <a:lstStyle/>
          <a:p>
            <a:pPr marL="0" indent="0">
              <a:lnSpc>
                <a:spcPts val="2000"/>
              </a:lnSpc>
              <a:buNone/>
            </a:pPr>
            <a:r>
              <a:rPr lang="en-US" sz="1400" dirty="0">
                <a:solidFill>
                  <a:srgbClr val="17303B"/>
                </a:solidFill>
                <a:latin typeface="Calibri" pitchFamily="34" charset="0"/>
                <a:ea typeface="Calibri" pitchFamily="34" charset="-122"/>
                <a:cs typeface="Calibri" pitchFamily="34" charset="-120"/>
              </a:rPr>
              <a:t>Alinear es ordenar y comparar dos o más secuencias buscando patrones de caracteres en el mismo orden. Al deslizar una secuencia sobre otra (alineamiento por pares), se busca la máxima correspondencia entre residuos.</a:t>
            </a:r>
            <a:endParaRPr lang="en-US" sz="1400" dirty="0"/>
          </a:p>
        </p:txBody>
      </p:sp>
      <p:sp>
        <p:nvSpPr>
          <p:cNvPr id="5" name="Shape 3"/>
          <p:cNvSpPr/>
          <p:nvPr/>
        </p:nvSpPr>
        <p:spPr>
          <a:xfrm>
            <a:off x="548640" y="2743200"/>
            <a:ext cx="3611880" cy="2377440"/>
          </a:xfrm>
          <a:prstGeom prst="roundRect">
            <a:avLst>
              <a:gd name="adj" fmla="val 3077"/>
            </a:avLst>
          </a:prstGeom>
          <a:solidFill>
            <a:srgbClr val="EAF4F4"/>
          </a:solidFill>
          <a:ln/>
        </p:spPr>
        <p:txBody>
          <a:bodyPr/>
          <a:lstStyle/>
          <a:p>
            <a:endParaRPr lang="es-MX"/>
          </a:p>
        </p:txBody>
      </p:sp>
      <p:sp>
        <p:nvSpPr>
          <p:cNvPr id="6" name="Text 4"/>
          <p:cNvSpPr/>
          <p:nvPr/>
        </p:nvSpPr>
        <p:spPr>
          <a:xfrm>
            <a:off x="777240" y="2971800"/>
            <a:ext cx="3154680" cy="548640"/>
          </a:xfrm>
          <a:prstGeom prst="rect">
            <a:avLst/>
          </a:prstGeom>
          <a:noFill/>
          <a:ln/>
        </p:spPr>
        <p:txBody>
          <a:bodyPr wrap="square" rtlCol="0" anchor="ctr"/>
          <a:lstStyle/>
          <a:p>
            <a:pPr marL="0" indent="0">
              <a:buNone/>
            </a:pPr>
            <a:r>
              <a:rPr lang="en-US" sz="1400" b="1" dirty="0">
                <a:solidFill>
                  <a:srgbClr val="0B3D57"/>
                </a:solidFill>
                <a:latin typeface="Calibri" pitchFamily="34" charset="0"/>
                <a:ea typeface="Calibri" pitchFamily="34" charset="-122"/>
                <a:cs typeface="Calibri" pitchFamily="34" charset="-120"/>
              </a:rPr>
              <a:t>Conservación evolutiva</a:t>
            </a:r>
            <a:endParaRPr lang="en-US" sz="1400" dirty="0"/>
          </a:p>
        </p:txBody>
      </p:sp>
      <p:sp>
        <p:nvSpPr>
          <p:cNvPr id="7" name="Text 5"/>
          <p:cNvSpPr/>
          <p:nvPr/>
        </p:nvSpPr>
        <p:spPr>
          <a:xfrm>
            <a:off x="777240" y="3520440"/>
            <a:ext cx="3154680" cy="1463040"/>
          </a:xfrm>
          <a:prstGeom prst="rect">
            <a:avLst/>
          </a:prstGeom>
          <a:noFill/>
          <a:ln/>
        </p:spPr>
        <p:txBody>
          <a:bodyPr wrap="square" rtlCol="0" anchor="ctr"/>
          <a:lstStyle/>
          <a:p>
            <a:pPr marL="0" indent="0">
              <a:lnSpc>
                <a:spcPts val="1700"/>
              </a:lnSpc>
              <a:buNone/>
            </a:pPr>
            <a:r>
              <a:rPr lang="en-US" sz="1200" dirty="0">
                <a:solidFill>
                  <a:srgbClr val="17303B"/>
                </a:solidFill>
                <a:latin typeface="Calibri" pitchFamily="34" charset="0"/>
                <a:ea typeface="Calibri" pitchFamily="34" charset="-122"/>
                <a:cs typeface="Calibri" pitchFamily="34" charset="-120"/>
              </a:rPr>
              <a:t>Los residuos que no mutan reflejan funciones críticas para la supervivencia.</a:t>
            </a:r>
            <a:endParaRPr lang="en-US" sz="1200" dirty="0"/>
          </a:p>
        </p:txBody>
      </p:sp>
      <p:sp>
        <p:nvSpPr>
          <p:cNvPr id="8" name="Shape 6"/>
          <p:cNvSpPr/>
          <p:nvPr/>
        </p:nvSpPr>
        <p:spPr>
          <a:xfrm>
            <a:off x="4389120" y="2743200"/>
            <a:ext cx="3611880" cy="2377440"/>
          </a:xfrm>
          <a:prstGeom prst="roundRect">
            <a:avLst>
              <a:gd name="adj" fmla="val 3077"/>
            </a:avLst>
          </a:prstGeom>
          <a:solidFill>
            <a:srgbClr val="14919B"/>
          </a:solidFill>
          <a:ln/>
        </p:spPr>
        <p:txBody>
          <a:bodyPr/>
          <a:lstStyle/>
          <a:p>
            <a:endParaRPr lang="es-MX"/>
          </a:p>
        </p:txBody>
      </p:sp>
      <p:sp>
        <p:nvSpPr>
          <p:cNvPr id="9" name="Text 7"/>
          <p:cNvSpPr/>
          <p:nvPr/>
        </p:nvSpPr>
        <p:spPr>
          <a:xfrm>
            <a:off x="4617720" y="2971800"/>
            <a:ext cx="3154680" cy="5486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Similitud estructural</a:t>
            </a:r>
            <a:endParaRPr lang="en-US" sz="1400" dirty="0"/>
          </a:p>
        </p:txBody>
      </p:sp>
      <p:sp>
        <p:nvSpPr>
          <p:cNvPr id="10" name="Text 8"/>
          <p:cNvSpPr/>
          <p:nvPr/>
        </p:nvSpPr>
        <p:spPr>
          <a:xfrm>
            <a:off x="4617720" y="3520440"/>
            <a:ext cx="3154680" cy="1463040"/>
          </a:xfrm>
          <a:prstGeom prst="rect">
            <a:avLst/>
          </a:prstGeom>
          <a:noFill/>
          <a:ln/>
        </p:spPr>
        <p:txBody>
          <a:bodyPr wrap="square" rtlCol="0" anchor="ctr"/>
          <a:lstStyle/>
          <a:p>
            <a:pPr marL="0" indent="0">
              <a:lnSpc>
                <a:spcPts val="1700"/>
              </a:lnSpc>
              <a:buNone/>
            </a:pPr>
            <a:r>
              <a:rPr lang="en-US" sz="1200" dirty="0">
                <a:solidFill>
                  <a:srgbClr val="E6F7F7"/>
                </a:solidFill>
                <a:latin typeface="Calibri" pitchFamily="34" charset="0"/>
                <a:ea typeface="Calibri" pitchFamily="34" charset="-122"/>
                <a:cs typeface="Calibri" pitchFamily="34" charset="-120"/>
              </a:rPr>
              <a:t>Secuencias parecidas suelen adoptar plegamientos y funciones similares.</a:t>
            </a:r>
            <a:endParaRPr lang="en-US" sz="1200" dirty="0"/>
          </a:p>
        </p:txBody>
      </p:sp>
      <p:sp>
        <p:nvSpPr>
          <p:cNvPr id="11" name="Shape 9"/>
          <p:cNvSpPr/>
          <p:nvPr/>
        </p:nvSpPr>
        <p:spPr>
          <a:xfrm>
            <a:off x="8229600" y="2743200"/>
            <a:ext cx="3611880" cy="2377440"/>
          </a:xfrm>
          <a:prstGeom prst="roundRect">
            <a:avLst>
              <a:gd name="adj" fmla="val 3077"/>
            </a:avLst>
          </a:prstGeom>
          <a:solidFill>
            <a:srgbClr val="EAF4F4"/>
          </a:solidFill>
          <a:ln/>
        </p:spPr>
        <p:txBody>
          <a:bodyPr/>
          <a:lstStyle/>
          <a:p>
            <a:endParaRPr lang="es-MX"/>
          </a:p>
        </p:txBody>
      </p:sp>
      <p:sp>
        <p:nvSpPr>
          <p:cNvPr id="12" name="Text 10"/>
          <p:cNvSpPr/>
          <p:nvPr/>
        </p:nvSpPr>
        <p:spPr>
          <a:xfrm>
            <a:off x="8458200" y="2971800"/>
            <a:ext cx="3154680" cy="548640"/>
          </a:xfrm>
          <a:prstGeom prst="rect">
            <a:avLst/>
          </a:prstGeom>
          <a:noFill/>
          <a:ln/>
        </p:spPr>
        <p:txBody>
          <a:bodyPr wrap="square" rtlCol="0" anchor="ctr"/>
          <a:lstStyle/>
          <a:p>
            <a:pPr marL="0" indent="0">
              <a:buNone/>
            </a:pPr>
            <a:r>
              <a:rPr lang="en-US" sz="1400" b="1" dirty="0">
                <a:solidFill>
                  <a:srgbClr val="0B3D57"/>
                </a:solidFill>
                <a:latin typeface="Calibri" pitchFamily="34" charset="0"/>
                <a:ea typeface="Calibri" pitchFamily="34" charset="-122"/>
                <a:cs typeface="Calibri" pitchFamily="34" charset="-120"/>
              </a:rPr>
              <a:t>Eventos al azar</a:t>
            </a:r>
            <a:endParaRPr lang="en-US" sz="1400" dirty="0"/>
          </a:p>
        </p:txBody>
      </p:sp>
      <p:sp>
        <p:nvSpPr>
          <p:cNvPr id="13" name="Text 11"/>
          <p:cNvSpPr/>
          <p:nvPr/>
        </p:nvSpPr>
        <p:spPr>
          <a:xfrm>
            <a:off x="8458200" y="3520440"/>
            <a:ext cx="3154680" cy="1463040"/>
          </a:xfrm>
          <a:prstGeom prst="rect">
            <a:avLst/>
          </a:prstGeom>
          <a:noFill/>
          <a:ln/>
        </p:spPr>
        <p:txBody>
          <a:bodyPr wrap="square" rtlCol="0" anchor="ctr"/>
          <a:lstStyle/>
          <a:p>
            <a:pPr marL="0" indent="0">
              <a:lnSpc>
                <a:spcPts val="1700"/>
              </a:lnSpc>
              <a:buNone/>
            </a:pPr>
            <a:r>
              <a:rPr lang="en-US" sz="1200" dirty="0">
                <a:solidFill>
                  <a:srgbClr val="17303B"/>
                </a:solidFill>
                <a:latin typeface="Calibri" pitchFamily="34" charset="0"/>
                <a:ea typeface="Calibri" pitchFamily="34" charset="-122"/>
                <a:cs typeface="Calibri" pitchFamily="34" charset="-120"/>
              </a:rPr>
              <a:t>Alta similitud también puede deberse a coincidencia estadística.</a:t>
            </a:r>
            <a:endParaRPr lang="en-US" sz="1200" dirty="0"/>
          </a:p>
        </p:txBody>
      </p:sp>
      <p:sp>
        <p:nvSpPr>
          <p:cNvPr id="14" name="Shape 12"/>
          <p:cNvSpPr/>
          <p:nvPr/>
        </p:nvSpPr>
        <p:spPr>
          <a:xfrm>
            <a:off x="548640" y="5349240"/>
            <a:ext cx="11064240" cy="914400"/>
          </a:xfrm>
          <a:prstGeom prst="roundRect">
            <a:avLst>
              <a:gd name="adj" fmla="val 8000"/>
            </a:avLst>
          </a:prstGeom>
          <a:solidFill>
            <a:srgbClr val="0B3D57"/>
          </a:solidFill>
          <a:ln/>
        </p:spPr>
        <p:txBody>
          <a:bodyPr/>
          <a:lstStyle/>
          <a:p>
            <a:endParaRPr lang="es-MX"/>
          </a:p>
        </p:txBody>
      </p:sp>
      <p:sp>
        <p:nvSpPr>
          <p:cNvPr id="15" name="Text 13"/>
          <p:cNvSpPr/>
          <p:nvPr/>
        </p:nvSpPr>
        <p:spPr>
          <a:xfrm>
            <a:off x="822960" y="5349240"/>
            <a:ext cx="10515600" cy="914400"/>
          </a:xfrm>
          <a:prstGeom prst="rect">
            <a:avLst/>
          </a:prstGeom>
          <a:noFill/>
          <a:ln/>
        </p:spPr>
        <p:txBody>
          <a:bodyPr wrap="square" rtlCol="0" anchor="ctr"/>
          <a:lstStyle/>
          <a:p>
            <a:pPr marL="0" indent="0">
              <a:lnSpc>
                <a:spcPts val="1800"/>
              </a:lnSpc>
              <a:buNone/>
            </a:pPr>
            <a:r>
              <a:rPr lang="en-US" sz="1300" b="1" dirty="0">
                <a:solidFill>
                  <a:srgbClr val="00C2A8"/>
                </a:solidFill>
                <a:latin typeface="Calibri" pitchFamily="34" charset="0"/>
                <a:ea typeface="Calibri" pitchFamily="34" charset="-122"/>
                <a:cs typeface="Calibri" pitchFamily="34" charset="-120"/>
              </a:rPr>
              <a:t>Objetivo del análisis:  </a:t>
            </a:r>
            <a:r>
              <a:rPr lang="en-US" sz="1300" dirty="0">
                <a:solidFill>
                  <a:srgbClr val="FFFFFF"/>
                </a:solidFill>
                <a:latin typeface="Calibri" pitchFamily="34" charset="0"/>
                <a:ea typeface="Calibri" pitchFamily="34" charset="-122"/>
                <a:cs typeface="Calibri" pitchFamily="34" charset="-120"/>
              </a:rPr>
              <a:t>identificar rastros evolutivos (residuos conservados) y mutaciones (deleciones, inserciones, sustituciones) entre dos secuencias.</a:t>
            </a:r>
            <a:endParaRPr lang="en-US" sz="1300" dirty="0"/>
          </a:p>
        </p:txBody>
      </p:sp>
      <p:sp>
        <p:nvSpPr>
          <p:cNvPr id="16" name="Text 14"/>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7A85"/>
                </a:solidFill>
                <a:latin typeface="Calibri" pitchFamily="34" charset="0"/>
                <a:ea typeface="Calibri" pitchFamily="34" charset="-122"/>
                <a:cs typeface="Calibri" pitchFamily="34" charset="-120"/>
              </a:rPr>
              <a:t>BLAST y diseño de fármacos asistido por computadora</a:t>
            </a:r>
            <a:endParaRPr lang="en-US" sz="900" dirty="0"/>
          </a:p>
        </p:txBody>
      </p:sp>
      <p:sp>
        <p:nvSpPr>
          <p:cNvPr id="17" name="Text 15"/>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7A8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4919B"/>
                </a:solidFill>
                <a:latin typeface="Calibri" pitchFamily="34" charset="0"/>
                <a:ea typeface="Calibri" pitchFamily="34" charset="-122"/>
                <a:cs typeface="Calibri" pitchFamily="34" charset="-120"/>
              </a:rPr>
              <a:t>14.2.1 · PARÁMETROS DE COMPARACIÓN</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buNone/>
            </a:pPr>
            <a:r>
              <a:rPr lang="en-US" sz="3200" b="1" dirty="0">
                <a:solidFill>
                  <a:srgbClr val="0B3D57"/>
                </a:solidFill>
                <a:latin typeface="Cambria" pitchFamily="34" charset="0"/>
                <a:ea typeface="Cambria" pitchFamily="34" charset="-122"/>
                <a:cs typeface="Cambria" pitchFamily="34" charset="-120"/>
              </a:rPr>
              <a:t>Homología, similitud e identidad</a:t>
            </a:r>
            <a:endParaRPr lang="en-US" sz="3200" dirty="0"/>
          </a:p>
        </p:txBody>
      </p:sp>
      <p:pic>
        <p:nvPicPr>
          <p:cNvPr id="4" name="Image 0" descr="/home/claude/work/img/fig14_2.jpg"/>
          <p:cNvPicPr>
            <a:picLocks noChangeAspect="1"/>
          </p:cNvPicPr>
          <p:nvPr/>
        </p:nvPicPr>
        <p:blipFill>
          <a:blip r:embed="rId3"/>
          <a:stretch>
            <a:fillRect/>
          </a:stretch>
        </p:blipFill>
        <p:spPr>
          <a:xfrm>
            <a:off x="603504" y="1600200"/>
            <a:ext cx="5468112" cy="4160520"/>
          </a:xfrm>
          <a:prstGeom prst="rect">
            <a:avLst/>
          </a:prstGeom>
        </p:spPr>
      </p:pic>
      <p:sp>
        <p:nvSpPr>
          <p:cNvPr id="5" name="Text 2"/>
          <p:cNvSpPr/>
          <p:nvPr/>
        </p:nvSpPr>
        <p:spPr>
          <a:xfrm>
            <a:off x="548640" y="5806440"/>
            <a:ext cx="5577840" cy="320040"/>
          </a:xfrm>
          <a:prstGeom prst="rect">
            <a:avLst/>
          </a:prstGeom>
          <a:noFill/>
          <a:ln/>
        </p:spPr>
        <p:txBody>
          <a:bodyPr wrap="square" rtlCol="0" anchor="ctr"/>
          <a:lstStyle/>
          <a:p>
            <a:pPr marL="0" indent="0">
              <a:buNone/>
            </a:pPr>
            <a:r>
              <a:rPr lang="en-US" sz="900" i="1" dirty="0">
                <a:solidFill>
                  <a:srgbClr val="5C7A85"/>
                </a:solidFill>
                <a:latin typeface="Calibri" pitchFamily="34" charset="0"/>
                <a:ea typeface="Calibri" pitchFamily="34" charset="-122"/>
                <a:cs typeface="Calibri" pitchFamily="34" charset="-120"/>
              </a:rPr>
              <a:t>Fig. 14.2 — Relación entre similitud, identidad y homología de secuencias.</a:t>
            </a:r>
            <a:endParaRPr lang="en-US" sz="900" dirty="0"/>
          </a:p>
        </p:txBody>
      </p:sp>
      <p:sp>
        <p:nvSpPr>
          <p:cNvPr id="6" name="Shape 3"/>
          <p:cNvSpPr/>
          <p:nvPr/>
        </p:nvSpPr>
        <p:spPr>
          <a:xfrm>
            <a:off x="6446520" y="1691640"/>
            <a:ext cx="5166360" cy="1234440"/>
          </a:xfrm>
          <a:prstGeom prst="roundRect">
            <a:avLst>
              <a:gd name="adj" fmla="val 5926"/>
            </a:avLst>
          </a:prstGeom>
          <a:solidFill>
            <a:srgbClr val="EAF4F4"/>
          </a:solidFill>
          <a:ln/>
        </p:spPr>
        <p:txBody>
          <a:bodyPr/>
          <a:lstStyle/>
          <a:p>
            <a:endParaRPr lang="es-MX"/>
          </a:p>
        </p:txBody>
      </p:sp>
      <p:sp>
        <p:nvSpPr>
          <p:cNvPr id="7" name="Text 4"/>
          <p:cNvSpPr/>
          <p:nvPr/>
        </p:nvSpPr>
        <p:spPr>
          <a:xfrm>
            <a:off x="6675120" y="1783080"/>
            <a:ext cx="4754880" cy="365760"/>
          </a:xfrm>
          <a:prstGeom prst="rect">
            <a:avLst/>
          </a:prstGeom>
          <a:noFill/>
          <a:ln/>
        </p:spPr>
        <p:txBody>
          <a:bodyPr wrap="square" rtlCol="0" anchor="ctr"/>
          <a:lstStyle/>
          <a:p>
            <a:pPr marL="0" indent="0">
              <a:buNone/>
            </a:pPr>
            <a:r>
              <a:rPr lang="en-US" sz="1400" b="1" dirty="0">
                <a:solidFill>
                  <a:srgbClr val="14919B"/>
                </a:solidFill>
                <a:latin typeface="Calibri" pitchFamily="34" charset="0"/>
                <a:ea typeface="Calibri" pitchFamily="34" charset="-122"/>
                <a:cs typeface="Calibri" pitchFamily="34" charset="-120"/>
              </a:rPr>
              <a:t>Homología</a:t>
            </a:r>
            <a:endParaRPr lang="en-US" sz="1400" dirty="0"/>
          </a:p>
        </p:txBody>
      </p:sp>
      <p:sp>
        <p:nvSpPr>
          <p:cNvPr id="8" name="Text 5"/>
          <p:cNvSpPr/>
          <p:nvPr/>
        </p:nvSpPr>
        <p:spPr>
          <a:xfrm>
            <a:off x="6675120" y="2167128"/>
            <a:ext cx="4754880" cy="685800"/>
          </a:xfrm>
          <a:prstGeom prst="rect">
            <a:avLst/>
          </a:prstGeom>
          <a:noFill/>
          <a:ln/>
        </p:spPr>
        <p:txBody>
          <a:bodyPr wrap="square" rtlCol="0" anchor="ctr"/>
          <a:lstStyle/>
          <a:p>
            <a:pPr marL="0" indent="0">
              <a:lnSpc>
                <a:spcPts val="1500"/>
              </a:lnSpc>
              <a:buNone/>
            </a:pPr>
            <a:r>
              <a:rPr lang="en-US" sz="1150" dirty="0">
                <a:solidFill>
                  <a:srgbClr val="17303B"/>
                </a:solidFill>
                <a:latin typeface="Calibri" pitchFamily="34" charset="0"/>
                <a:ea typeface="Calibri" pitchFamily="34" charset="-122"/>
                <a:cs typeface="Calibri" pitchFamily="34" charset="-120"/>
              </a:rPr>
              <a:t>Hipótesis evolutiva (verdadero/falso): ancestro común. No es cuantificable en %.</a:t>
            </a:r>
            <a:endParaRPr lang="en-US" sz="1150" dirty="0"/>
          </a:p>
        </p:txBody>
      </p:sp>
      <p:sp>
        <p:nvSpPr>
          <p:cNvPr id="9" name="Shape 6"/>
          <p:cNvSpPr/>
          <p:nvPr/>
        </p:nvSpPr>
        <p:spPr>
          <a:xfrm>
            <a:off x="6446520" y="3108960"/>
            <a:ext cx="5166360" cy="1234440"/>
          </a:xfrm>
          <a:prstGeom prst="roundRect">
            <a:avLst>
              <a:gd name="adj" fmla="val 5926"/>
            </a:avLst>
          </a:prstGeom>
          <a:solidFill>
            <a:srgbClr val="EAF4F4"/>
          </a:solidFill>
          <a:ln/>
        </p:spPr>
        <p:txBody>
          <a:bodyPr/>
          <a:lstStyle/>
          <a:p>
            <a:endParaRPr lang="es-MX"/>
          </a:p>
        </p:txBody>
      </p:sp>
      <p:sp>
        <p:nvSpPr>
          <p:cNvPr id="10" name="Text 7"/>
          <p:cNvSpPr/>
          <p:nvPr/>
        </p:nvSpPr>
        <p:spPr>
          <a:xfrm>
            <a:off x="6675120" y="3200400"/>
            <a:ext cx="4754880" cy="365760"/>
          </a:xfrm>
          <a:prstGeom prst="rect">
            <a:avLst/>
          </a:prstGeom>
          <a:noFill/>
          <a:ln/>
        </p:spPr>
        <p:txBody>
          <a:bodyPr wrap="square" rtlCol="0" anchor="ctr"/>
          <a:lstStyle/>
          <a:p>
            <a:pPr marL="0" indent="0">
              <a:buNone/>
            </a:pPr>
            <a:r>
              <a:rPr lang="en-US" sz="1400" b="1" dirty="0">
                <a:solidFill>
                  <a:srgbClr val="14919B"/>
                </a:solidFill>
                <a:latin typeface="Calibri" pitchFamily="34" charset="0"/>
                <a:ea typeface="Calibri" pitchFamily="34" charset="-122"/>
                <a:cs typeface="Calibri" pitchFamily="34" charset="-120"/>
              </a:rPr>
              <a:t>Similitud (%)</a:t>
            </a:r>
            <a:endParaRPr lang="en-US" sz="1400" dirty="0"/>
          </a:p>
        </p:txBody>
      </p:sp>
      <p:sp>
        <p:nvSpPr>
          <p:cNvPr id="11" name="Text 8"/>
          <p:cNvSpPr/>
          <p:nvPr/>
        </p:nvSpPr>
        <p:spPr>
          <a:xfrm>
            <a:off x="6675120" y="3584448"/>
            <a:ext cx="4754880" cy="685800"/>
          </a:xfrm>
          <a:prstGeom prst="rect">
            <a:avLst/>
          </a:prstGeom>
          <a:noFill/>
          <a:ln/>
        </p:spPr>
        <p:txBody>
          <a:bodyPr wrap="square" rtlCol="0" anchor="ctr"/>
          <a:lstStyle/>
          <a:p>
            <a:pPr marL="0" indent="0">
              <a:lnSpc>
                <a:spcPts val="1500"/>
              </a:lnSpc>
              <a:buNone/>
            </a:pPr>
            <a:r>
              <a:rPr lang="en-US" sz="1150" dirty="0">
                <a:solidFill>
                  <a:srgbClr val="17303B"/>
                </a:solidFill>
                <a:latin typeface="Calibri" pitchFamily="34" charset="0"/>
                <a:ea typeface="Calibri" pitchFamily="34" charset="-122"/>
                <a:cs typeface="Calibri" pitchFamily="34" charset="-120"/>
              </a:rPr>
              <a:t>S = [(Ls × 2) / (La + Lb)] × 100 — grado de parecido físico-químico.</a:t>
            </a:r>
            <a:endParaRPr lang="en-US" sz="1150" dirty="0"/>
          </a:p>
        </p:txBody>
      </p:sp>
      <p:sp>
        <p:nvSpPr>
          <p:cNvPr id="12" name="Shape 9"/>
          <p:cNvSpPr/>
          <p:nvPr/>
        </p:nvSpPr>
        <p:spPr>
          <a:xfrm>
            <a:off x="6446520" y="4526280"/>
            <a:ext cx="5166360" cy="1234440"/>
          </a:xfrm>
          <a:prstGeom prst="roundRect">
            <a:avLst>
              <a:gd name="adj" fmla="val 5926"/>
            </a:avLst>
          </a:prstGeom>
          <a:solidFill>
            <a:srgbClr val="EAF4F4"/>
          </a:solidFill>
          <a:ln/>
        </p:spPr>
        <p:txBody>
          <a:bodyPr/>
          <a:lstStyle/>
          <a:p>
            <a:endParaRPr lang="es-MX"/>
          </a:p>
        </p:txBody>
      </p:sp>
      <p:sp>
        <p:nvSpPr>
          <p:cNvPr id="13" name="Text 10"/>
          <p:cNvSpPr/>
          <p:nvPr/>
        </p:nvSpPr>
        <p:spPr>
          <a:xfrm>
            <a:off x="6675120" y="4617720"/>
            <a:ext cx="4754880" cy="365760"/>
          </a:xfrm>
          <a:prstGeom prst="rect">
            <a:avLst/>
          </a:prstGeom>
          <a:noFill/>
          <a:ln/>
        </p:spPr>
        <p:txBody>
          <a:bodyPr wrap="square" rtlCol="0" anchor="ctr"/>
          <a:lstStyle/>
          <a:p>
            <a:pPr marL="0" indent="0">
              <a:buNone/>
            </a:pPr>
            <a:r>
              <a:rPr lang="en-US" sz="1400" b="1" dirty="0">
                <a:solidFill>
                  <a:srgbClr val="14919B"/>
                </a:solidFill>
                <a:latin typeface="Calibri" pitchFamily="34" charset="0"/>
                <a:ea typeface="Calibri" pitchFamily="34" charset="-122"/>
                <a:cs typeface="Calibri" pitchFamily="34" charset="-120"/>
              </a:rPr>
              <a:t>Identidad (%)</a:t>
            </a:r>
            <a:endParaRPr lang="en-US" sz="1400" dirty="0"/>
          </a:p>
        </p:txBody>
      </p:sp>
      <p:sp>
        <p:nvSpPr>
          <p:cNvPr id="14" name="Text 11"/>
          <p:cNvSpPr/>
          <p:nvPr/>
        </p:nvSpPr>
        <p:spPr>
          <a:xfrm>
            <a:off x="6675120" y="5001768"/>
            <a:ext cx="4754880" cy="685800"/>
          </a:xfrm>
          <a:prstGeom prst="rect">
            <a:avLst/>
          </a:prstGeom>
          <a:noFill/>
          <a:ln/>
        </p:spPr>
        <p:txBody>
          <a:bodyPr wrap="square" rtlCol="0" anchor="ctr"/>
          <a:lstStyle/>
          <a:p>
            <a:pPr marL="0" indent="0">
              <a:lnSpc>
                <a:spcPts val="1500"/>
              </a:lnSpc>
              <a:buNone/>
            </a:pPr>
            <a:r>
              <a:rPr lang="en-US" sz="1150" dirty="0">
                <a:solidFill>
                  <a:srgbClr val="17303B"/>
                </a:solidFill>
                <a:latin typeface="Calibri" pitchFamily="34" charset="0"/>
                <a:ea typeface="Calibri" pitchFamily="34" charset="-122"/>
                <a:cs typeface="Calibri" pitchFamily="34" charset="-120"/>
              </a:rPr>
              <a:t>I = [(Li × 2) / (La + Lb)] × 100 — coincidencia exacta de caracteres.</a:t>
            </a:r>
            <a:endParaRPr lang="en-US" sz="1150" dirty="0"/>
          </a:p>
        </p:txBody>
      </p:sp>
      <p:sp>
        <p:nvSpPr>
          <p:cNvPr id="15" name="Text 12"/>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7A85"/>
                </a:solidFill>
                <a:latin typeface="Calibri" pitchFamily="34" charset="0"/>
                <a:ea typeface="Calibri" pitchFamily="34" charset="-122"/>
                <a:cs typeface="Calibri" pitchFamily="34" charset="-120"/>
              </a:rPr>
              <a:t>BLAST y diseño de fármacos asistido por computadora</a:t>
            </a:r>
            <a:endParaRPr lang="en-US" sz="900" dirty="0"/>
          </a:p>
        </p:txBody>
      </p:sp>
      <p:sp>
        <p:nvSpPr>
          <p:cNvPr id="16" name="Text 13"/>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7A85"/>
                </a:solidFill>
                <a:latin typeface="Calibri" pitchFamily="34" charset="0"/>
                <a:ea typeface="Calibri" pitchFamily="34" charset="-122"/>
                <a:cs typeface="Calibri" pitchFamily="34" charset="-120"/>
              </a:rPr>
              <a:t>6</a:t>
            </a:r>
            <a:endParaRPr lang="en-US" sz="900" dirty="0"/>
          </a:p>
        </p:txBody>
      </p:sp>
      <p:sp>
        <p:nvSpPr>
          <p:cNvPr id="18" name="TextBox 17">
            <a:extLst>
              <a:ext uri="{FF2B5EF4-FFF2-40B4-BE49-F238E27FC236}">
                <a16:creationId xmlns:a16="http://schemas.microsoft.com/office/drawing/2014/main" id="{D02D2C56-526D-1F7E-B02C-4A2F33AE73CD}"/>
              </a:ext>
            </a:extLst>
          </p:cNvPr>
          <p:cNvSpPr txBox="1"/>
          <p:nvPr/>
        </p:nvSpPr>
        <p:spPr>
          <a:xfrm>
            <a:off x="579120" y="1580232"/>
            <a:ext cx="5571746" cy="646331"/>
          </a:xfrm>
          <a:prstGeom prst="rect">
            <a:avLst/>
          </a:prstGeom>
          <a:solidFill>
            <a:schemeClr val="accent1"/>
          </a:solidFill>
        </p:spPr>
        <p:txBody>
          <a:bodyPr wrap="square">
            <a:spAutoFit/>
          </a:bodyPr>
          <a:lstStyle/>
          <a:p>
            <a:r>
              <a:rPr lang="es-ES" sz="1200" b="1" u="none" strike="noStrike" dirty="0">
                <a:solidFill>
                  <a:srgbClr val="FFFF00"/>
                </a:solidFill>
                <a:effectLst/>
                <a:latin typeface="Google Sans"/>
              </a:rPr>
              <a:t>La homología implica un ancestro común, mientras que la similitud y la identidad miden el parecido cuantitativo.</a:t>
            </a:r>
            <a:r>
              <a:rPr lang="es-ES" sz="1200" dirty="0">
                <a:solidFill>
                  <a:srgbClr val="FFFF00"/>
                </a:solidFill>
              </a:rPr>
              <a:t> </a:t>
            </a:r>
            <a:r>
              <a:rPr lang="es-ES" sz="1200" dirty="0">
                <a:solidFill>
                  <a:schemeClr val="bg1"/>
                </a:solidFill>
              </a:rPr>
              <a:t>La imagen muestra la diferencia entre estos tres conceptos clave en bioinformática y biología evolutiva.</a:t>
            </a:r>
            <a:endParaRPr lang="es-MX" sz="1200" dirty="0">
              <a:solidFill>
                <a:schemeClr val="bg1"/>
              </a:solidFill>
            </a:endParaRPr>
          </a:p>
        </p:txBody>
      </p:sp>
      <p:graphicFrame>
        <p:nvGraphicFramePr>
          <p:cNvPr id="19" name="Table 18">
            <a:extLst>
              <a:ext uri="{FF2B5EF4-FFF2-40B4-BE49-F238E27FC236}">
                <a16:creationId xmlns:a16="http://schemas.microsoft.com/office/drawing/2014/main" id="{13140F9A-9F3A-B199-C3C6-C3A7D8A0C7C2}"/>
              </a:ext>
            </a:extLst>
          </p:cNvPr>
          <p:cNvGraphicFramePr>
            <a:graphicFrameLocks noGrp="1"/>
          </p:cNvGraphicFramePr>
          <p:nvPr>
            <p:extLst>
              <p:ext uri="{D42A27DB-BD31-4B8C-83A1-F6EECF244321}">
                <p14:modId xmlns:p14="http://schemas.microsoft.com/office/powerpoint/2010/main" val="3495522744"/>
              </p:ext>
            </p:extLst>
          </p:nvPr>
        </p:nvGraphicFramePr>
        <p:xfrm>
          <a:off x="2207260" y="2226563"/>
          <a:ext cx="3950653" cy="3168398"/>
        </p:xfrm>
        <a:graphic>
          <a:graphicData uri="http://schemas.openxmlformats.org/drawingml/2006/table">
            <a:tbl>
              <a:tblPr firstRow="1" firstCol="1" bandRow="1">
                <a:tableStyleId>{5C22544A-7EE6-4342-B048-85BDC9FD1C3A}</a:tableStyleId>
              </a:tblPr>
              <a:tblGrid>
                <a:gridCol w="1159828">
                  <a:extLst>
                    <a:ext uri="{9D8B030D-6E8A-4147-A177-3AD203B41FA5}">
                      <a16:colId xmlns:a16="http://schemas.microsoft.com/office/drawing/2014/main" val="1630459775"/>
                    </a:ext>
                  </a:extLst>
                </a:gridCol>
                <a:gridCol w="2790825">
                  <a:extLst>
                    <a:ext uri="{9D8B030D-6E8A-4147-A177-3AD203B41FA5}">
                      <a16:colId xmlns:a16="http://schemas.microsoft.com/office/drawing/2014/main" val="2908106470"/>
                    </a:ext>
                  </a:extLst>
                </a:gridCol>
              </a:tblGrid>
              <a:tr h="995094">
                <a:tc>
                  <a:txBody>
                    <a:bodyPr/>
                    <a:lstStyle/>
                    <a:p>
                      <a:pPr algn="just">
                        <a:lnSpc>
                          <a:spcPct val="115000"/>
                        </a:lnSpc>
                        <a:spcAft>
                          <a:spcPts val="800"/>
                        </a:spcAft>
                      </a:pPr>
                      <a:r>
                        <a:rPr lang="es-MX" sz="1000" kern="100" dirty="0">
                          <a:solidFill>
                            <a:schemeClr val="bg1"/>
                          </a:solidFill>
                          <a:effectLst/>
                        </a:rPr>
                        <a:t>HOMOLOGÍA (probabilidad T/F) </a:t>
                      </a:r>
                      <a:endParaRPr lang="es-MX" sz="10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C00000"/>
                    </a:solidFill>
                  </a:tcPr>
                </a:tc>
                <a:tc>
                  <a:txBody>
                    <a:bodyPr/>
                    <a:lstStyle/>
                    <a:p>
                      <a:pPr marL="342900" lvl="0" indent="-342900" algn="just">
                        <a:lnSpc>
                          <a:spcPct val="115000"/>
                        </a:lnSpc>
                        <a:buFont typeface="Symbol" panose="05050102010706020507" pitchFamily="18" charset="2"/>
                        <a:buChar char=""/>
                      </a:pPr>
                      <a:r>
                        <a:rPr lang="es-MX" sz="1000" kern="100" dirty="0">
                          <a:solidFill>
                            <a:schemeClr val="bg1"/>
                          </a:solidFill>
                          <a:effectLst/>
                        </a:rPr>
                        <a:t>HIPÓTESIS EVOLUTIVA (T/F) </a:t>
                      </a:r>
                    </a:p>
                    <a:p>
                      <a:pPr marL="342900" lvl="0" indent="-342900" algn="just">
                        <a:lnSpc>
                          <a:spcPct val="115000"/>
                        </a:lnSpc>
                        <a:spcAft>
                          <a:spcPts val="800"/>
                        </a:spcAft>
                        <a:buFont typeface="Symbol" panose="05050102010706020507" pitchFamily="18" charset="2"/>
                        <a:buChar char=""/>
                      </a:pPr>
                      <a:r>
                        <a:rPr lang="es-MX" sz="1000" kern="100" dirty="0">
                          <a:solidFill>
                            <a:schemeClr val="bg1"/>
                          </a:solidFill>
                          <a:effectLst/>
                        </a:rPr>
                        <a:t>Ancestro común (misma origen)</a:t>
                      </a:r>
                      <a:endParaRPr lang="es-MX" sz="10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C00000"/>
                    </a:solidFill>
                  </a:tcPr>
                </a:tc>
                <a:extLst>
                  <a:ext uri="{0D108BD9-81ED-4DB2-BD59-A6C34878D82A}">
                    <a16:rowId xmlns:a16="http://schemas.microsoft.com/office/drawing/2014/main" val="3237044708"/>
                  </a:ext>
                </a:extLst>
              </a:tr>
              <a:tr h="1129055">
                <a:tc>
                  <a:txBody>
                    <a:bodyPr/>
                    <a:lstStyle/>
                    <a:p>
                      <a:pPr algn="just">
                        <a:lnSpc>
                          <a:spcPct val="115000"/>
                        </a:lnSpc>
                        <a:spcAft>
                          <a:spcPts val="800"/>
                        </a:spcAft>
                      </a:pPr>
                      <a:r>
                        <a:rPr lang="es-MX" sz="1000" kern="100" dirty="0">
                          <a:effectLst/>
                        </a:rPr>
                        <a:t>IDENTIDAD (%) </a:t>
                      </a:r>
                      <a:endParaRPr lang="es-MX"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92D050"/>
                    </a:solidFill>
                  </a:tcPr>
                </a:tc>
                <a:tc>
                  <a:txBody>
                    <a:bodyPr/>
                    <a:lstStyle/>
                    <a:p>
                      <a:pPr marL="342900" lvl="0" indent="-342900" algn="just">
                        <a:lnSpc>
                          <a:spcPct val="115000"/>
                        </a:lnSpc>
                        <a:buFont typeface="Symbol" panose="05050102010706020507" pitchFamily="18" charset="2"/>
                        <a:buChar char=""/>
                      </a:pPr>
                      <a:r>
                        <a:rPr lang="es-MX" sz="1000" kern="100" dirty="0">
                          <a:solidFill>
                            <a:schemeClr val="bg1"/>
                          </a:solidFill>
                          <a:effectLst/>
                        </a:rPr>
                        <a:t>Grado de parecido (CUÁNTO SE PARECEN 2 SECUENCIAS DE AMINOÁCIDOS) entre dos secuencias. </a:t>
                      </a:r>
                    </a:p>
                    <a:p>
                      <a:pPr marL="342900" lvl="0" indent="-342900" algn="just">
                        <a:lnSpc>
                          <a:spcPct val="115000"/>
                        </a:lnSpc>
                        <a:spcAft>
                          <a:spcPts val="800"/>
                        </a:spcAft>
                        <a:buFont typeface="Symbol" panose="05050102010706020507" pitchFamily="18" charset="2"/>
                        <a:buChar char=""/>
                      </a:pPr>
                      <a:r>
                        <a:rPr lang="es-MX" sz="1000" kern="100" dirty="0">
                          <a:solidFill>
                            <a:schemeClr val="bg1"/>
                          </a:solidFill>
                          <a:effectLst/>
                        </a:rPr>
                        <a:t>Significa compartir un número estadísticamente significativo de bases o aminoácidos en un tramo largo y continuo.</a:t>
                      </a:r>
                      <a:endParaRPr lang="es-MX" sz="10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92D050"/>
                    </a:solidFill>
                  </a:tcPr>
                </a:tc>
                <a:extLst>
                  <a:ext uri="{0D108BD9-81ED-4DB2-BD59-A6C34878D82A}">
                    <a16:rowId xmlns:a16="http://schemas.microsoft.com/office/drawing/2014/main" val="110266542"/>
                  </a:ext>
                </a:extLst>
              </a:tr>
              <a:tr h="1044249">
                <a:tc>
                  <a:txBody>
                    <a:bodyPr/>
                    <a:lstStyle/>
                    <a:p>
                      <a:pPr algn="just">
                        <a:lnSpc>
                          <a:spcPct val="115000"/>
                        </a:lnSpc>
                        <a:spcAft>
                          <a:spcPts val="800"/>
                        </a:spcAft>
                      </a:pPr>
                      <a:r>
                        <a:rPr lang="es-MX" sz="1000" kern="100" dirty="0">
                          <a:effectLst/>
                        </a:rPr>
                        <a:t>SIMILITUD (%)</a:t>
                      </a:r>
                      <a:endParaRPr lang="es-MX"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7030A0"/>
                    </a:solidFill>
                  </a:tcPr>
                </a:tc>
                <a:tc>
                  <a:txBody>
                    <a:bodyPr/>
                    <a:lstStyle/>
                    <a:p>
                      <a:pPr marL="342900" lvl="0" indent="-342900" algn="just">
                        <a:lnSpc>
                          <a:spcPct val="115000"/>
                        </a:lnSpc>
                        <a:buFont typeface="Symbol" panose="05050102010706020507" pitchFamily="18" charset="2"/>
                        <a:buChar char=""/>
                      </a:pPr>
                      <a:r>
                        <a:rPr lang="es-MX" sz="1000" kern="100" dirty="0">
                          <a:solidFill>
                            <a:schemeClr val="bg1"/>
                          </a:solidFill>
                          <a:effectLst/>
                        </a:rPr>
                        <a:t>Cantidad mínima de caracteres que coinciden exactamente. </a:t>
                      </a:r>
                    </a:p>
                    <a:p>
                      <a:pPr marL="342900" lvl="0" indent="-342900" algn="just">
                        <a:lnSpc>
                          <a:spcPct val="115000"/>
                        </a:lnSpc>
                        <a:spcAft>
                          <a:spcPts val="800"/>
                        </a:spcAft>
                        <a:buFont typeface="Symbol" panose="05050102010706020507" pitchFamily="18" charset="2"/>
                        <a:buChar char=""/>
                      </a:pPr>
                      <a:r>
                        <a:rPr lang="es-MX" sz="1000" kern="100" dirty="0">
                          <a:solidFill>
                            <a:schemeClr val="bg1"/>
                          </a:solidFill>
                          <a:effectLst/>
                        </a:rPr>
                        <a:t>CÓMO 2 secuencias son iguales en los términos más estrictos.</a:t>
                      </a:r>
                    </a:p>
                    <a:p>
                      <a:pPr lvl="0" algn="just">
                        <a:lnSpc>
                          <a:spcPct val="115000"/>
                        </a:lnSpc>
                        <a:spcAft>
                          <a:spcPts val="800"/>
                        </a:spcAft>
                      </a:pPr>
                      <a:r>
                        <a:rPr lang="es-MX" sz="1000" kern="100" dirty="0">
                          <a:effectLst/>
                        </a:rPr>
                        <a:t> </a:t>
                      </a:r>
                      <a:endParaRPr lang="es-MX"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7030A0"/>
                    </a:solidFill>
                  </a:tcPr>
                </a:tc>
                <a:extLst>
                  <a:ext uri="{0D108BD9-81ED-4DB2-BD59-A6C34878D82A}">
                    <a16:rowId xmlns:a16="http://schemas.microsoft.com/office/drawing/2014/main" val="32014596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4919B"/>
                </a:solidFill>
                <a:latin typeface="Calibri" pitchFamily="34" charset="0"/>
                <a:ea typeface="Calibri" pitchFamily="34" charset="-122"/>
                <a:cs typeface="Calibri" pitchFamily="34" charset="-120"/>
              </a:rPr>
              <a:t>14.2.1 · NOTAS IMPORTANTES</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buNone/>
            </a:pPr>
            <a:r>
              <a:rPr lang="en-US" sz="3200" b="1" dirty="0">
                <a:solidFill>
                  <a:srgbClr val="0B3D57"/>
                </a:solidFill>
                <a:latin typeface="Cambria" pitchFamily="34" charset="0"/>
                <a:ea typeface="Cambria" pitchFamily="34" charset="-122"/>
                <a:cs typeface="Cambria" pitchFamily="34" charset="-120"/>
              </a:rPr>
              <a:t>Lo que la homología NO significa</a:t>
            </a:r>
            <a:endParaRPr lang="en-US" sz="3200" dirty="0"/>
          </a:p>
        </p:txBody>
      </p:sp>
      <p:sp>
        <p:nvSpPr>
          <p:cNvPr id="4" name="Shape 2"/>
          <p:cNvSpPr/>
          <p:nvPr/>
        </p:nvSpPr>
        <p:spPr>
          <a:xfrm>
            <a:off x="548640" y="1691640"/>
            <a:ext cx="502920" cy="502920"/>
          </a:xfrm>
          <a:prstGeom prst="roundRect">
            <a:avLst>
              <a:gd name="adj" fmla="val 14545"/>
            </a:avLst>
          </a:prstGeom>
          <a:solidFill>
            <a:srgbClr val="14919B"/>
          </a:solidFill>
          <a:ln/>
        </p:spPr>
        <p:txBody>
          <a:bodyPr/>
          <a:lstStyle/>
          <a:p>
            <a:endParaRPr lang="es-MX"/>
          </a:p>
        </p:txBody>
      </p:sp>
      <p:sp>
        <p:nvSpPr>
          <p:cNvPr id="5" name="Text 3"/>
          <p:cNvSpPr/>
          <p:nvPr/>
        </p:nvSpPr>
        <p:spPr>
          <a:xfrm>
            <a:off x="548640" y="169164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234440" y="1691640"/>
            <a:ext cx="10241280" cy="502920"/>
          </a:xfrm>
          <a:prstGeom prst="rect">
            <a:avLst/>
          </a:prstGeom>
          <a:noFill/>
          <a:ln/>
        </p:spPr>
        <p:txBody>
          <a:bodyPr wrap="square" rtlCol="0" anchor="ctr"/>
          <a:lstStyle/>
          <a:p>
            <a:pPr marL="0" indent="0">
              <a:buNone/>
            </a:pPr>
            <a:r>
              <a:rPr lang="en-US" sz="1350" dirty="0">
                <a:solidFill>
                  <a:srgbClr val="17303B"/>
                </a:solidFill>
                <a:latin typeface="Calibri" pitchFamily="34" charset="0"/>
                <a:ea typeface="Calibri" pitchFamily="34" charset="-122"/>
                <a:cs typeface="Calibri" pitchFamily="34" charset="-120"/>
              </a:rPr>
              <a:t>La homología es cualitativa: dos secuencias nunca son "80% homólogas".</a:t>
            </a:r>
            <a:endParaRPr lang="en-US" sz="1350" dirty="0"/>
          </a:p>
        </p:txBody>
      </p:sp>
      <p:sp>
        <p:nvSpPr>
          <p:cNvPr id="7" name="Shape 5"/>
          <p:cNvSpPr/>
          <p:nvPr/>
        </p:nvSpPr>
        <p:spPr>
          <a:xfrm>
            <a:off x="548640" y="2468880"/>
            <a:ext cx="502920" cy="502920"/>
          </a:xfrm>
          <a:prstGeom prst="roundRect">
            <a:avLst>
              <a:gd name="adj" fmla="val 14545"/>
            </a:avLst>
          </a:prstGeom>
          <a:solidFill>
            <a:srgbClr val="0B3D57"/>
          </a:solidFill>
          <a:ln/>
        </p:spPr>
        <p:txBody>
          <a:bodyPr/>
          <a:lstStyle/>
          <a:p>
            <a:endParaRPr lang="es-MX"/>
          </a:p>
        </p:txBody>
      </p:sp>
      <p:sp>
        <p:nvSpPr>
          <p:cNvPr id="8" name="Text 6"/>
          <p:cNvSpPr/>
          <p:nvPr/>
        </p:nvSpPr>
        <p:spPr>
          <a:xfrm>
            <a:off x="548640" y="246888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9" name="Text 7"/>
          <p:cNvSpPr/>
          <p:nvPr/>
        </p:nvSpPr>
        <p:spPr>
          <a:xfrm>
            <a:off x="1234440" y="2468880"/>
            <a:ext cx="10241280" cy="502920"/>
          </a:xfrm>
          <a:prstGeom prst="rect">
            <a:avLst/>
          </a:prstGeom>
          <a:noFill/>
          <a:ln/>
        </p:spPr>
        <p:txBody>
          <a:bodyPr wrap="square" rtlCol="0" anchor="ctr"/>
          <a:lstStyle/>
          <a:p>
            <a:pPr marL="0" indent="0">
              <a:buNone/>
            </a:pPr>
            <a:r>
              <a:rPr lang="en-US" sz="1350" dirty="0">
                <a:solidFill>
                  <a:srgbClr val="17303B"/>
                </a:solidFill>
                <a:latin typeface="Calibri" pitchFamily="34" charset="0"/>
                <a:ea typeface="Calibri" pitchFamily="34" charset="-122"/>
                <a:cs typeface="Calibri" pitchFamily="34" charset="-120"/>
              </a:rPr>
              <a:t>Secuencias homólogas no son necesariamente similares; órganos similares no son necesariamente homólogos.</a:t>
            </a:r>
            <a:endParaRPr lang="en-US" sz="1350" dirty="0"/>
          </a:p>
        </p:txBody>
      </p:sp>
      <p:sp>
        <p:nvSpPr>
          <p:cNvPr id="10" name="Shape 8"/>
          <p:cNvSpPr/>
          <p:nvPr/>
        </p:nvSpPr>
        <p:spPr>
          <a:xfrm>
            <a:off x="548640" y="3246120"/>
            <a:ext cx="502920" cy="502920"/>
          </a:xfrm>
          <a:prstGeom prst="roundRect">
            <a:avLst>
              <a:gd name="adj" fmla="val 14545"/>
            </a:avLst>
          </a:prstGeom>
          <a:solidFill>
            <a:srgbClr val="14919B"/>
          </a:solidFill>
          <a:ln/>
        </p:spPr>
        <p:txBody>
          <a:bodyPr/>
          <a:lstStyle/>
          <a:p>
            <a:endParaRPr lang="es-MX"/>
          </a:p>
        </p:txBody>
      </p:sp>
      <p:sp>
        <p:nvSpPr>
          <p:cNvPr id="11" name="Text 9"/>
          <p:cNvSpPr/>
          <p:nvPr/>
        </p:nvSpPr>
        <p:spPr>
          <a:xfrm>
            <a:off x="548640" y="324612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2" name="Text 10"/>
          <p:cNvSpPr/>
          <p:nvPr/>
        </p:nvSpPr>
        <p:spPr>
          <a:xfrm>
            <a:off x="1234440" y="3246120"/>
            <a:ext cx="10241280" cy="502920"/>
          </a:xfrm>
          <a:prstGeom prst="rect">
            <a:avLst/>
          </a:prstGeom>
          <a:noFill/>
          <a:ln/>
        </p:spPr>
        <p:txBody>
          <a:bodyPr wrap="square" rtlCol="0" anchor="ctr"/>
          <a:lstStyle/>
          <a:p>
            <a:pPr marL="0" indent="0">
              <a:buNone/>
            </a:pPr>
            <a:r>
              <a:rPr lang="en-US" sz="1350" dirty="0">
                <a:solidFill>
                  <a:srgbClr val="17303B"/>
                </a:solidFill>
                <a:latin typeface="Calibri" pitchFamily="34" charset="0"/>
                <a:ea typeface="Calibri" pitchFamily="34" charset="-122"/>
                <a:cs typeface="Calibri" pitchFamily="34" charset="-120"/>
              </a:rPr>
              <a:t>Si dos secuencias no son similares, no podemos afirmar con certeza si son homólogas.</a:t>
            </a:r>
            <a:endParaRPr lang="en-US" sz="1350" dirty="0"/>
          </a:p>
        </p:txBody>
      </p:sp>
      <p:sp>
        <p:nvSpPr>
          <p:cNvPr id="13" name="Shape 11"/>
          <p:cNvSpPr/>
          <p:nvPr/>
        </p:nvSpPr>
        <p:spPr>
          <a:xfrm>
            <a:off x="548640" y="4023360"/>
            <a:ext cx="502920" cy="502920"/>
          </a:xfrm>
          <a:prstGeom prst="roundRect">
            <a:avLst>
              <a:gd name="adj" fmla="val 14545"/>
            </a:avLst>
          </a:prstGeom>
          <a:solidFill>
            <a:srgbClr val="0B3D57"/>
          </a:solidFill>
          <a:ln/>
        </p:spPr>
        <p:txBody>
          <a:bodyPr/>
          <a:lstStyle/>
          <a:p>
            <a:endParaRPr lang="es-MX"/>
          </a:p>
        </p:txBody>
      </p:sp>
      <p:sp>
        <p:nvSpPr>
          <p:cNvPr id="14" name="Text 12"/>
          <p:cNvSpPr/>
          <p:nvPr/>
        </p:nvSpPr>
        <p:spPr>
          <a:xfrm>
            <a:off x="548640" y="402336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5" name="Text 13"/>
          <p:cNvSpPr/>
          <p:nvPr/>
        </p:nvSpPr>
        <p:spPr>
          <a:xfrm>
            <a:off x="1234440" y="4023360"/>
            <a:ext cx="10241280" cy="502920"/>
          </a:xfrm>
          <a:prstGeom prst="rect">
            <a:avLst/>
          </a:prstGeom>
          <a:noFill/>
          <a:ln/>
        </p:spPr>
        <p:txBody>
          <a:bodyPr wrap="square" rtlCol="0" anchor="ctr"/>
          <a:lstStyle/>
          <a:p>
            <a:pPr marL="0" indent="0">
              <a:buNone/>
            </a:pPr>
            <a:r>
              <a:rPr lang="en-US" sz="1350" dirty="0">
                <a:solidFill>
                  <a:srgbClr val="17303B"/>
                </a:solidFill>
                <a:latin typeface="Calibri" pitchFamily="34" charset="0"/>
                <a:ea typeface="Calibri" pitchFamily="34" charset="-122"/>
                <a:cs typeface="Calibri" pitchFamily="34" charset="-120"/>
              </a:rPr>
              <a:t>Si dos secuencias no son homólogas, usualmente no son similares (salvo azar).</a:t>
            </a:r>
            <a:endParaRPr lang="en-US" sz="1350" dirty="0"/>
          </a:p>
        </p:txBody>
      </p:sp>
      <p:sp>
        <p:nvSpPr>
          <p:cNvPr id="16" name="Shape 14"/>
          <p:cNvSpPr/>
          <p:nvPr/>
        </p:nvSpPr>
        <p:spPr>
          <a:xfrm>
            <a:off x="548640" y="4800600"/>
            <a:ext cx="502920" cy="502920"/>
          </a:xfrm>
          <a:prstGeom prst="roundRect">
            <a:avLst>
              <a:gd name="adj" fmla="val 14545"/>
            </a:avLst>
          </a:prstGeom>
          <a:solidFill>
            <a:srgbClr val="14919B"/>
          </a:solidFill>
          <a:ln/>
        </p:spPr>
        <p:txBody>
          <a:bodyPr/>
          <a:lstStyle/>
          <a:p>
            <a:endParaRPr lang="es-MX"/>
          </a:p>
        </p:txBody>
      </p:sp>
      <p:sp>
        <p:nvSpPr>
          <p:cNvPr id="17" name="Text 15"/>
          <p:cNvSpPr/>
          <p:nvPr/>
        </p:nvSpPr>
        <p:spPr>
          <a:xfrm>
            <a:off x="548640" y="480060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18" name="Text 16"/>
          <p:cNvSpPr/>
          <p:nvPr/>
        </p:nvSpPr>
        <p:spPr>
          <a:xfrm>
            <a:off x="1234440" y="4800600"/>
            <a:ext cx="10241280" cy="502920"/>
          </a:xfrm>
          <a:prstGeom prst="rect">
            <a:avLst/>
          </a:prstGeom>
          <a:noFill/>
          <a:ln/>
        </p:spPr>
        <p:txBody>
          <a:bodyPr wrap="square" rtlCol="0" anchor="ctr"/>
          <a:lstStyle/>
          <a:p>
            <a:pPr marL="0" indent="0">
              <a:buNone/>
            </a:pPr>
            <a:r>
              <a:rPr lang="en-US" sz="1350" dirty="0">
                <a:solidFill>
                  <a:srgbClr val="17303B"/>
                </a:solidFill>
                <a:latin typeface="Calibri" pitchFamily="34" charset="0"/>
                <a:ea typeface="Calibri" pitchFamily="34" charset="-122"/>
                <a:cs typeface="Calibri" pitchFamily="34" charset="-120"/>
              </a:rPr>
              <a:t>Una alta similitud implica alta probabilidad de homología — pero no la garantiza.</a:t>
            </a:r>
            <a:endParaRPr lang="en-US" sz="1350" dirty="0"/>
          </a:p>
        </p:txBody>
      </p:sp>
      <p:sp>
        <p:nvSpPr>
          <p:cNvPr id="19" name="Shape 17"/>
          <p:cNvSpPr/>
          <p:nvPr/>
        </p:nvSpPr>
        <p:spPr>
          <a:xfrm>
            <a:off x="548640" y="5806440"/>
            <a:ext cx="11064240" cy="548640"/>
          </a:xfrm>
          <a:prstGeom prst="roundRect">
            <a:avLst>
              <a:gd name="adj" fmla="val 10000"/>
            </a:avLst>
          </a:prstGeom>
          <a:solidFill>
            <a:srgbClr val="EAF4F4"/>
          </a:solidFill>
          <a:ln/>
        </p:spPr>
        <p:txBody>
          <a:bodyPr/>
          <a:lstStyle/>
          <a:p>
            <a:endParaRPr lang="es-MX"/>
          </a:p>
        </p:txBody>
      </p:sp>
      <p:sp>
        <p:nvSpPr>
          <p:cNvPr id="20" name="Text 18"/>
          <p:cNvSpPr/>
          <p:nvPr/>
        </p:nvSpPr>
        <p:spPr>
          <a:xfrm>
            <a:off x="777240" y="5806440"/>
            <a:ext cx="10607040" cy="548640"/>
          </a:xfrm>
          <a:prstGeom prst="rect">
            <a:avLst/>
          </a:prstGeom>
          <a:noFill/>
          <a:ln/>
        </p:spPr>
        <p:txBody>
          <a:bodyPr wrap="square" rtlCol="0" anchor="ctr"/>
          <a:lstStyle/>
          <a:p>
            <a:pPr marL="0" indent="0">
              <a:buNone/>
            </a:pPr>
            <a:r>
              <a:rPr lang="en-US" sz="1150" i="1" dirty="0">
                <a:solidFill>
                  <a:srgbClr val="0B3D57"/>
                </a:solidFill>
                <a:latin typeface="Calibri" pitchFamily="34" charset="0"/>
                <a:ea typeface="Calibri" pitchFamily="34" charset="-122"/>
                <a:cs typeface="Calibri" pitchFamily="34" charset="-120"/>
              </a:rPr>
              <a:t>Nota: las proteínas suelen ser más sensibles que el ADN para detectar homología, ya que 20 aminoácidos ofrecen mayor poder discriminativo que 4 bases nitrogenadas.</a:t>
            </a:r>
            <a:endParaRPr lang="en-US" sz="1150" dirty="0"/>
          </a:p>
        </p:txBody>
      </p:sp>
      <p:sp>
        <p:nvSpPr>
          <p:cNvPr id="21" name="Text 19"/>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7A85"/>
                </a:solidFill>
                <a:latin typeface="Calibri" pitchFamily="34" charset="0"/>
                <a:ea typeface="Calibri" pitchFamily="34" charset="-122"/>
                <a:cs typeface="Calibri" pitchFamily="34" charset="-120"/>
              </a:rPr>
              <a:t>BLAST y diseño de fármacos asistido por computadora</a:t>
            </a:r>
            <a:endParaRPr lang="en-US" sz="900" dirty="0"/>
          </a:p>
        </p:txBody>
      </p:sp>
      <p:sp>
        <p:nvSpPr>
          <p:cNvPr id="22" name="Text 20"/>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7A85"/>
                </a:solidFill>
                <a:latin typeface="Calibri" pitchFamily="34" charset="0"/>
                <a:ea typeface="Calibri" pitchFamily="34" charset="-122"/>
                <a:cs typeface="Calibri" pitchFamily="34" charset="-120"/>
              </a:rPr>
              <a:t>7</a:t>
            </a:r>
            <a:endParaRPr lang="en-US" sz="900" dirty="0"/>
          </a:p>
        </p:txBody>
      </p:sp>
      <p:pic>
        <p:nvPicPr>
          <p:cNvPr id="24" name="Picture 23">
            <a:extLst>
              <a:ext uri="{FF2B5EF4-FFF2-40B4-BE49-F238E27FC236}">
                <a16:creationId xmlns:a16="http://schemas.microsoft.com/office/drawing/2014/main" id="{41A768CC-9D81-DA04-F549-7204FD345F76}"/>
              </a:ext>
            </a:extLst>
          </p:cNvPr>
          <p:cNvPicPr>
            <a:picLocks noChangeAspect="1"/>
          </p:cNvPicPr>
          <p:nvPr/>
        </p:nvPicPr>
        <p:blipFill>
          <a:blip r:embed="rId3"/>
          <a:stretch>
            <a:fillRect/>
          </a:stretch>
        </p:blipFill>
        <p:spPr>
          <a:xfrm>
            <a:off x="8962292" y="150055"/>
            <a:ext cx="3016348" cy="3016348"/>
          </a:xfrm>
          <a:prstGeom prst="rect">
            <a:avLst/>
          </a:prstGeom>
        </p:spPr>
      </p:pic>
      <p:graphicFrame>
        <p:nvGraphicFramePr>
          <p:cNvPr id="27" name="Table 26">
            <a:extLst>
              <a:ext uri="{FF2B5EF4-FFF2-40B4-BE49-F238E27FC236}">
                <a16:creationId xmlns:a16="http://schemas.microsoft.com/office/drawing/2014/main" id="{F1AA66B5-0278-2B77-8CC3-AD57F22457F2}"/>
              </a:ext>
            </a:extLst>
          </p:cNvPr>
          <p:cNvGraphicFramePr>
            <a:graphicFrameLocks noGrp="1"/>
          </p:cNvGraphicFramePr>
          <p:nvPr>
            <p:extLst>
              <p:ext uri="{D42A27DB-BD31-4B8C-83A1-F6EECF244321}">
                <p14:modId xmlns:p14="http://schemas.microsoft.com/office/powerpoint/2010/main" val="1436454490"/>
              </p:ext>
            </p:extLst>
          </p:nvPr>
        </p:nvGraphicFramePr>
        <p:xfrm>
          <a:off x="8365589" y="3428682"/>
          <a:ext cx="3757244" cy="1371918"/>
        </p:xfrm>
        <a:graphic>
          <a:graphicData uri="http://schemas.openxmlformats.org/drawingml/2006/table">
            <a:tbl>
              <a:tblPr firstRow="1" firstCol="1" bandRow="1"/>
              <a:tblGrid>
                <a:gridCol w="726732">
                  <a:extLst>
                    <a:ext uri="{9D8B030D-6E8A-4147-A177-3AD203B41FA5}">
                      <a16:colId xmlns:a16="http://schemas.microsoft.com/office/drawing/2014/main" val="4238918161"/>
                    </a:ext>
                  </a:extLst>
                </a:gridCol>
                <a:gridCol w="1353486">
                  <a:extLst>
                    <a:ext uri="{9D8B030D-6E8A-4147-A177-3AD203B41FA5}">
                      <a16:colId xmlns:a16="http://schemas.microsoft.com/office/drawing/2014/main" val="453572794"/>
                    </a:ext>
                  </a:extLst>
                </a:gridCol>
                <a:gridCol w="1677026">
                  <a:extLst>
                    <a:ext uri="{9D8B030D-6E8A-4147-A177-3AD203B41FA5}">
                      <a16:colId xmlns:a16="http://schemas.microsoft.com/office/drawing/2014/main" val="684087798"/>
                    </a:ext>
                  </a:extLst>
                </a:gridCol>
              </a:tblGrid>
              <a:tr h="0">
                <a:tc>
                  <a:txBody>
                    <a:bodyPr/>
                    <a:lstStyle/>
                    <a:p>
                      <a:pPr>
                        <a:lnSpc>
                          <a:spcPct val="115000"/>
                        </a:lnSpc>
                        <a:spcAft>
                          <a:spcPts val="800"/>
                        </a:spcAft>
                      </a:pPr>
                      <a:r>
                        <a:rPr lang="es-MX" sz="1000" b="1" kern="0" dirty="0">
                          <a:effectLst/>
                          <a:latin typeface="Arial" panose="020B0604020202020204" pitchFamily="34" charset="0"/>
                          <a:ea typeface="Times New Roman" panose="02020603050405020304" pitchFamily="18" charset="0"/>
                          <a:cs typeface="Times New Roman" panose="02020603050405020304" pitchFamily="18" charset="0"/>
                        </a:rPr>
                        <a:t>Función</a:t>
                      </a:r>
                      <a:endParaRPr lang="es-MX"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tc>
                  <a:txBody>
                    <a:bodyPr/>
                    <a:lstStyle/>
                    <a:p>
                      <a:pPr>
                        <a:lnSpc>
                          <a:spcPct val="115000"/>
                        </a:lnSpc>
                        <a:spcAft>
                          <a:spcPts val="800"/>
                        </a:spcAft>
                      </a:pPr>
                      <a:r>
                        <a:rPr lang="es-MX" sz="1000" b="1" kern="0" dirty="0">
                          <a:effectLst/>
                          <a:latin typeface="Arial" panose="020B0604020202020204" pitchFamily="34" charset="0"/>
                          <a:ea typeface="Times New Roman" panose="02020603050405020304" pitchFamily="18" charset="0"/>
                          <a:cs typeface="Times New Roman" panose="02020603050405020304" pitchFamily="18" charset="0"/>
                        </a:rPr>
                        <a:t>En ARN (ARNm)</a:t>
                      </a:r>
                      <a:endParaRPr lang="es-MX"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tc>
                  <a:txBody>
                    <a:bodyPr/>
                    <a:lstStyle/>
                    <a:p>
                      <a:pPr>
                        <a:lnSpc>
                          <a:spcPct val="115000"/>
                        </a:lnSpc>
                        <a:spcAft>
                          <a:spcPts val="800"/>
                        </a:spcAft>
                      </a:pPr>
                      <a:r>
                        <a:rPr lang="es-MX" sz="1000" b="1" kern="0" dirty="0">
                          <a:effectLst/>
                          <a:latin typeface="Arial" panose="020B0604020202020204" pitchFamily="34" charset="0"/>
                          <a:ea typeface="Times New Roman" panose="02020603050405020304" pitchFamily="18" charset="0"/>
                          <a:cs typeface="Times New Roman" panose="02020603050405020304" pitchFamily="18" charset="0"/>
                        </a:rPr>
                        <a:t>En ADN </a:t>
                      </a:r>
                    </a:p>
                    <a:p>
                      <a:pPr>
                        <a:lnSpc>
                          <a:spcPct val="115000"/>
                        </a:lnSpc>
                        <a:spcAft>
                          <a:spcPts val="800"/>
                        </a:spcAft>
                      </a:pPr>
                      <a:r>
                        <a:rPr lang="es-MX" sz="800" b="1" kern="0" dirty="0">
                          <a:effectLst/>
                          <a:latin typeface="Arial" panose="020B0604020202020204" pitchFamily="34" charset="0"/>
                          <a:ea typeface="Times New Roman" panose="02020603050405020304" pitchFamily="18" charset="0"/>
                          <a:cs typeface="Times New Roman" panose="02020603050405020304" pitchFamily="18" charset="0"/>
                        </a:rPr>
                        <a:t>(cadena codificante / 5'→3')</a:t>
                      </a:r>
                      <a:endParaRPr lang="es-MX"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440843361"/>
                  </a:ext>
                </a:extLst>
              </a:tr>
              <a:tr h="0">
                <a:tc>
                  <a:txBody>
                    <a:bodyPr/>
                    <a:lstStyle/>
                    <a:p>
                      <a:pPr>
                        <a:lnSpc>
                          <a:spcPct val="115000"/>
                        </a:lnSpc>
                        <a:spcAft>
                          <a:spcPts val="800"/>
                        </a:spcAft>
                      </a:pPr>
                      <a:r>
                        <a:rPr lang="es-MX" sz="1000" b="1" kern="0" dirty="0">
                          <a:solidFill>
                            <a:srgbClr val="00B050"/>
                          </a:solidFill>
                          <a:effectLst/>
                          <a:latin typeface="Arial" panose="020B0604020202020204" pitchFamily="34" charset="0"/>
                          <a:ea typeface="Times New Roman" panose="02020603050405020304" pitchFamily="18" charset="0"/>
                          <a:cs typeface="Times New Roman" panose="02020603050405020304" pitchFamily="18" charset="0"/>
                        </a:rPr>
                        <a:t>Inicio</a:t>
                      </a:r>
                      <a:endParaRPr lang="es-MX" sz="1000" kern="100" dirty="0">
                        <a:solidFill>
                          <a:srgbClr val="00B050"/>
                        </a:solidFill>
                        <a:effectLst/>
                        <a:latin typeface="Aptos" panose="020B0004020202020204" pitchFamily="34" charset="0"/>
                        <a:ea typeface="Aptos" panose="020B0004020202020204" pitchFamily="34" charset="0"/>
                        <a:cs typeface="Times New Roman" panose="02020603050405020304" pitchFamily="18" charset="0"/>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tc>
                  <a:txBody>
                    <a:bodyPr/>
                    <a:lstStyle/>
                    <a:p>
                      <a:pPr>
                        <a:lnSpc>
                          <a:spcPct val="115000"/>
                        </a:lnSpc>
                        <a:spcAft>
                          <a:spcPts val="800"/>
                        </a:spcAft>
                      </a:pPr>
                      <a:r>
                        <a:rPr lang="es-MX" sz="1000" b="1" kern="0" dirty="0">
                          <a:solidFill>
                            <a:srgbClr val="00B050"/>
                          </a:solidFill>
                          <a:effectLst/>
                          <a:latin typeface="Arial" panose="020B0604020202020204" pitchFamily="34" charset="0"/>
                          <a:ea typeface="Times New Roman" panose="02020603050405020304" pitchFamily="18" charset="0"/>
                          <a:cs typeface="Times New Roman" panose="02020603050405020304" pitchFamily="18" charset="0"/>
                        </a:rPr>
                        <a:t>AUG</a:t>
                      </a:r>
                      <a:endParaRPr lang="es-MX" sz="1000" kern="100" dirty="0">
                        <a:solidFill>
                          <a:srgbClr val="00B050"/>
                        </a:solidFill>
                        <a:effectLst/>
                        <a:latin typeface="Aptos" panose="020B0004020202020204" pitchFamily="34" charset="0"/>
                        <a:ea typeface="Aptos" panose="020B0004020202020204" pitchFamily="34" charset="0"/>
                        <a:cs typeface="Times New Roman" panose="02020603050405020304" pitchFamily="18" charset="0"/>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tc>
                  <a:txBody>
                    <a:bodyPr/>
                    <a:lstStyle/>
                    <a:p>
                      <a:pPr>
                        <a:lnSpc>
                          <a:spcPct val="115000"/>
                        </a:lnSpc>
                        <a:spcAft>
                          <a:spcPts val="800"/>
                        </a:spcAft>
                      </a:pPr>
                      <a:r>
                        <a:rPr lang="es-MX" sz="1000" b="1" kern="0" dirty="0">
                          <a:solidFill>
                            <a:srgbClr val="00B050"/>
                          </a:solidFill>
                          <a:effectLst/>
                          <a:latin typeface="Arial" panose="020B0604020202020204" pitchFamily="34" charset="0"/>
                          <a:ea typeface="Times New Roman" panose="02020603050405020304" pitchFamily="18" charset="0"/>
                          <a:cs typeface="Times New Roman" panose="02020603050405020304" pitchFamily="18" charset="0"/>
                        </a:rPr>
                        <a:t>ATG</a:t>
                      </a:r>
                      <a:endParaRPr lang="es-MX" sz="1000" kern="100" dirty="0">
                        <a:solidFill>
                          <a:srgbClr val="00B050"/>
                        </a:solidFill>
                        <a:effectLst/>
                        <a:latin typeface="Aptos" panose="020B0004020202020204" pitchFamily="34" charset="0"/>
                        <a:ea typeface="Aptos" panose="020B0004020202020204" pitchFamily="34" charset="0"/>
                        <a:cs typeface="Times New Roman" panose="02020603050405020304" pitchFamily="18" charset="0"/>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547652015"/>
                  </a:ext>
                </a:extLst>
              </a:tr>
              <a:tr h="0">
                <a:tc>
                  <a:txBody>
                    <a:bodyPr/>
                    <a:lstStyle/>
                    <a:p>
                      <a:pPr>
                        <a:lnSpc>
                          <a:spcPct val="115000"/>
                        </a:lnSpc>
                        <a:spcAft>
                          <a:spcPts val="800"/>
                        </a:spcAft>
                      </a:pPr>
                      <a:r>
                        <a:rPr lang="es-MX" sz="1000" b="1" kern="0" dirty="0">
                          <a:solidFill>
                            <a:srgbClr val="FF0000"/>
                          </a:solidFill>
                          <a:effectLst/>
                          <a:latin typeface="Arial" panose="020B0604020202020204" pitchFamily="34" charset="0"/>
                          <a:ea typeface="Times New Roman" panose="02020603050405020304" pitchFamily="18" charset="0"/>
                          <a:cs typeface="Times New Roman" panose="02020603050405020304" pitchFamily="18" charset="0"/>
                        </a:rPr>
                        <a:t>Fin / Paro</a:t>
                      </a:r>
                      <a:endParaRPr lang="es-MX" sz="10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tc>
                  <a:txBody>
                    <a:bodyPr/>
                    <a:lstStyle/>
                    <a:p>
                      <a:pPr>
                        <a:lnSpc>
                          <a:spcPct val="115000"/>
                        </a:lnSpc>
                        <a:spcAft>
                          <a:spcPts val="800"/>
                        </a:spcAft>
                      </a:pPr>
                      <a:r>
                        <a:rPr lang="es-MX" sz="1000" b="1" kern="0" dirty="0">
                          <a:solidFill>
                            <a:srgbClr val="FF0000"/>
                          </a:solidFill>
                          <a:effectLst/>
                          <a:latin typeface="Arial" panose="020B0604020202020204" pitchFamily="34" charset="0"/>
                          <a:ea typeface="Times New Roman" panose="02020603050405020304" pitchFamily="18" charset="0"/>
                          <a:cs typeface="Times New Roman" panose="02020603050405020304" pitchFamily="18" charset="0"/>
                        </a:rPr>
                        <a:t>UAA, UAG, UGA</a:t>
                      </a:r>
                      <a:endParaRPr lang="es-MX" sz="10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tc>
                  <a:txBody>
                    <a:bodyPr/>
                    <a:lstStyle/>
                    <a:p>
                      <a:pPr>
                        <a:lnSpc>
                          <a:spcPct val="115000"/>
                        </a:lnSpc>
                        <a:spcAft>
                          <a:spcPts val="800"/>
                        </a:spcAft>
                      </a:pPr>
                      <a:r>
                        <a:rPr lang="es-MX" sz="1000" b="1" kern="0" dirty="0">
                          <a:solidFill>
                            <a:srgbClr val="FF0000"/>
                          </a:solidFill>
                          <a:effectLst/>
                          <a:latin typeface="Arial" panose="020B0604020202020204" pitchFamily="34" charset="0"/>
                          <a:ea typeface="Times New Roman" panose="02020603050405020304" pitchFamily="18" charset="0"/>
                          <a:cs typeface="Times New Roman" panose="02020603050405020304" pitchFamily="18" charset="0"/>
                        </a:rPr>
                        <a:t>TAA, TAG, TGA</a:t>
                      </a:r>
                      <a:endParaRPr lang="es-MX" sz="10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421988927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4919B"/>
                </a:solidFill>
                <a:latin typeface="Calibri" pitchFamily="34" charset="0"/>
                <a:ea typeface="Calibri" pitchFamily="34" charset="-122"/>
                <a:cs typeface="Calibri" pitchFamily="34" charset="-120"/>
              </a:rPr>
              <a:t>14.2.1 · TERMINOLOGÍA EVOLUTIVA</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buNone/>
            </a:pPr>
            <a:r>
              <a:rPr lang="en-US" sz="3200" b="1" dirty="0">
                <a:solidFill>
                  <a:srgbClr val="0B3D57"/>
                </a:solidFill>
                <a:latin typeface="Cambria" pitchFamily="34" charset="0"/>
                <a:ea typeface="Cambria" pitchFamily="34" charset="-122"/>
                <a:cs typeface="Cambria" pitchFamily="34" charset="-120"/>
              </a:rPr>
              <a:t>Homólogos, parálogos, ortólogos y análogos</a:t>
            </a:r>
            <a:endParaRPr lang="en-US" sz="3200" dirty="0"/>
          </a:p>
        </p:txBody>
      </p:sp>
      <p:pic>
        <p:nvPicPr>
          <p:cNvPr id="4" name="Image 0" descr="/home/claude/work/img/fig14_3.jpg"/>
          <p:cNvPicPr>
            <a:picLocks noChangeAspect="1"/>
          </p:cNvPicPr>
          <p:nvPr/>
        </p:nvPicPr>
        <p:blipFill>
          <a:blip r:embed="rId3"/>
          <a:stretch>
            <a:fillRect/>
          </a:stretch>
        </p:blipFill>
        <p:spPr>
          <a:xfrm>
            <a:off x="548640" y="1920240"/>
            <a:ext cx="5310226" cy="2815147"/>
          </a:xfrm>
          <a:prstGeom prst="rect">
            <a:avLst/>
          </a:prstGeom>
        </p:spPr>
      </p:pic>
      <p:sp>
        <p:nvSpPr>
          <p:cNvPr id="5" name="Text 2"/>
          <p:cNvSpPr/>
          <p:nvPr/>
        </p:nvSpPr>
        <p:spPr>
          <a:xfrm>
            <a:off x="548640" y="5577840"/>
            <a:ext cx="6675120" cy="320040"/>
          </a:xfrm>
          <a:prstGeom prst="rect">
            <a:avLst/>
          </a:prstGeom>
          <a:noFill/>
          <a:ln/>
        </p:spPr>
        <p:txBody>
          <a:bodyPr wrap="square" rtlCol="0" anchor="ctr"/>
          <a:lstStyle/>
          <a:p>
            <a:pPr marL="0" indent="0">
              <a:buNone/>
            </a:pPr>
            <a:r>
              <a:rPr lang="en-US" sz="900" i="1" dirty="0">
                <a:solidFill>
                  <a:srgbClr val="5C7A85"/>
                </a:solidFill>
                <a:latin typeface="Calibri" pitchFamily="34" charset="0"/>
                <a:ea typeface="Calibri" pitchFamily="34" charset="-122"/>
                <a:cs typeface="Calibri" pitchFamily="34" charset="-120"/>
              </a:rPr>
              <a:t>Fig. 14.3 — El concepto de homología: duplicación génica, especiación y sus derivados.</a:t>
            </a:r>
            <a:endParaRPr lang="en-US" sz="900" dirty="0"/>
          </a:p>
        </p:txBody>
      </p:sp>
      <p:sp>
        <p:nvSpPr>
          <p:cNvPr id="11" name="Text 8"/>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7A85"/>
                </a:solidFill>
                <a:latin typeface="Calibri" pitchFamily="34" charset="0"/>
                <a:ea typeface="Calibri" pitchFamily="34" charset="-122"/>
                <a:cs typeface="Calibri" pitchFamily="34" charset="-120"/>
              </a:rPr>
              <a:t>BLAST y diseño de fármacos asistido por computadora</a:t>
            </a:r>
            <a:endParaRPr lang="en-US" sz="900" dirty="0"/>
          </a:p>
        </p:txBody>
      </p:sp>
      <p:graphicFrame>
        <p:nvGraphicFramePr>
          <p:cNvPr id="13" name="Table 12">
            <a:extLst>
              <a:ext uri="{FF2B5EF4-FFF2-40B4-BE49-F238E27FC236}">
                <a16:creationId xmlns:a16="http://schemas.microsoft.com/office/drawing/2014/main" id="{47F1824B-9D3C-A020-2339-6368472AE39F}"/>
              </a:ext>
            </a:extLst>
          </p:cNvPr>
          <p:cNvGraphicFramePr>
            <a:graphicFrameLocks noGrp="1"/>
          </p:cNvGraphicFramePr>
          <p:nvPr>
            <p:extLst>
              <p:ext uri="{D42A27DB-BD31-4B8C-83A1-F6EECF244321}">
                <p14:modId xmlns:p14="http://schemas.microsoft.com/office/powerpoint/2010/main" val="930325506"/>
              </p:ext>
            </p:extLst>
          </p:nvPr>
        </p:nvGraphicFramePr>
        <p:xfrm>
          <a:off x="6096000" y="1739503"/>
          <a:ext cx="6015040" cy="4351339"/>
        </p:xfrm>
        <a:graphic>
          <a:graphicData uri="http://schemas.openxmlformats.org/drawingml/2006/table">
            <a:tbl>
              <a:tblPr/>
              <a:tblGrid>
                <a:gridCol w="1503760">
                  <a:extLst>
                    <a:ext uri="{9D8B030D-6E8A-4147-A177-3AD203B41FA5}">
                      <a16:colId xmlns:a16="http://schemas.microsoft.com/office/drawing/2014/main" val="4244154131"/>
                    </a:ext>
                  </a:extLst>
                </a:gridCol>
                <a:gridCol w="1503760">
                  <a:extLst>
                    <a:ext uri="{9D8B030D-6E8A-4147-A177-3AD203B41FA5}">
                      <a16:colId xmlns:a16="http://schemas.microsoft.com/office/drawing/2014/main" val="2547118993"/>
                    </a:ext>
                  </a:extLst>
                </a:gridCol>
                <a:gridCol w="1503760">
                  <a:extLst>
                    <a:ext uri="{9D8B030D-6E8A-4147-A177-3AD203B41FA5}">
                      <a16:colId xmlns:a16="http://schemas.microsoft.com/office/drawing/2014/main" val="238814467"/>
                    </a:ext>
                  </a:extLst>
                </a:gridCol>
                <a:gridCol w="1503760">
                  <a:extLst>
                    <a:ext uri="{9D8B030D-6E8A-4147-A177-3AD203B41FA5}">
                      <a16:colId xmlns:a16="http://schemas.microsoft.com/office/drawing/2014/main" val="3509236107"/>
                    </a:ext>
                  </a:extLst>
                </a:gridCol>
              </a:tblGrid>
              <a:tr h="386158">
                <a:tc>
                  <a:txBody>
                    <a:bodyPr/>
                    <a:lstStyle/>
                    <a:p>
                      <a:r>
                        <a:rPr lang="es-MX" sz="1000" b="1" dirty="0">
                          <a:solidFill>
                            <a:srgbClr val="14919B"/>
                          </a:solidFill>
                          <a:effectLst/>
                          <a:latin typeface="Google Sans Text"/>
                        </a:rPr>
                        <a:t>Término</a:t>
                      </a:r>
                      <a:endParaRPr lang="es-MX" sz="1000" dirty="0">
                        <a:solidFill>
                          <a:srgbClr val="14919B"/>
                        </a:solidFill>
                        <a:effectLst/>
                        <a:latin typeface="Google Sans Text"/>
                      </a:endParaRPr>
                    </a:p>
                  </a:txBody>
                  <a:tcPr marL="35319" marR="35319" marT="23546" marB="23546"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r>
                        <a:rPr lang="es-MX" sz="1000" b="1" dirty="0">
                          <a:effectLst/>
                          <a:latin typeface="Google Sans Text"/>
                        </a:rPr>
                        <a:t>Origen Evolutivo / Mecanismo</a:t>
                      </a:r>
                      <a:endParaRPr lang="es-MX" sz="1000" dirty="0">
                        <a:effectLst/>
                        <a:latin typeface="Google Sans Text"/>
                      </a:endParaRPr>
                    </a:p>
                  </a:txBody>
                  <a:tcPr marL="35319" marR="35319" marT="23546" marB="23546"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r>
                        <a:rPr lang="es-MX" sz="1000" b="1" dirty="0">
                          <a:effectLst/>
                          <a:latin typeface="Google Sans Text"/>
                        </a:rPr>
                        <a:t>Relación en Secuencia / Estructura</a:t>
                      </a:r>
                      <a:endParaRPr lang="es-MX" sz="1000" dirty="0">
                        <a:effectLst/>
                        <a:latin typeface="Google Sans Text"/>
                      </a:endParaRPr>
                    </a:p>
                  </a:txBody>
                  <a:tcPr marL="35319" marR="35319" marT="23546" marB="23546"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r>
                        <a:rPr lang="es-MX" sz="1000" b="1">
                          <a:effectLst/>
                          <a:latin typeface="Google Sans Text"/>
                        </a:rPr>
                        <a:t>Función</a:t>
                      </a:r>
                      <a:endParaRPr lang="es-MX" sz="1000">
                        <a:effectLst/>
                        <a:latin typeface="Google Sans Text"/>
                      </a:endParaRPr>
                    </a:p>
                  </a:txBody>
                  <a:tcPr marL="35319" marR="35319" marT="23546" marB="23546"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80460263"/>
                  </a:ext>
                </a:extLst>
              </a:tr>
              <a:tr h="725223">
                <a:tc>
                  <a:txBody>
                    <a:bodyPr/>
                    <a:lstStyle/>
                    <a:p>
                      <a:r>
                        <a:rPr lang="es-MX" sz="1000" b="1" dirty="0">
                          <a:solidFill>
                            <a:srgbClr val="14919B"/>
                          </a:solidFill>
                          <a:effectLst/>
                          <a:latin typeface="Google Sans Text"/>
                        </a:rPr>
                        <a:t>Ortólogos</a:t>
                      </a:r>
                      <a:r>
                        <a:rPr lang="es-MX" sz="1000" dirty="0">
                          <a:effectLst/>
                          <a:latin typeface="Google Sans Text"/>
                        </a:rPr>
                        <a:t> </a:t>
                      </a:r>
                      <a:r>
                        <a:rPr lang="es-MX" sz="1000" i="1" dirty="0">
                          <a:effectLst/>
                          <a:latin typeface="Google Sans Text"/>
                        </a:rPr>
                        <a:t>(Homólogos)</a:t>
                      </a:r>
                      <a:endParaRPr lang="es-MX" sz="1000" dirty="0">
                        <a:effectLst/>
                        <a:latin typeface="Google Sans Text"/>
                      </a:endParaRPr>
                    </a:p>
                  </a:txBody>
                  <a:tcPr marL="35319" marR="35319" marT="23546" marB="23546"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r>
                        <a:rPr lang="es-ES" sz="1000" b="1" dirty="0">
                          <a:effectLst/>
                          <a:latin typeface="Google Sans Text"/>
                        </a:rPr>
                        <a:t>Especiación:</a:t>
                      </a:r>
                      <a:r>
                        <a:rPr lang="es-ES" sz="1000" dirty="0">
                          <a:effectLst/>
                          <a:latin typeface="Google Sans Text"/>
                        </a:rPr>
                        <a:t> Surgen al dividirse una especie en dos a partir de un ancestro común.</a:t>
                      </a:r>
                    </a:p>
                  </a:txBody>
                  <a:tcPr marL="35319" marR="35319" marT="23546" marB="23546"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r>
                        <a:rPr lang="es-ES" sz="1000">
                          <a:effectLst/>
                          <a:latin typeface="Google Sans Text"/>
                        </a:rPr>
                        <a:t>Altamente conservada en secuencia y estructura 3D.</a:t>
                      </a:r>
                    </a:p>
                  </a:txBody>
                  <a:tcPr marL="35319" marR="35319" marT="23546" marB="23546"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r>
                        <a:rPr lang="es-ES" sz="1000" b="1">
                          <a:effectLst/>
                          <a:latin typeface="Google Sans Text"/>
                        </a:rPr>
                        <a:t>Conservada</a:t>
                      </a:r>
                      <a:r>
                        <a:rPr lang="es-ES" sz="1000">
                          <a:effectLst/>
                          <a:latin typeface="Google Sans Text"/>
                        </a:rPr>
                        <a:t> (suelen realizar la misma función en distintos organismos).</a:t>
                      </a:r>
                    </a:p>
                  </a:txBody>
                  <a:tcPr marL="35319" marR="35319" marT="23546" marB="23546"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066078628"/>
                  </a:ext>
                </a:extLst>
              </a:tr>
              <a:tr h="725223">
                <a:tc>
                  <a:txBody>
                    <a:bodyPr/>
                    <a:lstStyle/>
                    <a:p>
                      <a:r>
                        <a:rPr lang="es-MX" sz="1000" b="1" dirty="0" err="1">
                          <a:solidFill>
                            <a:srgbClr val="14919B"/>
                          </a:solidFill>
                          <a:effectLst/>
                          <a:latin typeface="Google Sans Text"/>
                        </a:rPr>
                        <a:t>Parálogos</a:t>
                      </a:r>
                      <a:r>
                        <a:rPr lang="es-MX" sz="1000" dirty="0">
                          <a:effectLst/>
                          <a:latin typeface="Google Sans Text"/>
                        </a:rPr>
                        <a:t> </a:t>
                      </a:r>
                      <a:r>
                        <a:rPr lang="es-MX" sz="1000" i="1" dirty="0">
                          <a:effectLst/>
                          <a:latin typeface="Google Sans Text"/>
                        </a:rPr>
                        <a:t>(Homólogos)</a:t>
                      </a:r>
                      <a:endParaRPr lang="es-MX" sz="1000" dirty="0">
                        <a:effectLst/>
                        <a:latin typeface="Google Sans Text"/>
                      </a:endParaRPr>
                    </a:p>
                  </a:txBody>
                  <a:tcPr marL="35319" marR="35319" marT="23546" marB="23546"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r>
                        <a:rPr lang="es-ES" sz="1000" b="1" dirty="0">
                          <a:effectLst/>
                          <a:latin typeface="Google Sans Text"/>
                        </a:rPr>
                        <a:t>Duplicación génica:</a:t>
                      </a:r>
                      <a:r>
                        <a:rPr lang="es-ES" sz="1000" dirty="0">
                          <a:effectLst/>
                          <a:latin typeface="Google Sans Text"/>
                        </a:rPr>
                        <a:t> Un gen se duplica dentro del mismo genoma o linaje.</a:t>
                      </a:r>
                    </a:p>
                  </a:txBody>
                  <a:tcPr marL="35319" marR="35319" marT="23546" marB="23546"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r>
                        <a:rPr lang="es-ES" sz="1000" dirty="0">
                          <a:effectLst/>
                          <a:latin typeface="Google Sans Text"/>
                        </a:rPr>
                        <a:t>Alta similitud inicial, aunque pueden acumular mutaciones divergentes.</a:t>
                      </a:r>
                    </a:p>
                  </a:txBody>
                  <a:tcPr marL="35319" marR="35319" marT="23546" marB="23546"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r>
                        <a:rPr lang="es-ES" sz="1000" b="1">
                          <a:effectLst/>
                          <a:latin typeface="Google Sans Text"/>
                        </a:rPr>
                        <a:t>Divergente</a:t>
                      </a:r>
                      <a:r>
                        <a:rPr lang="es-ES" sz="1000">
                          <a:effectLst/>
                          <a:latin typeface="Google Sans Text"/>
                        </a:rPr>
                        <a:t> (pueden evolucionar para asumir funciones nuevas o especializadas).</a:t>
                      </a:r>
                    </a:p>
                  </a:txBody>
                  <a:tcPr marL="35319" marR="35319" marT="23546" marB="23546"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545018168"/>
                  </a:ext>
                </a:extLst>
              </a:tr>
              <a:tr h="894756">
                <a:tc>
                  <a:txBody>
                    <a:bodyPr/>
                    <a:lstStyle/>
                    <a:p>
                      <a:r>
                        <a:rPr lang="es-MX" sz="1000" b="1" dirty="0" err="1">
                          <a:solidFill>
                            <a:srgbClr val="14919B"/>
                          </a:solidFill>
                          <a:effectLst/>
                          <a:latin typeface="Google Sans Text"/>
                        </a:rPr>
                        <a:t>Xenólogos</a:t>
                      </a:r>
                      <a:r>
                        <a:rPr lang="es-MX" sz="1000" dirty="0">
                          <a:effectLst/>
                          <a:latin typeface="Google Sans Text"/>
                        </a:rPr>
                        <a:t> </a:t>
                      </a:r>
                      <a:r>
                        <a:rPr lang="es-MX" sz="1000" i="1" dirty="0">
                          <a:effectLst/>
                          <a:latin typeface="Google Sans Text"/>
                        </a:rPr>
                        <a:t>(Homólogos)</a:t>
                      </a:r>
                      <a:endParaRPr lang="es-MX" sz="1000" dirty="0">
                        <a:effectLst/>
                        <a:latin typeface="Google Sans Text"/>
                      </a:endParaRPr>
                    </a:p>
                  </a:txBody>
                  <a:tcPr marL="35319" marR="35319" marT="23546" marB="23546"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r>
                        <a:rPr lang="es-MX" sz="1000" b="1">
                          <a:effectLst/>
                          <a:latin typeface="Google Sans Text"/>
                        </a:rPr>
                        <a:t>Transferencia Horizontal (HGT):</a:t>
                      </a:r>
                      <a:r>
                        <a:rPr lang="es-MX" sz="1000">
                          <a:effectLst/>
                          <a:latin typeface="Google Sans Text"/>
                        </a:rPr>
                        <a:t> Transferencia entre organismos no emparentados (vía plásmidos, fagos, etc.).</a:t>
                      </a:r>
                    </a:p>
                  </a:txBody>
                  <a:tcPr marL="35319" marR="35319" marT="23546" marB="23546"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r>
                        <a:rPr lang="es-ES" sz="1000" dirty="0">
                          <a:effectLst/>
                          <a:latin typeface="Google Sans Text"/>
                        </a:rPr>
                        <a:t>Similitud de secuencia conservada con el organismo donante.</a:t>
                      </a:r>
                    </a:p>
                  </a:txBody>
                  <a:tcPr marL="35319" marR="35319" marT="23546" marB="23546"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r>
                        <a:rPr lang="es-ES" sz="1000" b="1">
                          <a:effectLst/>
                          <a:latin typeface="Google Sans Text"/>
                        </a:rPr>
                        <a:t>Equivalente</a:t>
                      </a:r>
                      <a:r>
                        <a:rPr lang="es-ES" sz="1000">
                          <a:effectLst/>
                          <a:latin typeface="Google Sans Text"/>
                        </a:rPr>
                        <a:t> (mantiene la función importada en la nueva especie receptora).</a:t>
                      </a:r>
                    </a:p>
                  </a:txBody>
                  <a:tcPr marL="35319" marR="35319" marT="23546" marB="23546"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72032269"/>
                  </a:ext>
                </a:extLst>
              </a:tr>
              <a:tr h="725223">
                <a:tc>
                  <a:txBody>
                    <a:bodyPr/>
                    <a:lstStyle/>
                    <a:p>
                      <a:r>
                        <a:rPr lang="es-MX" sz="1000" b="1" dirty="0">
                          <a:solidFill>
                            <a:srgbClr val="14919B"/>
                          </a:solidFill>
                          <a:effectLst/>
                          <a:latin typeface="Google Sans Text"/>
                        </a:rPr>
                        <a:t>Análogos</a:t>
                      </a:r>
                      <a:endParaRPr lang="es-MX" sz="1000" dirty="0">
                        <a:solidFill>
                          <a:srgbClr val="14919B"/>
                        </a:solidFill>
                        <a:effectLst/>
                        <a:latin typeface="Google Sans Text"/>
                      </a:endParaRPr>
                    </a:p>
                  </a:txBody>
                  <a:tcPr marL="35319" marR="35319" marT="23546" marB="23546"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r>
                        <a:rPr lang="es-ES" sz="1000" b="1">
                          <a:effectLst/>
                          <a:latin typeface="Google Sans Text"/>
                        </a:rPr>
                        <a:t>Convergencia evolutiva:</a:t>
                      </a:r>
                      <a:r>
                        <a:rPr lang="es-ES" sz="1000">
                          <a:effectLst/>
                          <a:latin typeface="Google Sans Text"/>
                        </a:rPr>
                        <a:t> No comparten un ancestro común; surgen de orígenes independientes.</a:t>
                      </a:r>
                    </a:p>
                  </a:txBody>
                  <a:tcPr marL="35319" marR="35319" marT="23546" marB="23546"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r>
                        <a:rPr lang="es-ES" sz="1000" b="1" dirty="0">
                          <a:effectLst/>
                          <a:latin typeface="Google Sans Text"/>
                        </a:rPr>
                        <a:t>Diferente</a:t>
                      </a:r>
                      <a:r>
                        <a:rPr lang="es-ES" sz="1000" dirty="0">
                          <a:effectLst/>
                          <a:latin typeface="Google Sans Text"/>
                        </a:rPr>
                        <a:t> (secuencias y estructuras tridimensionales distintas).</a:t>
                      </a:r>
                    </a:p>
                  </a:txBody>
                  <a:tcPr marL="35319" marR="35319" marT="23546" marB="23546"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r>
                        <a:rPr lang="es-ES" sz="1000" b="1" dirty="0">
                          <a:effectLst/>
                          <a:latin typeface="Google Sans Text"/>
                        </a:rPr>
                        <a:t>Misma función</a:t>
                      </a:r>
                      <a:r>
                        <a:rPr lang="es-ES" sz="1000" dirty="0">
                          <a:effectLst/>
                          <a:latin typeface="Google Sans Text"/>
                        </a:rPr>
                        <a:t> (alcanzan la misma solución funcional por presiones de selección similares).</a:t>
                      </a:r>
                    </a:p>
                  </a:txBody>
                  <a:tcPr marL="35319" marR="35319" marT="23546" marB="23546"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751323100"/>
                  </a:ext>
                </a:extLst>
              </a:tr>
              <a:tr h="894756">
                <a:tc>
                  <a:txBody>
                    <a:bodyPr/>
                    <a:lstStyle/>
                    <a:p>
                      <a:r>
                        <a:rPr lang="es-MX" sz="1000" b="1" dirty="0" err="1">
                          <a:solidFill>
                            <a:srgbClr val="14919B"/>
                          </a:solidFill>
                          <a:effectLst/>
                          <a:latin typeface="Google Sans Text"/>
                        </a:rPr>
                        <a:t>Extantes</a:t>
                      </a:r>
                      <a:r>
                        <a:rPr lang="es-MX" sz="1000" dirty="0">
                          <a:effectLst/>
                          <a:latin typeface="Google Sans Text"/>
                        </a:rPr>
                        <a:t> </a:t>
                      </a:r>
                      <a:r>
                        <a:rPr lang="es-MX" sz="1000" i="1" dirty="0">
                          <a:effectLst/>
                          <a:latin typeface="Google Sans Text"/>
                        </a:rPr>
                        <a:t>(Estado)</a:t>
                      </a:r>
                      <a:endParaRPr lang="es-MX" sz="1000" dirty="0">
                        <a:effectLst/>
                        <a:latin typeface="Google Sans Text"/>
                      </a:endParaRPr>
                    </a:p>
                  </a:txBody>
                  <a:tcPr marL="35319" marR="35319" marT="23546" marB="23546"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r>
                        <a:rPr lang="es-ES" sz="1000" b="1">
                          <a:effectLst/>
                          <a:latin typeface="Google Sans Text"/>
                        </a:rPr>
                        <a:t>Especies/Secuencias actuales:</a:t>
                      </a:r>
                      <a:r>
                        <a:rPr lang="es-ES" sz="1000">
                          <a:effectLst/>
                          <a:latin typeface="Google Sans Text"/>
                        </a:rPr>
                        <a:t> Organismos vivos contemporáneos que han acumulado mutaciones en paralelo.</a:t>
                      </a:r>
                    </a:p>
                  </a:txBody>
                  <a:tcPr marL="35319" marR="35319" marT="23546" marB="23546"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r>
                        <a:rPr lang="es-ES" sz="1000">
                          <a:effectLst/>
                          <a:latin typeface="Google Sans Text"/>
                        </a:rPr>
                        <a:t>Reflejan el estado actual tras la divergencia evolutiva.</a:t>
                      </a:r>
                    </a:p>
                  </a:txBody>
                  <a:tcPr marL="35319" marR="35319" marT="23546" marB="23546"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r>
                        <a:rPr lang="es-ES" sz="1000" dirty="0">
                          <a:effectLst/>
                          <a:latin typeface="Google Sans Text"/>
                        </a:rPr>
                        <a:t>Mantenida o modificada a lo largo del tiempo de selección natural.</a:t>
                      </a:r>
                    </a:p>
                  </a:txBody>
                  <a:tcPr marL="35319" marR="35319" marT="23546" marB="23546"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1358415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4919B"/>
                </a:solidFill>
                <a:latin typeface="Calibri" pitchFamily="34" charset="0"/>
                <a:ea typeface="Calibri" pitchFamily="34" charset="-122"/>
                <a:cs typeface="Calibri" pitchFamily="34" charset="-120"/>
              </a:rPr>
              <a:t>14.2.4 · SISTEMA DE PUNTUACIÓN</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buNone/>
            </a:pPr>
            <a:r>
              <a:rPr lang="en-US" sz="3200" b="1" dirty="0">
                <a:solidFill>
                  <a:srgbClr val="0B3D57"/>
                </a:solidFill>
                <a:latin typeface="Cambria" pitchFamily="34" charset="0"/>
                <a:ea typeface="Cambria" pitchFamily="34" charset="-122"/>
                <a:cs typeface="Cambria" pitchFamily="34" charset="-120"/>
              </a:rPr>
              <a:t>Puntuando un alineamiento</a:t>
            </a:r>
            <a:endParaRPr lang="en-US" sz="3200" dirty="0"/>
          </a:p>
        </p:txBody>
      </p:sp>
      <p:sp>
        <p:nvSpPr>
          <p:cNvPr id="4" name="Text 2"/>
          <p:cNvSpPr/>
          <p:nvPr/>
        </p:nvSpPr>
        <p:spPr>
          <a:xfrm>
            <a:off x="548640" y="1600200"/>
            <a:ext cx="10881360" cy="1005840"/>
          </a:xfrm>
          <a:prstGeom prst="rect">
            <a:avLst/>
          </a:prstGeom>
          <a:noFill/>
          <a:ln/>
        </p:spPr>
        <p:txBody>
          <a:bodyPr wrap="square" rtlCol="0" anchor="ctr"/>
          <a:lstStyle/>
          <a:p>
            <a:pPr marL="0" indent="0">
              <a:lnSpc>
                <a:spcPts val="1900"/>
              </a:lnSpc>
              <a:buNone/>
            </a:pPr>
            <a:r>
              <a:rPr lang="en-US" sz="1350" dirty="0">
                <a:solidFill>
                  <a:srgbClr val="17303B"/>
                </a:solidFill>
                <a:latin typeface="Calibri" pitchFamily="34" charset="0"/>
                <a:ea typeface="Calibri" pitchFamily="34" charset="-122"/>
                <a:cs typeface="Calibri" pitchFamily="34" charset="-120"/>
              </a:rPr>
              <a:t>Cada alineamiento se puntúa según coincidencia, sustitución, inserción o deleción. El alineamiento con mejor puntaje es el más significativo. En ADN el esquema es simple (match/mismatch/gap); en proteínas se necesitan matrices de sustitución (PAM/BLOSUM).</a:t>
            </a:r>
            <a:endParaRPr lang="en-US" sz="1350" dirty="0"/>
          </a:p>
        </p:txBody>
      </p:sp>
      <p:pic>
        <p:nvPicPr>
          <p:cNvPr id="5" name="Image 0" descr="/home/claude/work/img/fig14_4.jpg"/>
          <p:cNvPicPr>
            <a:picLocks noChangeAspect="1"/>
          </p:cNvPicPr>
          <p:nvPr/>
        </p:nvPicPr>
        <p:blipFill>
          <a:blip r:embed="rId3"/>
          <a:stretch>
            <a:fillRect/>
          </a:stretch>
        </p:blipFill>
        <p:spPr>
          <a:xfrm>
            <a:off x="4700016" y="2697480"/>
            <a:ext cx="2761488" cy="3566160"/>
          </a:xfrm>
          <a:prstGeom prst="rect">
            <a:avLst/>
          </a:prstGeom>
        </p:spPr>
      </p:pic>
      <p:sp>
        <p:nvSpPr>
          <p:cNvPr id="6" name="Text 3"/>
          <p:cNvSpPr/>
          <p:nvPr/>
        </p:nvSpPr>
        <p:spPr>
          <a:xfrm>
            <a:off x="1463040" y="6355080"/>
            <a:ext cx="9235440" cy="365760"/>
          </a:xfrm>
          <a:prstGeom prst="rect">
            <a:avLst/>
          </a:prstGeom>
          <a:noFill/>
          <a:ln/>
        </p:spPr>
        <p:txBody>
          <a:bodyPr wrap="square" rtlCol="0" anchor="ctr"/>
          <a:lstStyle/>
          <a:p>
            <a:pPr marL="0" indent="0" algn="ctr">
              <a:buNone/>
            </a:pPr>
            <a:r>
              <a:rPr lang="en-US" sz="900" i="1" dirty="0">
                <a:solidFill>
                  <a:srgbClr val="5C7A85"/>
                </a:solidFill>
                <a:latin typeface="Calibri" pitchFamily="34" charset="0"/>
                <a:ea typeface="Calibri" pitchFamily="34" charset="-122"/>
                <a:cs typeface="Calibri" pitchFamily="34" charset="-120"/>
              </a:rPr>
              <a:t>Fig. 14.4 — (a) Alineamiento de dos secuencias de ADN con distintos escenarios de gap. (b) Alineamiento de aminoácidos puntuado con BLOSUM62 (secuencia MKITGEIST vs PRKTERIT).</a:t>
            </a:r>
            <a:endParaRPr lang="en-US" sz="900" dirty="0"/>
          </a:p>
        </p:txBody>
      </p:sp>
      <p:sp>
        <p:nvSpPr>
          <p:cNvPr id="7" name="Text 4"/>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7A85"/>
                </a:solidFill>
                <a:latin typeface="Calibri" pitchFamily="34" charset="0"/>
                <a:ea typeface="Calibri" pitchFamily="34" charset="-122"/>
                <a:cs typeface="Calibri" pitchFamily="34" charset="-120"/>
              </a:rPr>
              <a:t>BLAST y diseño de fármacos asistido por computadora</a:t>
            </a:r>
            <a:endParaRPr lang="en-US" sz="900" dirty="0"/>
          </a:p>
        </p:txBody>
      </p:sp>
      <p:sp>
        <p:nvSpPr>
          <p:cNvPr id="8" name="Text 5"/>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7A8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4919B"/>
                </a:solidFill>
                <a:latin typeface="Calibri" pitchFamily="34" charset="0"/>
                <a:ea typeface="Calibri" pitchFamily="34" charset="-122"/>
                <a:cs typeface="Calibri" pitchFamily="34" charset="-120"/>
              </a:rPr>
              <a:t>14.2.3 · TIPOS DE MUTACIÓN</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buNone/>
            </a:pPr>
            <a:r>
              <a:rPr lang="en-US" sz="3200" b="1" dirty="0">
                <a:solidFill>
                  <a:srgbClr val="0B3D57"/>
                </a:solidFill>
                <a:latin typeface="Cambria" pitchFamily="34" charset="0"/>
                <a:ea typeface="Cambria" pitchFamily="34" charset="-122"/>
                <a:cs typeface="Cambria" pitchFamily="34" charset="-120"/>
              </a:rPr>
              <a:t>Inserción, deleción y sustitución</a:t>
            </a:r>
            <a:endParaRPr lang="en-US" sz="3200" dirty="0"/>
          </a:p>
        </p:txBody>
      </p:sp>
      <p:pic>
        <p:nvPicPr>
          <p:cNvPr id="4" name="Image 0" descr="/home/claude/work/img/fig14_5.jpg"/>
          <p:cNvPicPr>
            <a:picLocks noChangeAspect="1"/>
          </p:cNvPicPr>
          <p:nvPr/>
        </p:nvPicPr>
        <p:blipFill>
          <a:blip r:embed="rId3"/>
          <a:stretch>
            <a:fillRect/>
          </a:stretch>
        </p:blipFill>
        <p:spPr>
          <a:xfrm>
            <a:off x="548640" y="1691640"/>
            <a:ext cx="5943600" cy="3931920"/>
          </a:xfrm>
          <a:prstGeom prst="rect">
            <a:avLst/>
          </a:prstGeom>
        </p:spPr>
      </p:pic>
      <p:sp>
        <p:nvSpPr>
          <p:cNvPr id="5" name="Text 2"/>
          <p:cNvSpPr/>
          <p:nvPr/>
        </p:nvSpPr>
        <p:spPr>
          <a:xfrm>
            <a:off x="548640" y="5687568"/>
            <a:ext cx="5943600" cy="411480"/>
          </a:xfrm>
          <a:prstGeom prst="rect">
            <a:avLst/>
          </a:prstGeom>
          <a:noFill/>
          <a:ln/>
        </p:spPr>
        <p:txBody>
          <a:bodyPr wrap="square" rtlCol="0" anchor="ctr"/>
          <a:lstStyle/>
          <a:p>
            <a:pPr marL="0" indent="0">
              <a:buNone/>
            </a:pPr>
            <a:r>
              <a:rPr lang="en-US" sz="900" i="1" dirty="0">
                <a:solidFill>
                  <a:srgbClr val="5C7A85"/>
                </a:solidFill>
                <a:latin typeface="Calibri" pitchFamily="34" charset="0"/>
                <a:ea typeface="Calibri" pitchFamily="34" charset="-122"/>
                <a:cs typeface="Calibri" pitchFamily="34" charset="-120"/>
              </a:rPr>
              <a:t>Fig. 14.5 — Interpretación de deleciones e inserciones al alinear dos secuencias con diferencias ("gap" o indel).</a:t>
            </a:r>
            <a:endParaRPr lang="en-US" sz="900" dirty="0"/>
          </a:p>
        </p:txBody>
      </p:sp>
      <p:sp>
        <p:nvSpPr>
          <p:cNvPr id="6" name="Shape 3"/>
          <p:cNvSpPr/>
          <p:nvPr/>
        </p:nvSpPr>
        <p:spPr>
          <a:xfrm>
            <a:off x="6766560" y="1737360"/>
            <a:ext cx="4846320" cy="1143000"/>
          </a:xfrm>
          <a:prstGeom prst="roundRect">
            <a:avLst>
              <a:gd name="adj" fmla="val 6400"/>
            </a:avLst>
          </a:prstGeom>
          <a:solidFill>
            <a:srgbClr val="EAF4F4"/>
          </a:solidFill>
          <a:ln/>
        </p:spPr>
        <p:txBody>
          <a:bodyPr/>
          <a:lstStyle/>
          <a:p>
            <a:endParaRPr lang="es-MX"/>
          </a:p>
        </p:txBody>
      </p:sp>
      <p:sp>
        <p:nvSpPr>
          <p:cNvPr id="7" name="Text 4"/>
          <p:cNvSpPr/>
          <p:nvPr/>
        </p:nvSpPr>
        <p:spPr>
          <a:xfrm>
            <a:off x="6995160" y="1828800"/>
            <a:ext cx="4389120" cy="365760"/>
          </a:xfrm>
          <a:prstGeom prst="rect">
            <a:avLst/>
          </a:prstGeom>
          <a:noFill/>
          <a:ln/>
        </p:spPr>
        <p:txBody>
          <a:bodyPr wrap="square" rtlCol="0" anchor="ctr"/>
          <a:lstStyle/>
          <a:p>
            <a:pPr marL="0" indent="0">
              <a:buNone/>
            </a:pPr>
            <a:r>
              <a:rPr lang="en-US" sz="1400" b="1" dirty="0">
                <a:solidFill>
                  <a:srgbClr val="0B3D57"/>
                </a:solidFill>
                <a:latin typeface="Calibri" pitchFamily="34" charset="0"/>
                <a:ea typeface="Calibri" pitchFamily="34" charset="-122"/>
                <a:cs typeface="Calibri" pitchFamily="34" charset="-120"/>
              </a:rPr>
              <a:t>Inserción</a:t>
            </a:r>
            <a:endParaRPr lang="en-US" sz="1400" dirty="0"/>
          </a:p>
        </p:txBody>
      </p:sp>
      <p:sp>
        <p:nvSpPr>
          <p:cNvPr id="8" name="Text 5"/>
          <p:cNvSpPr/>
          <p:nvPr/>
        </p:nvSpPr>
        <p:spPr>
          <a:xfrm>
            <a:off x="6995160" y="2194560"/>
            <a:ext cx="4389120" cy="594360"/>
          </a:xfrm>
          <a:prstGeom prst="rect">
            <a:avLst/>
          </a:prstGeom>
          <a:noFill/>
          <a:ln/>
        </p:spPr>
        <p:txBody>
          <a:bodyPr wrap="square" rtlCol="0" anchor="ctr"/>
          <a:lstStyle/>
          <a:p>
            <a:pPr marL="0" indent="0">
              <a:lnSpc>
                <a:spcPts val="1500"/>
              </a:lnSpc>
              <a:buNone/>
            </a:pPr>
            <a:r>
              <a:rPr lang="en-US" sz="1150" dirty="0">
                <a:solidFill>
                  <a:srgbClr val="17303B"/>
                </a:solidFill>
                <a:latin typeface="Calibri" pitchFamily="34" charset="0"/>
                <a:ea typeface="Calibri" pitchFamily="34" charset="-122"/>
                <a:cs typeface="Calibri" pitchFamily="34" charset="-120"/>
              </a:rPr>
              <a:t>Adición de una o más bases/residuos entre los ya existentes.</a:t>
            </a:r>
            <a:endParaRPr lang="en-US" sz="1150" dirty="0"/>
          </a:p>
        </p:txBody>
      </p:sp>
      <p:sp>
        <p:nvSpPr>
          <p:cNvPr id="9" name="Shape 6"/>
          <p:cNvSpPr/>
          <p:nvPr/>
        </p:nvSpPr>
        <p:spPr>
          <a:xfrm>
            <a:off x="6766560" y="3108960"/>
            <a:ext cx="4846320" cy="1143000"/>
          </a:xfrm>
          <a:prstGeom prst="roundRect">
            <a:avLst>
              <a:gd name="adj" fmla="val 6400"/>
            </a:avLst>
          </a:prstGeom>
          <a:solidFill>
            <a:srgbClr val="EAF4F4"/>
          </a:solidFill>
          <a:ln/>
        </p:spPr>
        <p:txBody>
          <a:bodyPr/>
          <a:lstStyle/>
          <a:p>
            <a:endParaRPr lang="es-MX"/>
          </a:p>
        </p:txBody>
      </p:sp>
      <p:sp>
        <p:nvSpPr>
          <p:cNvPr id="10" name="Text 7"/>
          <p:cNvSpPr/>
          <p:nvPr/>
        </p:nvSpPr>
        <p:spPr>
          <a:xfrm>
            <a:off x="6995160" y="3200400"/>
            <a:ext cx="4389120" cy="365760"/>
          </a:xfrm>
          <a:prstGeom prst="rect">
            <a:avLst/>
          </a:prstGeom>
          <a:noFill/>
          <a:ln/>
        </p:spPr>
        <p:txBody>
          <a:bodyPr wrap="square" rtlCol="0" anchor="ctr"/>
          <a:lstStyle/>
          <a:p>
            <a:pPr marL="0" indent="0">
              <a:buNone/>
            </a:pPr>
            <a:r>
              <a:rPr lang="en-US" sz="1400" b="1" dirty="0">
                <a:solidFill>
                  <a:srgbClr val="0B3D57"/>
                </a:solidFill>
                <a:latin typeface="Calibri" pitchFamily="34" charset="0"/>
                <a:ea typeface="Calibri" pitchFamily="34" charset="-122"/>
                <a:cs typeface="Calibri" pitchFamily="34" charset="-120"/>
              </a:rPr>
              <a:t>Deleción</a:t>
            </a:r>
            <a:endParaRPr lang="en-US" sz="1400" dirty="0"/>
          </a:p>
        </p:txBody>
      </p:sp>
      <p:sp>
        <p:nvSpPr>
          <p:cNvPr id="11" name="Text 8"/>
          <p:cNvSpPr/>
          <p:nvPr/>
        </p:nvSpPr>
        <p:spPr>
          <a:xfrm>
            <a:off x="6995160" y="3566160"/>
            <a:ext cx="4389120" cy="594360"/>
          </a:xfrm>
          <a:prstGeom prst="rect">
            <a:avLst/>
          </a:prstGeom>
          <a:noFill/>
          <a:ln/>
        </p:spPr>
        <p:txBody>
          <a:bodyPr wrap="square" rtlCol="0" anchor="ctr"/>
          <a:lstStyle/>
          <a:p>
            <a:pPr marL="0" indent="0">
              <a:lnSpc>
                <a:spcPts val="1500"/>
              </a:lnSpc>
              <a:buNone/>
            </a:pPr>
            <a:r>
              <a:rPr lang="en-US" sz="1150" dirty="0">
                <a:solidFill>
                  <a:srgbClr val="17303B"/>
                </a:solidFill>
                <a:latin typeface="Calibri" pitchFamily="34" charset="0"/>
                <a:ea typeface="Calibri" pitchFamily="34" charset="-122"/>
                <a:cs typeface="Calibri" pitchFamily="34" charset="-120"/>
              </a:rPr>
              <a:t>Eliminación de una base o residuo de la secuencia original. Se denota (—) o (.).</a:t>
            </a:r>
            <a:endParaRPr lang="en-US" sz="1150" dirty="0"/>
          </a:p>
        </p:txBody>
      </p:sp>
      <p:sp>
        <p:nvSpPr>
          <p:cNvPr id="12" name="Shape 9"/>
          <p:cNvSpPr/>
          <p:nvPr/>
        </p:nvSpPr>
        <p:spPr>
          <a:xfrm>
            <a:off x="6766560" y="4480560"/>
            <a:ext cx="4846320" cy="1143000"/>
          </a:xfrm>
          <a:prstGeom prst="roundRect">
            <a:avLst>
              <a:gd name="adj" fmla="val 6400"/>
            </a:avLst>
          </a:prstGeom>
          <a:solidFill>
            <a:srgbClr val="EAF4F4"/>
          </a:solidFill>
          <a:ln/>
        </p:spPr>
        <p:txBody>
          <a:bodyPr/>
          <a:lstStyle/>
          <a:p>
            <a:endParaRPr lang="es-MX"/>
          </a:p>
        </p:txBody>
      </p:sp>
      <p:sp>
        <p:nvSpPr>
          <p:cNvPr id="13" name="Text 10"/>
          <p:cNvSpPr/>
          <p:nvPr/>
        </p:nvSpPr>
        <p:spPr>
          <a:xfrm>
            <a:off x="6995160" y="4572000"/>
            <a:ext cx="4389120" cy="365760"/>
          </a:xfrm>
          <a:prstGeom prst="rect">
            <a:avLst/>
          </a:prstGeom>
          <a:noFill/>
          <a:ln/>
        </p:spPr>
        <p:txBody>
          <a:bodyPr wrap="square" rtlCol="0" anchor="ctr"/>
          <a:lstStyle/>
          <a:p>
            <a:pPr marL="0" indent="0">
              <a:buNone/>
            </a:pPr>
            <a:r>
              <a:rPr lang="en-US" sz="1400" b="1" dirty="0">
                <a:solidFill>
                  <a:srgbClr val="0B3D57"/>
                </a:solidFill>
                <a:latin typeface="Calibri" pitchFamily="34" charset="0"/>
                <a:ea typeface="Calibri" pitchFamily="34" charset="-122"/>
                <a:cs typeface="Calibri" pitchFamily="34" charset="-120"/>
              </a:rPr>
              <a:t>Sustitución</a:t>
            </a:r>
            <a:endParaRPr lang="en-US" sz="1400" dirty="0"/>
          </a:p>
        </p:txBody>
      </p:sp>
      <p:sp>
        <p:nvSpPr>
          <p:cNvPr id="14" name="Text 11"/>
          <p:cNvSpPr/>
          <p:nvPr/>
        </p:nvSpPr>
        <p:spPr>
          <a:xfrm>
            <a:off x="6995160" y="4937760"/>
            <a:ext cx="4389120" cy="594360"/>
          </a:xfrm>
          <a:prstGeom prst="rect">
            <a:avLst/>
          </a:prstGeom>
          <a:noFill/>
          <a:ln/>
        </p:spPr>
        <p:txBody>
          <a:bodyPr wrap="square" rtlCol="0" anchor="ctr"/>
          <a:lstStyle/>
          <a:p>
            <a:pPr marL="0" indent="0">
              <a:lnSpc>
                <a:spcPts val="1500"/>
              </a:lnSpc>
              <a:buNone/>
            </a:pPr>
            <a:r>
              <a:rPr lang="en-US" sz="1150" dirty="0">
                <a:solidFill>
                  <a:srgbClr val="17303B"/>
                </a:solidFill>
                <a:latin typeface="Calibri" pitchFamily="34" charset="0"/>
                <a:ea typeface="Calibri" pitchFamily="34" charset="-122"/>
                <a:cs typeface="Calibri" pitchFamily="34" charset="-120"/>
              </a:rPr>
              <a:t>Reemplazo de una base o residuo por otro nuevo.</a:t>
            </a:r>
            <a:endParaRPr lang="en-US" sz="1150" dirty="0"/>
          </a:p>
        </p:txBody>
      </p:sp>
      <p:sp>
        <p:nvSpPr>
          <p:cNvPr id="15" name="Text 12"/>
          <p:cNvSpPr/>
          <p:nvPr/>
        </p:nvSpPr>
        <p:spPr>
          <a:xfrm>
            <a:off x="6766560" y="5943600"/>
            <a:ext cx="4846320" cy="822960"/>
          </a:xfrm>
          <a:prstGeom prst="rect">
            <a:avLst/>
          </a:prstGeom>
          <a:noFill/>
          <a:ln/>
        </p:spPr>
        <p:txBody>
          <a:bodyPr wrap="square" rtlCol="0" anchor="ctr"/>
          <a:lstStyle/>
          <a:p>
            <a:pPr marL="0" indent="0">
              <a:lnSpc>
                <a:spcPts val="1500"/>
              </a:lnSpc>
              <a:buNone/>
            </a:pPr>
            <a:r>
              <a:rPr lang="en-US" sz="1100" i="1" dirty="0">
                <a:solidFill>
                  <a:srgbClr val="5C7A85"/>
                </a:solidFill>
                <a:latin typeface="Calibri" pitchFamily="34" charset="0"/>
                <a:ea typeface="Calibri" pitchFamily="34" charset="-122"/>
                <a:cs typeface="Calibri" pitchFamily="34" charset="-120"/>
              </a:rPr>
              <a:t>Al ser secuencias extantes, deleción e inserción son interpretaciones intercambiables: la región faltante se denomina simplemente "gap" (indel).</a:t>
            </a:r>
            <a:endParaRPr lang="en-US" sz="1100" dirty="0"/>
          </a:p>
        </p:txBody>
      </p:sp>
      <p:sp>
        <p:nvSpPr>
          <p:cNvPr id="16" name="Text 13"/>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7A85"/>
                </a:solidFill>
                <a:latin typeface="Calibri" pitchFamily="34" charset="0"/>
                <a:ea typeface="Calibri" pitchFamily="34" charset="-122"/>
                <a:cs typeface="Calibri" pitchFamily="34" charset="-120"/>
              </a:rPr>
              <a:t>BLAST y diseño de fármacos asistido por computadora</a:t>
            </a:r>
            <a:endParaRPr lang="en-US" sz="900" dirty="0"/>
          </a:p>
        </p:txBody>
      </p:sp>
      <p:sp>
        <p:nvSpPr>
          <p:cNvPr id="17" name="Text 14"/>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7A8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4919B"/>
                </a:solidFill>
                <a:latin typeface="Calibri" pitchFamily="34" charset="0"/>
                <a:ea typeface="Calibri" pitchFamily="34" charset="-122"/>
                <a:cs typeface="Calibri" pitchFamily="34" charset="-120"/>
              </a:rPr>
              <a:t>14.2.4 · MATRICES DE SUSTITUCIÓN</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buNone/>
            </a:pPr>
            <a:r>
              <a:rPr lang="en-US" sz="3200" b="1" dirty="0">
                <a:solidFill>
                  <a:srgbClr val="0B3D57"/>
                </a:solidFill>
                <a:latin typeface="Cambria" pitchFamily="34" charset="0"/>
                <a:ea typeface="Cambria" pitchFamily="34" charset="-122"/>
                <a:cs typeface="Cambria" pitchFamily="34" charset="-120"/>
              </a:rPr>
              <a:t>PAM y BLOSUM</a:t>
            </a:r>
            <a:endParaRPr lang="en-US" sz="3200" dirty="0"/>
          </a:p>
        </p:txBody>
      </p:sp>
      <p:sp>
        <p:nvSpPr>
          <p:cNvPr id="4" name="Shape 2"/>
          <p:cNvSpPr/>
          <p:nvPr/>
        </p:nvSpPr>
        <p:spPr>
          <a:xfrm>
            <a:off x="548640" y="1691640"/>
            <a:ext cx="5257800" cy="2834640"/>
          </a:xfrm>
          <a:prstGeom prst="roundRect">
            <a:avLst>
              <a:gd name="adj" fmla="val 2581"/>
            </a:avLst>
          </a:prstGeom>
          <a:solidFill>
            <a:srgbClr val="0B3D57"/>
          </a:solidFill>
          <a:ln/>
        </p:spPr>
        <p:txBody>
          <a:bodyPr/>
          <a:lstStyle/>
          <a:p>
            <a:endParaRPr lang="es-MX"/>
          </a:p>
        </p:txBody>
      </p:sp>
      <p:sp>
        <p:nvSpPr>
          <p:cNvPr id="5" name="Text 3"/>
          <p:cNvSpPr/>
          <p:nvPr/>
        </p:nvSpPr>
        <p:spPr>
          <a:xfrm>
            <a:off x="868680" y="1874520"/>
            <a:ext cx="4617720" cy="54864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PAM</a:t>
            </a:r>
            <a:endParaRPr lang="en-US" sz="2600" dirty="0"/>
          </a:p>
        </p:txBody>
      </p:sp>
      <p:sp>
        <p:nvSpPr>
          <p:cNvPr id="6" name="Text 4"/>
          <p:cNvSpPr/>
          <p:nvPr/>
        </p:nvSpPr>
        <p:spPr>
          <a:xfrm>
            <a:off x="868680" y="2423160"/>
            <a:ext cx="4617720" cy="365760"/>
          </a:xfrm>
          <a:prstGeom prst="rect">
            <a:avLst/>
          </a:prstGeom>
          <a:noFill/>
          <a:ln/>
        </p:spPr>
        <p:txBody>
          <a:bodyPr wrap="square" rtlCol="0" anchor="ctr"/>
          <a:lstStyle/>
          <a:p>
            <a:pPr marL="0" indent="0">
              <a:buNone/>
            </a:pPr>
            <a:r>
              <a:rPr lang="en-US" sz="1200" i="1" dirty="0">
                <a:solidFill>
                  <a:srgbClr val="CADCFC"/>
                </a:solidFill>
                <a:latin typeface="Calibri" pitchFamily="34" charset="0"/>
                <a:ea typeface="Calibri" pitchFamily="34" charset="-122"/>
                <a:cs typeface="Calibri" pitchFamily="34" charset="-120"/>
              </a:rPr>
              <a:t>Point Accepted Mutation</a:t>
            </a:r>
            <a:endParaRPr lang="en-US" sz="1200" dirty="0"/>
          </a:p>
        </p:txBody>
      </p:sp>
      <p:sp>
        <p:nvSpPr>
          <p:cNvPr id="7" name="Text 5"/>
          <p:cNvSpPr/>
          <p:nvPr/>
        </p:nvSpPr>
        <p:spPr>
          <a:xfrm>
            <a:off x="868680" y="2880360"/>
            <a:ext cx="4617720" cy="1554480"/>
          </a:xfrm>
          <a:prstGeom prst="rect">
            <a:avLst/>
          </a:prstGeom>
          <a:noFill/>
          <a:ln/>
        </p:spPr>
        <p:txBody>
          <a:bodyPr wrap="square" rtlCol="0" anchor="ctr"/>
          <a:lstStyle/>
          <a:p>
            <a:pPr marL="0" indent="0">
              <a:lnSpc>
                <a:spcPts val="1700"/>
              </a:lnSpc>
              <a:buNone/>
            </a:pPr>
            <a:r>
              <a:rPr lang="en-US" sz="1200" dirty="0">
                <a:solidFill>
                  <a:srgbClr val="FFFFFF"/>
                </a:solidFill>
                <a:latin typeface="Calibri" pitchFamily="34" charset="0"/>
                <a:ea typeface="Calibri" pitchFamily="34" charset="-122"/>
                <a:cs typeface="Calibri" pitchFamily="34" charset="-120"/>
              </a:rPr>
              <a:t>Margaret Dayhoff ("Madre de la Bioinformática") estudió miles de proteínas homólogas de 71 familias (1572 cambios) para identificar qué sustituciones eran aceptadas por la selección natural.</a:t>
            </a:r>
            <a:endParaRPr lang="en-US" sz="1200" dirty="0"/>
          </a:p>
        </p:txBody>
      </p:sp>
      <p:sp>
        <p:nvSpPr>
          <p:cNvPr id="8" name="Shape 6"/>
          <p:cNvSpPr/>
          <p:nvPr/>
        </p:nvSpPr>
        <p:spPr>
          <a:xfrm>
            <a:off x="6172200" y="1691640"/>
            <a:ext cx="5257800" cy="2834640"/>
          </a:xfrm>
          <a:prstGeom prst="roundRect">
            <a:avLst>
              <a:gd name="adj" fmla="val 2581"/>
            </a:avLst>
          </a:prstGeom>
          <a:solidFill>
            <a:srgbClr val="14919B"/>
          </a:solidFill>
          <a:ln/>
        </p:spPr>
        <p:txBody>
          <a:bodyPr/>
          <a:lstStyle/>
          <a:p>
            <a:endParaRPr lang="es-MX"/>
          </a:p>
        </p:txBody>
      </p:sp>
      <p:sp>
        <p:nvSpPr>
          <p:cNvPr id="9" name="Text 7"/>
          <p:cNvSpPr/>
          <p:nvPr/>
        </p:nvSpPr>
        <p:spPr>
          <a:xfrm>
            <a:off x="6492240" y="1874520"/>
            <a:ext cx="4617720" cy="54864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BLOSUM</a:t>
            </a:r>
            <a:endParaRPr lang="en-US" sz="2600" dirty="0"/>
          </a:p>
        </p:txBody>
      </p:sp>
      <p:sp>
        <p:nvSpPr>
          <p:cNvPr id="10" name="Text 8"/>
          <p:cNvSpPr/>
          <p:nvPr/>
        </p:nvSpPr>
        <p:spPr>
          <a:xfrm>
            <a:off x="6492240" y="2423160"/>
            <a:ext cx="4617720" cy="365760"/>
          </a:xfrm>
          <a:prstGeom prst="rect">
            <a:avLst/>
          </a:prstGeom>
          <a:noFill/>
          <a:ln/>
        </p:spPr>
        <p:txBody>
          <a:bodyPr wrap="square" rtlCol="0" anchor="ctr"/>
          <a:lstStyle/>
          <a:p>
            <a:pPr marL="0" indent="0">
              <a:buNone/>
            </a:pPr>
            <a:r>
              <a:rPr lang="en-US" sz="1200" i="1" dirty="0">
                <a:solidFill>
                  <a:srgbClr val="CADCFC"/>
                </a:solidFill>
                <a:latin typeface="Calibri" pitchFamily="34" charset="0"/>
                <a:ea typeface="Calibri" pitchFamily="34" charset="-122"/>
                <a:cs typeface="Calibri" pitchFamily="34" charset="-120"/>
              </a:rPr>
              <a:t>BLOcks amino acid SUbstitution Matrices</a:t>
            </a:r>
            <a:endParaRPr lang="en-US" sz="1200" dirty="0"/>
          </a:p>
        </p:txBody>
      </p:sp>
      <p:sp>
        <p:nvSpPr>
          <p:cNvPr id="11" name="Text 9"/>
          <p:cNvSpPr/>
          <p:nvPr/>
        </p:nvSpPr>
        <p:spPr>
          <a:xfrm>
            <a:off x="6492240" y="2880360"/>
            <a:ext cx="4617720" cy="1554480"/>
          </a:xfrm>
          <a:prstGeom prst="rect">
            <a:avLst/>
          </a:prstGeom>
          <a:noFill/>
          <a:ln/>
        </p:spPr>
        <p:txBody>
          <a:bodyPr wrap="square" rtlCol="0" anchor="ctr"/>
          <a:lstStyle/>
          <a:p>
            <a:pPr marL="0" indent="0">
              <a:lnSpc>
                <a:spcPts val="1700"/>
              </a:lnSpc>
              <a:buNone/>
            </a:pPr>
            <a:r>
              <a:rPr lang="en-US" sz="1200" dirty="0">
                <a:solidFill>
                  <a:srgbClr val="FFFFFF"/>
                </a:solidFill>
                <a:latin typeface="Calibri" pitchFamily="34" charset="0"/>
                <a:ea typeface="Calibri" pitchFamily="34" charset="-122"/>
                <a:cs typeface="Calibri" pitchFamily="34" charset="-120"/>
              </a:rPr>
              <a:t>Henikoff &amp; Henikoff analizaron más de 2000 patrones de aminoácidos conservados en 500 grupos de proteínas, usando alineamientos sin gaps de menos de 60 residuos.</a:t>
            </a:r>
            <a:endParaRPr lang="en-US" sz="1200" dirty="0"/>
          </a:p>
        </p:txBody>
      </p:sp>
      <p:sp>
        <p:nvSpPr>
          <p:cNvPr id="12" name="Shape 10"/>
          <p:cNvSpPr/>
          <p:nvPr/>
        </p:nvSpPr>
        <p:spPr>
          <a:xfrm>
            <a:off x="548640" y="4800600"/>
            <a:ext cx="11064240" cy="1417320"/>
          </a:xfrm>
          <a:prstGeom prst="roundRect">
            <a:avLst>
              <a:gd name="adj" fmla="val 5161"/>
            </a:avLst>
          </a:prstGeom>
          <a:solidFill>
            <a:srgbClr val="EAF4F4"/>
          </a:solidFill>
          <a:ln/>
        </p:spPr>
        <p:txBody>
          <a:bodyPr/>
          <a:lstStyle/>
          <a:p>
            <a:endParaRPr lang="es-MX"/>
          </a:p>
        </p:txBody>
      </p:sp>
      <p:sp>
        <p:nvSpPr>
          <p:cNvPr id="13" name="Text 11"/>
          <p:cNvSpPr/>
          <p:nvPr/>
        </p:nvSpPr>
        <p:spPr>
          <a:xfrm>
            <a:off x="822960" y="4937760"/>
            <a:ext cx="10515600" cy="1188720"/>
          </a:xfrm>
          <a:prstGeom prst="rect">
            <a:avLst/>
          </a:prstGeom>
          <a:noFill/>
          <a:ln/>
        </p:spPr>
        <p:txBody>
          <a:bodyPr wrap="square" rtlCol="0" anchor="ctr"/>
          <a:lstStyle/>
          <a:p>
            <a:pPr marL="0" indent="0">
              <a:lnSpc>
                <a:spcPts val="1800"/>
              </a:lnSpc>
              <a:buNone/>
            </a:pPr>
            <a:r>
              <a:rPr lang="en-US" sz="1250" b="1" dirty="0">
                <a:solidFill>
                  <a:srgbClr val="14919B"/>
                </a:solidFill>
                <a:latin typeface="Calibri" pitchFamily="34" charset="0"/>
                <a:ea typeface="Calibri" pitchFamily="34" charset="-122"/>
                <a:cs typeface="Calibri" pitchFamily="34" charset="-120"/>
              </a:rPr>
              <a:t>Idea central:  </a:t>
            </a:r>
            <a:r>
              <a:rPr lang="en-US" sz="1250" dirty="0">
                <a:solidFill>
                  <a:srgbClr val="17303B"/>
                </a:solidFill>
                <a:latin typeface="Calibri" pitchFamily="34" charset="0"/>
                <a:ea typeface="Calibri" pitchFamily="34" charset="-122"/>
                <a:cs typeface="Calibri" pitchFamily="34" charset="-120"/>
              </a:rPr>
              <a:t>aminoácidos con propiedades fisicoquímicas similares (p. ej. alanina y glicina) mutan con más frecuencia; aminoácidos únicos como cisteína o triptófano rara vez mutan. Ambas matrices asignan mayor puntaje a sustituciones más probables.</a:t>
            </a:r>
            <a:endParaRPr lang="en-US" sz="1250" dirty="0"/>
          </a:p>
        </p:txBody>
      </p:sp>
      <p:sp>
        <p:nvSpPr>
          <p:cNvPr id="14" name="Text 12"/>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7A85"/>
                </a:solidFill>
                <a:latin typeface="Calibri" pitchFamily="34" charset="0"/>
                <a:ea typeface="Calibri" pitchFamily="34" charset="-122"/>
                <a:cs typeface="Calibri" pitchFamily="34" charset="-120"/>
              </a:rPr>
              <a:t>BLAST y diseño de fármacos asistido por computadora</a:t>
            </a:r>
            <a:endParaRPr lang="en-US" sz="900" dirty="0"/>
          </a:p>
        </p:txBody>
      </p:sp>
      <p:sp>
        <p:nvSpPr>
          <p:cNvPr id="15" name="Text 13"/>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7A8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4919B"/>
                </a:solidFill>
                <a:latin typeface="Calibri" pitchFamily="34" charset="0"/>
                <a:ea typeface="Calibri" pitchFamily="34" charset="-122"/>
                <a:cs typeface="Calibri" pitchFamily="34" charset="-120"/>
              </a:rPr>
              <a:t>14.2.4 · REQUISITOS DE BÚSQUEDA</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buNone/>
            </a:pPr>
            <a:r>
              <a:rPr lang="en-US" sz="3200" b="1" dirty="0">
                <a:solidFill>
                  <a:srgbClr val="0B3D57"/>
                </a:solidFill>
                <a:latin typeface="Cambria" pitchFamily="34" charset="0"/>
                <a:ea typeface="Cambria" pitchFamily="34" charset="-122"/>
                <a:cs typeface="Cambria" pitchFamily="34" charset="-120"/>
              </a:rPr>
              <a:t>Sensibilidad, selectividad y velocidad</a:t>
            </a:r>
            <a:endParaRPr lang="en-US" sz="3200" dirty="0"/>
          </a:p>
        </p:txBody>
      </p:sp>
      <p:sp>
        <p:nvSpPr>
          <p:cNvPr id="4" name="Shape 2"/>
          <p:cNvSpPr/>
          <p:nvPr/>
        </p:nvSpPr>
        <p:spPr>
          <a:xfrm>
            <a:off x="548640" y="1737360"/>
            <a:ext cx="3611880" cy="2286000"/>
          </a:xfrm>
          <a:prstGeom prst="roundRect">
            <a:avLst>
              <a:gd name="adj" fmla="val 3200"/>
            </a:avLst>
          </a:prstGeom>
          <a:solidFill>
            <a:srgbClr val="EAF4F4"/>
          </a:solidFill>
          <a:ln/>
        </p:spPr>
        <p:txBody>
          <a:bodyPr/>
          <a:lstStyle/>
          <a:p>
            <a:endParaRPr lang="es-MX"/>
          </a:p>
        </p:txBody>
      </p:sp>
      <p:sp>
        <p:nvSpPr>
          <p:cNvPr id="5" name="Shape 3"/>
          <p:cNvSpPr/>
          <p:nvPr/>
        </p:nvSpPr>
        <p:spPr>
          <a:xfrm>
            <a:off x="777240" y="1965960"/>
            <a:ext cx="548640" cy="548640"/>
          </a:xfrm>
          <a:prstGeom prst="ellipse">
            <a:avLst/>
          </a:prstGeom>
          <a:solidFill>
            <a:srgbClr val="00C2A8"/>
          </a:solidFill>
          <a:ln/>
        </p:spPr>
        <p:txBody>
          <a:bodyPr/>
          <a:lstStyle/>
          <a:p>
            <a:endParaRPr lang="es-MX"/>
          </a:p>
        </p:txBody>
      </p:sp>
      <p:sp>
        <p:nvSpPr>
          <p:cNvPr id="6" name="Text 4"/>
          <p:cNvSpPr/>
          <p:nvPr/>
        </p:nvSpPr>
        <p:spPr>
          <a:xfrm>
            <a:off x="777240" y="1965960"/>
            <a:ext cx="548640" cy="548640"/>
          </a:xfrm>
          <a:prstGeom prst="rect">
            <a:avLst/>
          </a:prstGeom>
          <a:noFill/>
          <a:ln/>
        </p:spPr>
        <p:txBody>
          <a:bodyPr wrap="square" rtlCol="0" anchor="ctr"/>
          <a:lstStyle/>
          <a:p>
            <a:pPr marL="0" indent="0" algn="ctr">
              <a:buNone/>
            </a:pPr>
            <a:r>
              <a:rPr lang="en-US" sz="2000" b="1" dirty="0">
                <a:solidFill>
                  <a:srgbClr val="0B3D57"/>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777240" y="2651760"/>
            <a:ext cx="3154680" cy="365760"/>
          </a:xfrm>
          <a:prstGeom prst="rect">
            <a:avLst/>
          </a:prstGeom>
          <a:noFill/>
          <a:ln/>
        </p:spPr>
        <p:txBody>
          <a:bodyPr wrap="square" rtlCol="0" anchor="ctr"/>
          <a:lstStyle/>
          <a:p>
            <a:pPr marL="0" indent="0">
              <a:buNone/>
            </a:pPr>
            <a:r>
              <a:rPr lang="en-US" sz="1500" b="1" dirty="0">
                <a:solidFill>
                  <a:srgbClr val="0B3D57"/>
                </a:solidFill>
                <a:latin typeface="Calibri" pitchFamily="34" charset="0"/>
                <a:ea typeface="Calibri" pitchFamily="34" charset="-122"/>
                <a:cs typeface="Calibri" pitchFamily="34" charset="-120"/>
              </a:rPr>
              <a:t>Sensibilidad</a:t>
            </a:r>
            <a:endParaRPr lang="en-US" sz="1500" dirty="0"/>
          </a:p>
        </p:txBody>
      </p:sp>
      <p:sp>
        <p:nvSpPr>
          <p:cNvPr id="8" name="Text 6"/>
          <p:cNvSpPr/>
          <p:nvPr/>
        </p:nvSpPr>
        <p:spPr>
          <a:xfrm>
            <a:off x="777240" y="3063240"/>
            <a:ext cx="3154680" cy="914400"/>
          </a:xfrm>
          <a:prstGeom prst="rect">
            <a:avLst/>
          </a:prstGeom>
          <a:noFill/>
          <a:ln/>
        </p:spPr>
        <p:txBody>
          <a:bodyPr wrap="square" rtlCol="0" anchor="ctr"/>
          <a:lstStyle/>
          <a:p>
            <a:pPr marL="0" indent="0">
              <a:lnSpc>
                <a:spcPts val="1500"/>
              </a:lnSpc>
              <a:buNone/>
            </a:pPr>
            <a:r>
              <a:rPr lang="en-US" sz="1150" dirty="0">
                <a:solidFill>
                  <a:srgbClr val="17303B"/>
                </a:solidFill>
                <a:latin typeface="Calibri" pitchFamily="34" charset="0"/>
                <a:ea typeface="Calibri" pitchFamily="34" charset="-122"/>
                <a:cs typeface="Calibri" pitchFamily="34" charset="-120"/>
              </a:rPr>
              <a:t>Capacidad de encontrar el mayor número de coincidencias correctas (verdaderos positivos).</a:t>
            </a:r>
            <a:endParaRPr lang="en-US" sz="1150" dirty="0"/>
          </a:p>
        </p:txBody>
      </p:sp>
      <p:sp>
        <p:nvSpPr>
          <p:cNvPr id="9" name="Shape 7"/>
          <p:cNvSpPr/>
          <p:nvPr/>
        </p:nvSpPr>
        <p:spPr>
          <a:xfrm>
            <a:off x="4389120" y="1737360"/>
            <a:ext cx="3611880" cy="2286000"/>
          </a:xfrm>
          <a:prstGeom prst="roundRect">
            <a:avLst>
              <a:gd name="adj" fmla="val 3200"/>
            </a:avLst>
          </a:prstGeom>
          <a:solidFill>
            <a:srgbClr val="EAF4F4"/>
          </a:solidFill>
          <a:ln/>
        </p:spPr>
        <p:txBody>
          <a:bodyPr/>
          <a:lstStyle/>
          <a:p>
            <a:endParaRPr lang="es-MX"/>
          </a:p>
        </p:txBody>
      </p:sp>
      <p:sp>
        <p:nvSpPr>
          <p:cNvPr id="10" name="Shape 8"/>
          <p:cNvSpPr/>
          <p:nvPr/>
        </p:nvSpPr>
        <p:spPr>
          <a:xfrm>
            <a:off x="4617720" y="1965960"/>
            <a:ext cx="548640" cy="548640"/>
          </a:xfrm>
          <a:prstGeom prst="ellipse">
            <a:avLst/>
          </a:prstGeom>
          <a:solidFill>
            <a:srgbClr val="00C2A8"/>
          </a:solidFill>
          <a:ln/>
        </p:spPr>
        <p:txBody>
          <a:bodyPr/>
          <a:lstStyle/>
          <a:p>
            <a:endParaRPr lang="es-MX"/>
          </a:p>
        </p:txBody>
      </p:sp>
      <p:sp>
        <p:nvSpPr>
          <p:cNvPr id="11" name="Text 9"/>
          <p:cNvSpPr/>
          <p:nvPr/>
        </p:nvSpPr>
        <p:spPr>
          <a:xfrm>
            <a:off x="4617720" y="1965960"/>
            <a:ext cx="548640" cy="548640"/>
          </a:xfrm>
          <a:prstGeom prst="rect">
            <a:avLst/>
          </a:prstGeom>
          <a:noFill/>
          <a:ln/>
        </p:spPr>
        <p:txBody>
          <a:bodyPr wrap="square" rtlCol="0" anchor="ctr"/>
          <a:lstStyle/>
          <a:p>
            <a:pPr marL="0" indent="0" algn="ctr">
              <a:buNone/>
            </a:pPr>
            <a:r>
              <a:rPr lang="en-US" sz="2000" b="1" dirty="0">
                <a:solidFill>
                  <a:srgbClr val="0B3D57"/>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4617720" y="2651760"/>
            <a:ext cx="3154680" cy="365760"/>
          </a:xfrm>
          <a:prstGeom prst="rect">
            <a:avLst/>
          </a:prstGeom>
          <a:noFill/>
          <a:ln/>
        </p:spPr>
        <p:txBody>
          <a:bodyPr wrap="square" rtlCol="0" anchor="ctr"/>
          <a:lstStyle/>
          <a:p>
            <a:pPr marL="0" indent="0">
              <a:buNone/>
            </a:pPr>
            <a:r>
              <a:rPr lang="en-US" sz="1500" b="1" dirty="0">
                <a:solidFill>
                  <a:srgbClr val="0B3D57"/>
                </a:solidFill>
                <a:latin typeface="Calibri" pitchFamily="34" charset="0"/>
                <a:ea typeface="Calibri" pitchFamily="34" charset="-122"/>
                <a:cs typeface="Calibri" pitchFamily="34" charset="-120"/>
              </a:rPr>
              <a:t>Selectividad</a:t>
            </a:r>
            <a:endParaRPr lang="en-US" sz="1500" dirty="0"/>
          </a:p>
        </p:txBody>
      </p:sp>
      <p:sp>
        <p:nvSpPr>
          <p:cNvPr id="13" name="Text 11"/>
          <p:cNvSpPr/>
          <p:nvPr/>
        </p:nvSpPr>
        <p:spPr>
          <a:xfrm>
            <a:off x="4617720" y="3063240"/>
            <a:ext cx="3154680" cy="914400"/>
          </a:xfrm>
          <a:prstGeom prst="rect">
            <a:avLst/>
          </a:prstGeom>
          <a:noFill/>
          <a:ln/>
        </p:spPr>
        <p:txBody>
          <a:bodyPr wrap="square" rtlCol="0" anchor="ctr"/>
          <a:lstStyle/>
          <a:p>
            <a:pPr marL="0" indent="0">
              <a:lnSpc>
                <a:spcPts val="1500"/>
              </a:lnSpc>
              <a:buNone/>
            </a:pPr>
            <a:r>
              <a:rPr lang="en-US" sz="1150" dirty="0">
                <a:solidFill>
                  <a:srgbClr val="17303B"/>
                </a:solidFill>
                <a:latin typeface="Calibri" pitchFamily="34" charset="0"/>
                <a:ea typeface="Calibri" pitchFamily="34" charset="-122"/>
                <a:cs typeface="Calibri" pitchFamily="34" charset="-120"/>
              </a:rPr>
              <a:t>Capacidad de excluir coincidencias incorrectas (falsos positivos).</a:t>
            </a:r>
            <a:endParaRPr lang="en-US" sz="1150" dirty="0"/>
          </a:p>
        </p:txBody>
      </p:sp>
      <p:sp>
        <p:nvSpPr>
          <p:cNvPr id="14" name="Shape 12"/>
          <p:cNvSpPr/>
          <p:nvPr/>
        </p:nvSpPr>
        <p:spPr>
          <a:xfrm>
            <a:off x="8229600" y="1737360"/>
            <a:ext cx="3611880" cy="2286000"/>
          </a:xfrm>
          <a:prstGeom prst="roundRect">
            <a:avLst>
              <a:gd name="adj" fmla="val 3200"/>
            </a:avLst>
          </a:prstGeom>
          <a:solidFill>
            <a:srgbClr val="EAF4F4"/>
          </a:solidFill>
          <a:ln/>
        </p:spPr>
        <p:txBody>
          <a:bodyPr/>
          <a:lstStyle/>
          <a:p>
            <a:endParaRPr lang="es-MX"/>
          </a:p>
        </p:txBody>
      </p:sp>
      <p:sp>
        <p:nvSpPr>
          <p:cNvPr id="15" name="Shape 13"/>
          <p:cNvSpPr/>
          <p:nvPr/>
        </p:nvSpPr>
        <p:spPr>
          <a:xfrm>
            <a:off x="8458200" y="1965960"/>
            <a:ext cx="548640" cy="548640"/>
          </a:xfrm>
          <a:prstGeom prst="ellipse">
            <a:avLst/>
          </a:prstGeom>
          <a:solidFill>
            <a:srgbClr val="00C2A8"/>
          </a:solidFill>
          <a:ln/>
        </p:spPr>
        <p:txBody>
          <a:bodyPr/>
          <a:lstStyle/>
          <a:p>
            <a:endParaRPr lang="es-MX"/>
          </a:p>
        </p:txBody>
      </p:sp>
      <p:sp>
        <p:nvSpPr>
          <p:cNvPr id="16" name="Text 14"/>
          <p:cNvSpPr/>
          <p:nvPr/>
        </p:nvSpPr>
        <p:spPr>
          <a:xfrm>
            <a:off x="8458200" y="1965960"/>
            <a:ext cx="548640" cy="548640"/>
          </a:xfrm>
          <a:prstGeom prst="rect">
            <a:avLst/>
          </a:prstGeom>
          <a:noFill/>
          <a:ln/>
        </p:spPr>
        <p:txBody>
          <a:bodyPr wrap="square" rtlCol="0" anchor="ctr"/>
          <a:lstStyle/>
          <a:p>
            <a:pPr marL="0" indent="0" algn="ctr">
              <a:buNone/>
            </a:pPr>
            <a:r>
              <a:rPr lang="en-US" sz="2000" b="1" dirty="0">
                <a:solidFill>
                  <a:srgbClr val="0B3D57"/>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8458200" y="2651760"/>
            <a:ext cx="3154680" cy="365760"/>
          </a:xfrm>
          <a:prstGeom prst="rect">
            <a:avLst/>
          </a:prstGeom>
          <a:noFill/>
          <a:ln/>
        </p:spPr>
        <p:txBody>
          <a:bodyPr wrap="square" rtlCol="0" anchor="ctr"/>
          <a:lstStyle/>
          <a:p>
            <a:pPr marL="0" indent="0">
              <a:buNone/>
            </a:pPr>
            <a:r>
              <a:rPr lang="en-US" sz="1500" b="1" dirty="0">
                <a:solidFill>
                  <a:srgbClr val="0B3D57"/>
                </a:solidFill>
                <a:latin typeface="Calibri" pitchFamily="34" charset="0"/>
                <a:ea typeface="Calibri" pitchFamily="34" charset="-122"/>
                <a:cs typeface="Calibri" pitchFamily="34" charset="-120"/>
              </a:rPr>
              <a:t>Velocidad</a:t>
            </a:r>
            <a:endParaRPr lang="en-US" sz="1500" dirty="0"/>
          </a:p>
        </p:txBody>
      </p:sp>
      <p:sp>
        <p:nvSpPr>
          <p:cNvPr id="18" name="Text 16"/>
          <p:cNvSpPr/>
          <p:nvPr/>
        </p:nvSpPr>
        <p:spPr>
          <a:xfrm>
            <a:off x="8458200" y="3063240"/>
            <a:ext cx="3154680" cy="914400"/>
          </a:xfrm>
          <a:prstGeom prst="rect">
            <a:avLst/>
          </a:prstGeom>
          <a:noFill/>
          <a:ln/>
        </p:spPr>
        <p:txBody>
          <a:bodyPr wrap="square" rtlCol="0" anchor="ctr"/>
          <a:lstStyle/>
          <a:p>
            <a:pPr marL="0" indent="0">
              <a:lnSpc>
                <a:spcPts val="1500"/>
              </a:lnSpc>
              <a:buNone/>
            </a:pPr>
            <a:r>
              <a:rPr lang="en-US" sz="1150" dirty="0">
                <a:solidFill>
                  <a:srgbClr val="17303B"/>
                </a:solidFill>
                <a:latin typeface="Calibri" pitchFamily="34" charset="0"/>
                <a:ea typeface="Calibri" pitchFamily="34" charset="-122"/>
                <a:cs typeface="Calibri" pitchFamily="34" charset="-120"/>
              </a:rPr>
              <a:t>Tiempo que tarda el algoritmo en obtener resultados de la búsqueda en bases de datos.</a:t>
            </a:r>
            <a:endParaRPr lang="en-US" sz="1150" dirty="0"/>
          </a:p>
        </p:txBody>
      </p:sp>
      <p:sp>
        <p:nvSpPr>
          <p:cNvPr id="19" name="Shape 17"/>
          <p:cNvSpPr/>
          <p:nvPr/>
        </p:nvSpPr>
        <p:spPr>
          <a:xfrm>
            <a:off x="548640" y="4297680"/>
            <a:ext cx="11064240" cy="1463040"/>
          </a:xfrm>
          <a:prstGeom prst="roundRect">
            <a:avLst>
              <a:gd name="adj" fmla="val 5000"/>
            </a:avLst>
          </a:prstGeom>
          <a:solidFill>
            <a:srgbClr val="0B3D57"/>
          </a:solidFill>
          <a:ln/>
        </p:spPr>
        <p:txBody>
          <a:bodyPr/>
          <a:lstStyle/>
          <a:p>
            <a:endParaRPr lang="es-MX"/>
          </a:p>
        </p:txBody>
      </p:sp>
      <p:sp>
        <p:nvSpPr>
          <p:cNvPr id="20" name="Text 18"/>
          <p:cNvSpPr/>
          <p:nvPr/>
        </p:nvSpPr>
        <p:spPr>
          <a:xfrm>
            <a:off x="822960" y="4434840"/>
            <a:ext cx="10058400" cy="320040"/>
          </a:xfrm>
          <a:prstGeom prst="rect">
            <a:avLst/>
          </a:prstGeom>
          <a:noFill/>
          <a:ln/>
        </p:spPr>
        <p:txBody>
          <a:bodyPr wrap="square" rtlCol="0" anchor="ctr"/>
          <a:lstStyle/>
          <a:p>
            <a:pPr marL="0" indent="0">
              <a:buNone/>
            </a:pPr>
            <a:r>
              <a:rPr lang="en-US" sz="1300" b="1" dirty="0">
                <a:solidFill>
                  <a:srgbClr val="00C2A8"/>
                </a:solidFill>
                <a:latin typeface="Calibri" pitchFamily="34" charset="0"/>
                <a:ea typeface="Calibri" pitchFamily="34" charset="-122"/>
                <a:cs typeface="Calibri" pitchFamily="34" charset="-120"/>
              </a:rPr>
              <a:t>El dilema práctico</a:t>
            </a:r>
            <a:endParaRPr lang="en-US" sz="1300" dirty="0"/>
          </a:p>
        </p:txBody>
      </p:sp>
      <p:sp>
        <p:nvSpPr>
          <p:cNvPr id="21" name="Text 19"/>
          <p:cNvSpPr/>
          <p:nvPr/>
        </p:nvSpPr>
        <p:spPr>
          <a:xfrm>
            <a:off x="822960" y="4754880"/>
            <a:ext cx="10515600" cy="914400"/>
          </a:xfrm>
          <a:prstGeom prst="rect">
            <a:avLst/>
          </a:prstGeom>
          <a:noFill/>
          <a:ln/>
        </p:spPr>
        <p:txBody>
          <a:bodyPr wrap="square"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A mayor sensibilidad, mayor tiempo de cómputo; al reducir la sensibilidad, aumenta la selectividad pero también los falsos positivos. BLAST fue diseñado como una solución heurística a este equilibrio.</a:t>
            </a:r>
            <a:endParaRPr lang="en-US" sz="1250" dirty="0"/>
          </a:p>
        </p:txBody>
      </p:sp>
      <p:sp>
        <p:nvSpPr>
          <p:cNvPr id="22" name="Text 20"/>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7A85"/>
                </a:solidFill>
                <a:latin typeface="Calibri" pitchFamily="34" charset="0"/>
                <a:ea typeface="Calibri" pitchFamily="34" charset="-122"/>
                <a:cs typeface="Calibri" pitchFamily="34" charset="-120"/>
              </a:rPr>
              <a:t>BLAST y diseño de fármacos asistido por computadora</a:t>
            </a:r>
            <a:endParaRPr lang="en-US" sz="900" dirty="0"/>
          </a:p>
        </p:txBody>
      </p:sp>
      <p:sp>
        <p:nvSpPr>
          <p:cNvPr id="23" name="Text 21"/>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7A8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4919B"/>
                </a:solidFill>
                <a:latin typeface="Calibri" pitchFamily="34" charset="0"/>
                <a:ea typeface="Calibri" pitchFamily="34" charset="-122"/>
                <a:cs typeface="Calibri" pitchFamily="34" charset="-120"/>
              </a:rPr>
              <a:t>14.2.4-14.2.5 · ENFOQUES ALGORÍTMICOS</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buNone/>
            </a:pPr>
            <a:r>
              <a:rPr lang="en-US" sz="3200" b="1" dirty="0">
                <a:solidFill>
                  <a:srgbClr val="0B3D57"/>
                </a:solidFill>
                <a:latin typeface="Cambria" pitchFamily="34" charset="0"/>
                <a:ea typeface="Cambria" pitchFamily="34" charset="-122"/>
                <a:cs typeface="Cambria" pitchFamily="34" charset="-120"/>
              </a:rPr>
              <a:t>Búsqueda exhaustiva vs. heurística</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3017520"/>
        </p:xfrm>
        <a:graphic>
          <a:graphicData uri="http://schemas.openxmlformats.org/drawingml/2006/table">
            <a:tbl>
              <a:tblPr/>
              <a:tblGrid>
                <a:gridCol w="210312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603504">
                <a:tc>
                  <a:txBody>
                    <a:bodyPr/>
                    <a:lstStyle/>
                    <a:p>
                      <a:pPr marL="0" indent="0">
                        <a:buNone/>
                      </a:pPr>
                      <a:endParaRPr lang="en-US" sz="12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FFFFFF"/>
                          </a:solidFill>
                        </a:rPr>
                        <a:t>Exhaustiva (dinámica)</a:t>
                      </a:r>
                      <a:endParaRPr lang="en-US" sz="13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solidFill>
                      <a:srgbClr val="0B3D57"/>
                    </a:solidFill>
                  </a:tcPr>
                </a:tc>
                <a:tc>
                  <a:txBody>
                    <a:bodyPr/>
                    <a:lstStyle/>
                    <a:p>
                      <a:pPr marL="0" indent="0" algn="ctr">
                        <a:buNone/>
                      </a:pPr>
                      <a:r>
                        <a:rPr lang="en-US" sz="1300" b="1" dirty="0">
                          <a:solidFill>
                            <a:srgbClr val="FFFFFF"/>
                          </a:solidFill>
                        </a:rPr>
                        <a:t>Heurística (BLAST)</a:t>
                      </a:r>
                      <a:endParaRPr lang="en-US" sz="13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solidFill>
                      <a:srgbClr val="14919B"/>
                    </a:solidFill>
                  </a:tcPr>
                </a:tc>
                <a:extLst>
                  <a:ext uri="{0D108BD9-81ED-4DB2-BD59-A6C34878D82A}">
                    <a16:rowId xmlns:a16="http://schemas.microsoft.com/office/drawing/2014/main" val="10000"/>
                  </a:ext>
                </a:extLst>
              </a:tr>
              <a:tr h="603504">
                <a:tc>
                  <a:txBody>
                    <a:bodyPr/>
                    <a:lstStyle/>
                    <a:p>
                      <a:pPr marL="0" indent="0">
                        <a:buNone/>
                      </a:pPr>
                      <a:r>
                        <a:rPr lang="en-US" sz="1200" b="1" dirty="0">
                          <a:solidFill>
                            <a:srgbClr val="0B3D57"/>
                          </a:solidFill>
                        </a:rPr>
                        <a:t>Estrategia</a:t>
                      </a:r>
                      <a:endParaRPr lang="en-US" sz="12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tc>
                  <a:txBody>
                    <a:bodyPr/>
                    <a:lstStyle/>
                    <a:p>
                      <a:pPr marL="0" indent="0">
                        <a:buNone/>
                      </a:pPr>
                      <a:r>
                        <a:rPr lang="en-US" sz="1200" dirty="0">
                          <a:solidFill>
                            <a:srgbClr val="17303B"/>
                          </a:solidFill>
                        </a:rPr>
                        <a:t>Fuerza bruta: evalúa todas las combinaciones posibles</a:t>
                      </a:r>
                      <a:endParaRPr lang="en-US" sz="12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tc>
                  <a:txBody>
                    <a:bodyPr/>
                    <a:lstStyle/>
                    <a:p>
                      <a:pPr marL="0" indent="0">
                        <a:buNone/>
                      </a:pPr>
                      <a:r>
                        <a:rPr lang="en-US" sz="1200" dirty="0">
                          <a:solidFill>
                            <a:srgbClr val="17303B"/>
                          </a:solidFill>
                        </a:rPr>
                        <a:t>Atajos empíricos que aproximan la mejor solución</a:t>
                      </a:r>
                      <a:endParaRPr lang="en-US" sz="12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extLst>
                  <a:ext uri="{0D108BD9-81ED-4DB2-BD59-A6C34878D82A}">
                    <a16:rowId xmlns:a16="http://schemas.microsoft.com/office/drawing/2014/main" val="10001"/>
                  </a:ext>
                </a:extLst>
              </a:tr>
              <a:tr h="603504">
                <a:tc>
                  <a:txBody>
                    <a:bodyPr/>
                    <a:lstStyle/>
                    <a:p>
                      <a:pPr marL="0" indent="0">
                        <a:buNone/>
                      </a:pPr>
                      <a:r>
                        <a:rPr lang="en-US" sz="1200" b="1" dirty="0">
                          <a:solidFill>
                            <a:srgbClr val="0B3D57"/>
                          </a:solidFill>
                        </a:rPr>
                        <a:t>Precisión</a:t>
                      </a:r>
                      <a:endParaRPr lang="en-US" sz="12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tc>
                  <a:txBody>
                    <a:bodyPr/>
                    <a:lstStyle/>
                    <a:p>
                      <a:pPr marL="0" indent="0">
                        <a:buNone/>
                      </a:pPr>
                      <a:r>
                        <a:rPr lang="en-US" sz="1200" dirty="0">
                          <a:solidFill>
                            <a:srgbClr val="17303B"/>
                          </a:solidFill>
                        </a:rPr>
                        <a:t>Máxima — encuentra siempre la solución óptima</a:t>
                      </a:r>
                      <a:endParaRPr lang="en-US" sz="12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tc>
                  <a:txBody>
                    <a:bodyPr/>
                    <a:lstStyle/>
                    <a:p>
                      <a:pPr marL="0" indent="0">
                        <a:buNone/>
                      </a:pPr>
                      <a:r>
                        <a:rPr lang="en-US" sz="1200" dirty="0">
                          <a:solidFill>
                            <a:srgbClr val="17303B"/>
                          </a:solidFill>
                        </a:rPr>
                        <a:t>Casi óptima, resultados fiables en la práctica</a:t>
                      </a:r>
                      <a:endParaRPr lang="en-US" sz="12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extLst>
                  <a:ext uri="{0D108BD9-81ED-4DB2-BD59-A6C34878D82A}">
                    <a16:rowId xmlns:a16="http://schemas.microsoft.com/office/drawing/2014/main" val="10002"/>
                  </a:ext>
                </a:extLst>
              </a:tr>
              <a:tr h="603504">
                <a:tc>
                  <a:txBody>
                    <a:bodyPr/>
                    <a:lstStyle/>
                    <a:p>
                      <a:pPr marL="0" indent="0">
                        <a:buNone/>
                      </a:pPr>
                      <a:r>
                        <a:rPr lang="en-US" sz="1200" b="1" dirty="0">
                          <a:solidFill>
                            <a:srgbClr val="0B3D57"/>
                          </a:solidFill>
                        </a:rPr>
                        <a:t>Velocidad / costo</a:t>
                      </a:r>
                      <a:endParaRPr lang="en-US" sz="12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tc>
                  <a:txBody>
                    <a:bodyPr/>
                    <a:lstStyle/>
                    <a:p>
                      <a:pPr marL="0" indent="0">
                        <a:buNone/>
                      </a:pPr>
                      <a:r>
                        <a:rPr lang="en-US" sz="1200" dirty="0">
                          <a:solidFill>
                            <a:srgbClr val="17303B"/>
                          </a:solidFill>
                        </a:rPr>
                        <a:t>Lenta y muy costosa en memoria</a:t>
                      </a:r>
                      <a:endParaRPr lang="en-US" sz="12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tc>
                  <a:txBody>
                    <a:bodyPr/>
                    <a:lstStyle/>
                    <a:p>
                      <a:pPr marL="0" indent="0">
                        <a:buNone/>
                      </a:pPr>
                      <a:r>
                        <a:rPr lang="en-US" sz="1200" dirty="0">
                          <a:solidFill>
                            <a:srgbClr val="17303B"/>
                          </a:solidFill>
                        </a:rPr>
                        <a:t>Rápida y accesible; ideal para bases de datos masivas</a:t>
                      </a:r>
                      <a:endParaRPr lang="en-US" sz="12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extLst>
                  <a:ext uri="{0D108BD9-81ED-4DB2-BD59-A6C34878D82A}">
                    <a16:rowId xmlns:a16="http://schemas.microsoft.com/office/drawing/2014/main" val="10003"/>
                  </a:ext>
                </a:extLst>
              </a:tr>
              <a:tr h="603504">
                <a:tc>
                  <a:txBody>
                    <a:bodyPr/>
                    <a:lstStyle/>
                    <a:p>
                      <a:pPr marL="0" indent="0">
                        <a:buNone/>
                      </a:pPr>
                      <a:r>
                        <a:rPr lang="en-US" sz="1200" b="1" dirty="0">
                          <a:solidFill>
                            <a:srgbClr val="0B3D57"/>
                          </a:solidFill>
                        </a:rPr>
                        <a:t>Ejemplos</a:t>
                      </a:r>
                      <a:endParaRPr lang="en-US" sz="12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tc>
                  <a:txBody>
                    <a:bodyPr/>
                    <a:lstStyle/>
                    <a:p>
                      <a:pPr marL="0" indent="0">
                        <a:buNone/>
                      </a:pPr>
                      <a:r>
                        <a:rPr lang="en-US" sz="1200" dirty="0">
                          <a:solidFill>
                            <a:srgbClr val="17303B"/>
                          </a:solidFill>
                        </a:rPr>
                        <a:t>Needleman-Wunsch (global), Smith-Waterman (local)</a:t>
                      </a:r>
                      <a:endParaRPr lang="en-US" sz="12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tc>
                  <a:txBody>
                    <a:bodyPr/>
                    <a:lstStyle/>
                    <a:p>
                      <a:pPr marL="0" indent="0">
                        <a:buNone/>
                      </a:pPr>
                      <a:r>
                        <a:rPr lang="en-US" sz="1200" dirty="0">
                          <a:solidFill>
                            <a:srgbClr val="17303B"/>
                          </a:solidFill>
                        </a:rPr>
                        <a:t>BLAST, FASTA</a:t>
                      </a:r>
                      <a:endParaRPr lang="en-US" sz="12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548640" y="4937760"/>
            <a:ext cx="11064240" cy="1234440"/>
          </a:xfrm>
          <a:prstGeom prst="roundRect">
            <a:avLst>
              <a:gd name="adj" fmla="val 5926"/>
            </a:avLst>
          </a:prstGeom>
          <a:solidFill>
            <a:srgbClr val="EAF4F4"/>
          </a:solidFill>
          <a:ln/>
        </p:spPr>
        <p:txBody>
          <a:bodyPr/>
          <a:lstStyle/>
          <a:p>
            <a:endParaRPr lang="es-MX"/>
          </a:p>
        </p:txBody>
      </p:sp>
      <p:sp>
        <p:nvSpPr>
          <p:cNvPr id="6" name="Text 3"/>
          <p:cNvSpPr/>
          <p:nvPr/>
        </p:nvSpPr>
        <p:spPr>
          <a:xfrm>
            <a:off x="822960" y="5074920"/>
            <a:ext cx="10515600" cy="1005840"/>
          </a:xfrm>
          <a:prstGeom prst="rect">
            <a:avLst/>
          </a:prstGeom>
          <a:noFill/>
          <a:ln/>
        </p:spPr>
        <p:txBody>
          <a:bodyPr wrap="square" rtlCol="0" anchor="ctr"/>
          <a:lstStyle/>
          <a:p>
            <a:pPr marL="0" indent="0">
              <a:lnSpc>
                <a:spcPts val="1700"/>
              </a:lnSpc>
              <a:buNone/>
            </a:pPr>
            <a:r>
              <a:rPr lang="en-US" sz="1250" b="1" dirty="0">
                <a:solidFill>
                  <a:srgbClr val="14919B"/>
                </a:solidFill>
                <a:latin typeface="Calibri" pitchFamily="34" charset="0"/>
                <a:ea typeface="Calibri" pitchFamily="34" charset="-122"/>
                <a:cs typeface="Calibri" pitchFamily="34" charset="-120"/>
              </a:rPr>
              <a:t>Supuestos heurísticos clave:  </a:t>
            </a:r>
            <a:r>
              <a:rPr lang="en-US" sz="1250" dirty="0">
                <a:solidFill>
                  <a:srgbClr val="17303B"/>
                </a:solidFill>
                <a:latin typeface="Calibri" pitchFamily="34" charset="0"/>
                <a:ea typeface="Calibri" pitchFamily="34" charset="-122"/>
                <a:cs typeface="Calibri" pitchFamily="34" charset="-120"/>
              </a:rPr>
              <a:t>(1) las sustituciones ocurren con mayor frecuencia que los indels; (2) las secuencias homólogas contienen segmentos largos sin gaps que sirven como punto de partida para la búsqueda.</a:t>
            </a:r>
            <a:endParaRPr lang="en-US" sz="1250" dirty="0"/>
          </a:p>
        </p:txBody>
      </p:sp>
      <p:sp>
        <p:nvSpPr>
          <p:cNvPr id="7" name="Text 4"/>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7A85"/>
                </a:solidFill>
                <a:latin typeface="Calibri" pitchFamily="34" charset="0"/>
                <a:ea typeface="Calibri" pitchFamily="34" charset="-122"/>
                <a:cs typeface="Calibri" pitchFamily="34" charset="-120"/>
              </a:rPr>
              <a:t>BLAST y diseño de fármacos asistido por computadora</a:t>
            </a:r>
            <a:endParaRPr lang="en-US" sz="900" dirty="0"/>
          </a:p>
        </p:txBody>
      </p:sp>
      <p:sp>
        <p:nvSpPr>
          <p:cNvPr id="8" name="Text 5"/>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7A8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4919B"/>
                </a:solidFill>
                <a:latin typeface="Calibri" pitchFamily="34" charset="0"/>
                <a:ea typeface="Calibri" pitchFamily="34" charset="-122"/>
                <a:cs typeface="Calibri" pitchFamily="34" charset="-120"/>
              </a:rPr>
              <a:t>14.2.5 · PROGRAMACIÓN DINÁMICA</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buNone/>
            </a:pPr>
            <a:r>
              <a:rPr lang="en-US" sz="3200" b="1" dirty="0">
                <a:solidFill>
                  <a:srgbClr val="0B3D57"/>
                </a:solidFill>
                <a:latin typeface="Cambria" pitchFamily="34" charset="0"/>
                <a:ea typeface="Cambria" pitchFamily="34" charset="-122"/>
                <a:cs typeface="Cambria" pitchFamily="34" charset="-120"/>
              </a:rPr>
              <a:t>La matriz de alineamiento global</a:t>
            </a:r>
            <a:endParaRPr lang="en-US" sz="3200" dirty="0"/>
          </a:p>
        </p:txBody>
      </p:sp>
      <p:pic>
        <p:nvPicPr>
          <p:cNvPr id="4" name="Image 0" descr="/home/claude/work/img/fig14_6.jpg"/>
          <p:cNvPicPr>
            <a:picLocks noChangeAspect="1"/>
          </p:cNvPicPr>
          <p:nvPr/>
        </p:nvPicPr>
        <p:blipFill>
          <a:blip r:embed="rId3"/>
          <a:stretch>
            <a:fillRect/>
          </a:stretch>
        </p:blipFill>
        <p:spPr>
          <a:xfrm>
            <a:off x="585216" y="1645920"/>
            <a:ext cx="6876288" cy="4416552"/>
          </a:xfrm>
          <a:prstGeom prst="rect">
            <a:avLst/>
          </a:prstGeom>
        </p:spPr>
      </p:pic>
      <p:sp>
        <p:nvSpPr>
          <p:cNvPr id="5" name="Text 2"/>
          <p:cNvSpPr/>
          <p:nvPr/>
        </p:nvSpPr>
        <p:spPr>
          <a:xfrm>
            <a:off x="548640" y="6108192"/>
            <a:ext cx="6949440" cy="548640"/>
          </a:xfrm>
          <a:prstGeom prst="rect">
            <a:avLst/>
          </a:prstGeom>
          <a:noFill/>
          <a:ln/>
        </p:spPr>
        <p:txBody>
          <a:bodyPr wrap="square" rtlCol="0" anchor="ctr"/>
          <a:lstStyle/>
          <a:p>
            <a:pPr marL="0" indent="0">
              <a:buNone/>
            </a:pPr>
            <a:r>
              <a:rPr lang="en-US" sz="900" i="1" dirty="0">
                <a:solidFill>
                  <a:srgbClr val="5C7A85"/>
                </a:solidFill>
                <a:latin typeface="Calibri" pitchFamily="34" charset="0"/>
                <a:ea typeface="Calibri" pitchFamily="34" charset="-122"/>
                <a:cs typeface="Calibri" pitchFamily="34" charset="-120"/>
              </a:rPr>
              <a:t>Fig. 14.6 — Enfoque exhaustivo de alineamiento por pares (global). Cada casilla se puntúa desde abajo, el lateral y la diagonal; el retroceso desde la esquina superior derecha revela el mejor alineamiento.</a:t>
            </a:r>
            <a:endParaRPr lang="en-US" sz="900" dirty="0"/>
          </a:p>
        </p:txBody>
      </p:sp>
      <p:sp>
        <p:nvSpPr>
          <p:cNvPr id="6" name="Text 3"/>
          <p:cNvSpPr/>
          <p:nvPr/>
        </p:nvSpPr>
        <p:spPr>
          <a:xfrm>
            <a:off x="7726680" y="1691640"/>
            <a:ext cx="3931920" cy="365760"/>
          </a:xfrm>
          <a:prstGeom prst="rect">
            <a:avLst/>
          </a:prstGeom>
          <a:noFill/>
          <a:ln/>
        </p:spPr>
        <p:txBody>
          <a:bodyPr wrap="square" rtlCol="0" anchor="ctr"/>
          <a:lstStyle/>
          <a:p>
            <a:pPr marL="0" indent="0">
              <a:buNone/>
            </a:pPr>
            <a:r>
              <a:rPr lang="en-US" sz="1400" b="1" dirty="0">
                <a:solidFill>
                  <a:srgbClr val="0B3D57"/>
                </a:solidFill>
                <a:latin typeface="Calibri" pitchFamily="34" charset="0"/>
                <a:ea typeface="Calibri" pitchFamily="34" charset="-122"/>
                <a:cs typeface="Calibri" pitchFamily="34" charset="-120"/>
              </a:rPr>
              <a:t>Cómo se llena la matriz</a:t>
            </a:r>
            <a:endParaRPr lang="en-US" sz="1400" dirty="0"/>
          </a:p>
        </p:txBody>
      </p:sp>
      <p:sp>
        <p:nvSpPr>
          <p:cNvPr id="7" name="Text 4"/>
          <p:cNvSpPr/>
          <p:nvPr/>
        </p:nvSpPr>
        <p:spPr>
          <a:xfrm>
            <a:off x="7726680" y="2148840"/>
            <a:ext cx="365760" cy="548640"/>
          </a:xfrm>
          <a:prstGeom prst="rect">
            <a:avLst/>
          </a:prstGeom>
          <a:noFill/>
          <a:ln/>
        </p:spPr>
        <p:txBody>
          <a:bodyPr wrap="square" rtlCol="0" anchor="ctr"/>
          <a:lstStyle/>
          <a:p>
            <a:pPr marL="0" indent="0">
              <a:buNone/>
            </a:pPr>
            <a:r>
              <a:rPr lang="en-US" sz="1300" b="1" dirty="0">
                <a:solidFill>
                  <a:srgbClr val="00C2A8"/>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8092440" y="2148840"/>
            <a:ext cx="3566160" cy="777240"/>
          </a:xfrm>
          <a:prstGeom prst="rect">
            <a:avLst/>
          </a:prstGeom>
          <a:noFill/>
          <a:ln/>
        </p:spPr>
        <p:txBody>
          <a:bodyPr wrap="square" rtlCol="0" anchor="ctr"/>
          <a:lstStyle/>
          <a:p>
            <a:pPr marL="0" indent="0">
              <a:lnSpc>
                <a:spcPts val="1500"/>
              </a:lnSpc>
              <a:buNone/>
            </a:pPr>
            <a:r>
              <a:rPr lang="en-US" sz="1150" dirty="0">
                <a:solidFill>
                  <a:srgbClr val="17303B"/>
                </a:solidFill>
                <a:latin typeface="Calibri" pitchFamily="34" charset="0"/>
                <a:ea typeface="Calibri" pitchFamily="34" charset="-122"/>
                <a:cs typeface="Calibri" pitchFamily="34" charset="-120"/>
              </a:rPr>
              <a:t>Se construye una matriz 2D con una secuencia en cada eje.</a:t>
            </a:r>
            <a:endParaRPr lang="en-US" sz="1150" dirty="0"/>
          </a:p>
        </p:txBody>
      </p:sp>
      <p:sp>
        <p:nvSpPr>
          <p:cNvPr id="9" name="Text 6"/>
          <p:cNvSpPr/>
          <p:nvPr/>
        </p:nvSpPr>
        <p:spPr>
          <a:xfrm>
            <a:off x="7726680" y="3017520"/>
            <a:ext cx="365760" cy="548640"/>
          </a:xfrm>
          <a:prstGeom prst="rect">
            <a:avLst/>
          </a:prstGeom>
          <a:noFill/>
          <a:ln/>
        </p:spPr>
        <p:txBody>
          <a:bodyPr wrap="square" rtlCol="0" anchor="ctr"/>
          <a:lstStyle/>
          <a:p>
            <a:pPr marL="0" indent="0">
              <a:buNone/>
            </a:pPr>
            <a:r>
              <a:rPr lang="en-US" sz="1300" b="1" dirty="0">
                <a:solidFill>
                  <a:srgbClr val="00C2A8"/>
                </a:solidFill>
                <a:latin typeface="Calibri" pitchFamily="34" charset="0"/>
                <a:ea typeface="Calibri" pitchFamily="34" charset="-122"/>
                <a:cs typeface="Calibri" pitchFamily="34" charset="-120"/>
              </a:rPr>
              <a:t>2.</a:t>
            </a:r>
            <a:endParaRPr lang="en-US" sz="1300" dirty="0"/>
          </a:p>
        </p:txBody>
      </p:sp>
      <p:sp>
        <p:nvSpPr>
          <p:cNvPr id="10" name="Text 7"/>
          <p:cNvSpPr/>
          <p:nvPr/>
        </p:nvSpPr>
        <p:spPr>
          <a:xfrm>
            <a:off x="8092440" y="3017520"/>
            <a:ext cx="3566160" cy="777240"/>
          </a:xfrm>
          <a:prstGeom prst="rect">
            <a:avLst/>
          </a:prstGeom>
          <a:noFill/>
          <a:ln/>
        </p:spPr>
        <p:txBody>
          <a:bodyPr wrap="square" rtlCol="0" anchor="ctr"/>
          <a:lstStyle/>
          <a:p>
            <a:pPr marL="0" indent="0">
              <a:lnSpc>
                <a:spcPts val="1500"/>
              </a:lnSpc>
              <a:buNone/>
            </a:pPr>
            <a:r>
              <a:rPr lang="en-US" sz="1150" dirty="0">
                <a:solidFill>
                  <a:srgbClr val="17303B"/>
                </a:solidFill>
                <a:latin typeface="Calibri" pitchFamily="34" charset="0"/>
                <a:ea typeface="Calibri" pitchFamily="34" charset="-122"/>
                <a:cs typeface="Calibri" pitchFamily="34" charset="-120"/>
              </a:rPr>
              <a:t>Cada casilla recibe un puntaje según match/mismatch/gap (o matriz de sustitución).</a:t>
            </a:r>
            <a:endParaRPr lang="en-US" sz="1150" dirty="0"/>
          </a:p>
        </p:txBody>
      </p:sp>
      <p:sp>
        <p:nvSpPr>
          <p:cNvPr id="11" name="Text 8"/>
          <p:cNvSpPr/>
          <p:nvPr/>
        </p:nvSpPr>
        <p:spPr>
          <a:xfrm>
            <a:off x="7726680" y="3886200"/>
            <a:ext cx="365760" cy="548640"/>
          </a:xfrm>
          <a:prstGeom prst="rect">
            <a:avLst/>
          </a:prstGeom>
          <a:noFill/>
          <a:ln/>
        </p:spPr>
        <p:txBody>
          <a:bodyPr wrap="square" rtlCol="0" anchor="ctr"/>
          <a:lstStyle/>
          <a:p>
            <a:pPr marL="0" indent="0">
              <a:buNone/>
            </a:pPr>
            <a:r>
              <a:rPr lang="en-US" sz="1300" b="1" dirty="0">
                <a:solidFill>
                  <a:srgbClr val="00C2A8"/>
                </a:solidFill>
                <a:latin typeface="Calibri" pitchFamily="34" charset="0"/>
                <a:ea typeface="Calibri" pitchFamily="34" charset="-122"/>
                <a:cs typeface="Calibri" pitchFamily="34" charset="-120"/>
              </a:rPr>
              <a:t>3.</a:t>
            </a:r>
            <a:endParaRPr lang="en-US" sz="1300" dirty="0"/>
          </a:p>
        </p:txBody>
      </p:sp>
      <p:sp>
        <p:nvSpPr>
          <p:cNvPr id="12" name="Text 9"/>
          <p:cNvSpPr/>
          <p:nvPr/>
        </p:nvSpPr>
        <p:spPr>
          <a:xfrm>
            <a:off x="8092440" y="3886200"/>
            <a:ext cx="3566160" cy="777240"/>
          </a:xfrm>
          <a:prstGeom prst="rect">
            <a:avLst/>
          </a:prstGeom>
          <a:noFill/>
          <a:ln/>
        </p:spPr>
        <p:txBody>
          <a:bodyPr wrap="square" rtlCol="0" anchor="ctr"/>
          <a:lstStyle/>
          <a:p>
            <a:pPr marL="0" indent="0">
              <a:lnSpc>
                <a:spcPts val="1500"/>
              </a:lnSpc>
              <a:buNone/>
            </a:pPr>
            <a:r>
              <a:rPr lang="en-US" sz="1150" dirty="0">
                <a:solidFill>
                  <a:srgbClr val="17303B"/>
                </a:solidFill>
                <a:latin typeface="Calibri" pitchFamily="34" charset="0"/>
                <a:ea typeface="Calibri" pitchFamily="34" charset="-122"/>
                <a:cs typeface="Calibri" pitchFamily="34" charset="-120"/>
              </a:rPr>
              <a:t>Se conserva el valor más alto de las tres direcciones posibles.</a:t>
            </a:r>
            <a:endParaRPr lang="en-US" sz="1150" dirty="0"/>
          </a:p>
        </p:txBody>
      </p:sp>
      <p:sp>
        <p:nvSpPr>
          <p:cNvPr id="13" name="Text 10"/>
          <p:cNvSpPr/>
          <p:nvPr/>
        </p:nvSpPr>
        <p:spPr>
          <a:xfrm>
            <a:off x="7726680" y="4754880"/>
            <a:ext cx="365760" cy="548640"/>
          </a:xfrm>
          <a:prstGeom prst="rect">
            <a:avLst/>
          </a:prstGeom>
          <a:noFill/>
          <a:ln/>
        </p:spPr>
        <p:txBody>
          <a:bodyPr wrap="square" rtlCol="0" anchor="ctr"/>
          <a:lstStyle/>
          <a:p>
            <a:pPr marL="0" indent="0">
              <a:buNone/>
            </a:pPr>
            <a:r>
              <a:rPr lang="en-US" sz="1300" b="1" dirty="0">
                <a:solidFill>
                  <a:srgbClr val="00C2A8"/>
                </a:solidFill>
                <a:latin typeface="Calibri" pitchFamily="34" charset="0"/>
                <a:ea typeface="Calibri" pitchFamily="34" charset="-122"/>
                <a:cs typeface="Calibri" pitchFamily="34" charset="-120"/>
              </a:rPr>
              <a:t>4.</a:t>
            </a:r>
            <a:endParaRPr lang="en-US" sz="1300" dirty="0"/>
          </a:p>
        </p:txBody>
      </p:sp>
      <p:sp>
        <p:nvSpPr>
          <p:cNvPr id="14" name="Text 11"/>
          <p:cNvSpPr/>
          <p:nvPr/>
        </p:nvSpPr>
        <p:spPr>
          <a:xfrm>
            <a:off x="8092440" y="4754880"/>
            <a:ext cx="3566160" cy="777240"/>
          </a:xfrm>
          <a:prstGeom prst="rect">
            <a:avLst/>
          </a:prstGeom>
          <a:noFill/>
          <a:ln/>
        </p:spPr>
        <p:txBody>
          <a:bodyPr wrap="square" rtlCol="0" anchor="ctr"/>
          <a:lstStyle/>
          <a:p>
            <a:pPr marL="0" indent="0">
              <a:lnSpc>
                <a:spcPts val="1500"/>
              </a:lnSpc>
              <a:buNone/>
            </a:pPr>
            <a:r>
              <a:rPr lang="en-US" sz="1150" dirty="0">
                <a:solidFill>
                  <a:srgbClr val="17303B"/>
                </a:solidFill>
                <a:latin typeface="Calibri" pitchFamily="34" charset="0"/>
                <a:ea typeface="Calibri" pitchFamily="34" charset="-122"/>
                <a:cs typeface="Calibri" pitchFamily="34" charset="-120"/>
              </a:rPr>
              <a:t>El retroceso (backtracking) desde la esquina final reconstruye el mejor alineamiento global.</a:t>
            </a:r>
            <a:endParaRPr lang="en-US" sz="1150" dirty="0"/>
          </a:p>
        </p:txBody>
      </p:sp>
      <p:sp>
        <p:nvSpPr>
          <p:cNvPr id="15" name="Text 12"/>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7A85"/>
                </a:solidFill>
                <a:latin typeface="Calibri" pitchFamily="34" charset="0"/>
                <a:ea typeface="Calibri" pitchFamily="34" charset="-122"/>
                <a:cs typeface="Calibri" pitchFamily="34" charset="-120"/>
              </a:rPr>
              <a:t>BLAST y diseño de fármacos asistido por computadora</a:t>
            </a:r>
            <a:endParaRPr lang="en-US" sz="900" dirty="0"/>
          </a:p>
        </p:txBody>
      </p:sp>
      <p:sp>
        <p:nvSpPr>
          <p:cNvPr id="16" name="Text 13"/>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7A8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3D57"/>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4919B"/>
                </a:solidFill>
                <a:latin typeface="Calibri" pitchFamily="34" charset="0"/>
                <a:ea typeface="Calibri" pitchFamily="34" charset="-122"/>
                <a:cs typeface="Calibri" pitchFamily="34" charset="-120"/>
              </a:rPr>
              <a:t>14.3 · DEFINICIÓN</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Definición formal de BLAST</a:t>
            </a:r>
            <a:endParaRPr lang="en-US" sz="3200" dirty="0"/>
          </a:p>
        </p:txBody>
      </p:sp>
      <p:sp>
        <p:nvSpPr>
          <p:cNvPr id="4" name="Shape 2"/>
          <p:cNvSpPr/>
          <p:nvPr/>
        </p:nvSpPr>
        <p:spPr>
          <a:xfrm>
            <a:off x="548640" y="1691640"/>
            <a:ext cx="11064240" cy="1554480"/>
          </a:xfrm>
          <a:prstGeom prst="roundRect">
            <a:avLst>
              <a:gd name="adj" fmla="val 4706"/>
            </a:avLst>
          </a:prstGeom>
          <a:solidFill>
            <a:srgbClr val="12496B"/>
          </a:solidFill>
          <a:ln/>
        </p:spPr>
        <p:txBody>
          <a:bodyPr/>
          <a:lstStyle/>
          <a:p>
            <a:endParaRPr lang="es-MX"/>
          </a:p>
        </p:txBody>
      </p:sp>
      <p:sp>
        <p:nvSpPr>
          <p:cNvPr id="5" name="Text 3"/>
          <p:cNvSpPr/>
          <p:nvPr/>
        </p:nvSpPr>
        <p:spPr>
          <a:xfrm>
            <a:off x="868680" y="1874520"/>
            <a:ext cx="10424160" cy="1234440"/>
          </a:xfrm>
          <a:prstGeom prst="rect">
            <a:avLst/>
          </a:prstGeom>
          <a:noFill/>
          <a:ln/>
        </p:spPr>
        <p:txBody>
          <a:bodyPr wrap="square" rtlCol="0" anchor="ctr"/>
          <a:lstStyle/>
          <a:p>
            <a:pPr marL="0" indent="0">
              <a:lnSpc>
                <a:spcPts val="2000"/>
              </a:lnSpc>
              <a:buNone/>
            </a:pPr>
            <a:r>
              <a:rPr lang="en-US" sz="1400" dirty="0">
                <a:solidFill>
                  <a:srgbClr val="FFFFFF"/>
                </a:solidFill>
                <a:latin typeface="Calibri" pitchFamily="34" charset="0"/>
                <a:ea typeface="Calibri" pitchFamily="34" charset="-122"/>
                <a:cs typeface="Calibri" pitchFamily="34" charset="-120"/>
              </a:rPr>
              <a:t>BLAST (Altschul et al., 1990, 1997) es un algoritmo de comparación de secuencias optimizado para velocidad, usado para buscar en bases de datos los alineamientos locales óptimos de una secuencia consulta. Deriva del modelo estocástico de 1990 de Samuel Karlin y Stephen Altschul.</a:t>
            </a:r>
            <a:endParaRPr lang="en-US" sz="1400" dirty="0"/>
          </a:p>
        </p:txBody>
      </p:sp>
      <p:sp>
        <p:nvSpPr>
          <p:cNvPr id="6" name="Shape 4"/>
          <p:cNvSpPr/>
          <p:nvPr/>
        </p:nvSpPr>
        <p:spPr>
          <a:xfrm>
            <a:off x="548640" y="3520440"/>
            <a:ext cx="5349240" cy="1554480"/>
          </a:xfrm>
          <a:prstGeom prst="roundRect">
            <a:avLst>
              <a:gd name="adj" fmla="val 4706"/>
            </a:avLst>
          </a:prstGeom>
          <a:solidFill>
            <a:srgbClr val="14919B"/>
          </a:solidFill>
          <a:ln/>
        </p:spPr>
        <p:txBody>
          <a:bodyPr/>
          <a:lstStyle/>
          <a:p>
            <a:endParaRPr lang="es-MX"/>
          </a:p>
        </p:txBody>
      </p:sp>
      <p:sp>
        <p:nvSpPr>
          <p:cNvPr id="7" name="Text 5"/>
          <p:cNvSpPr/>
          <p:nvPr/>
        </p:nvSpPr>
        <p:spPr>
          <a:xfrm>
            <a:off x="822960" y="3657600"/>
            <a:ext cx="4800600" cy="5029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Secuencia consulta (query)</a:t>
            </a:r>
            <a:endParaRPr lang="en-US" sz="1400" dirty="0"/>
          </a:p>
        </p:txBody>
      </p:sp>
      <p:sp>
        <p:nvSpPr>
          <p:cNvPr id="8" name="Text 6"/>
          <p:cNvSpPr/>
          <p:nvPr/>
        </p:nvSpPr>
        <p:spPr>
          <a:xfrm>
            <a:off x="822960" y="4160520"/>
            <a:ext cx="4800600" cy="822960"/>
          </a:xfrm>
          <a:prstGeom prst="rect">
            <a:avLst/>
          </a:prstGeom>
          <a:noFill/>
          <a:ln/>
        </p:spPr>
        <p:txBody>
          <a:bodyPr wrap="square" rtlCol="0" anchor="ctr"/>
          <a:lstStyle/>
          <a:p>
            <a:pPr marL="0" indent="0">
              <a:lnSpc>
                <a:spcPts val="1600"/>
              </a:lnSpc>
              <a:buNone/>
            </a:pPr>
            <a:r>
              <a:rPr lang="en-US" sz="1200" dirty="0">
                <a:solidFill>
                  <a:srgbClr val="EAF4F4"/>
                </a:solidFill>
                <a:latin typeface="Calibri" pitchFamily="34" charset="0"/>
                <a:ea typeface="Calibri" pitchFamily="34" charset="-122"/>
                <a:cs typeface="Calibri" pitchFamily="34" charset="-120"/>
              </a:rPr>
              <a:t>La secuencia de nucleótidos o proteína que se desea buscar.</a:t>
            </a:r>
            <a:endParaRPr lang="en-US" sz="1200" dirty="0"/>
          </a:p>
        </p:txBody>
      </p:sp>
      <p:sp>
        <p:nvSpPr>
          <p:cNvPr id="9" name="Shape 7"/>
          <p:cNvSpPr/>
          <p:nvPr/>
        </p:nvSpPr>
        <p:spPr>
          <a:xfrm>
            <a:off x="6263640" y="3520440"/>
            <a:ext cx="5349240" cy="1554480"/>
          </a:xfrm>
          <a:prstGeom prst="roundRect">
            <a:avLst>
              <a:gd name="adj" fmla="val 4706"/>
            </a:avLst>
          </a:prstGeom>
          <a:solidFill>
            <a:srgbClr val="14919B"/>
          </a:solidFill>
          <a:ln/>
        </p:spPr>
        <p:txBody>
          <a:bodyPr/>
          <a:lstStyle/>
          <a:p>
            <a:endParaRPr lang="es-MX"/>
          </a:p>
        </p:txBody>
      </p:sp>
      <p:sp>
        <p:nvSpPr>
          <p:cNvPr id="10" name="Text 8"/>
          <p:cNvSpPr/>
          <p:nvPr/>
        </p:nvSpPr>
        <p:spPr>
          <a:xfrm>
            <a:off x="6537960" y="3657600"/>
            <a:ext cx="4800600" cy="5029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Secuencia(s) objetivo / base de datos</a:t>
            </a:r>
            <a:endParaRPr lang="en-US" sz="1400" dirty="0"/>
          </a:p>
        </p:txBody>
      </p:sp>
      <p:sp>
        <p:nvSpPr>
          <p:cNvPr id="11" name="Text 9"/>
          <p:cNvSpPr/>
          <p:nvPr/>
        </p:nvSpPr>
        <p:spPr>
          <a:xfrm>
            <a:off x="6537960" y="4160520"/>
            <a:ext cx="4800600" cy="822960"/>
          </a:xfrm>
          <a:prstGeom prst="rect">
            <a:avLst/>
          </a:prstGeom>
          <a:noFill/>
          <a:ln/>
        </p:spPr>
        <p:txBody>
          <a:bodyPr wrap="square" rtlCol="0" anchor="ctr"/>
          <a:lstStyle/>
          <a:p>
            <a:pPr marL="0" indent="0">
              <a:lnSpc>
                <a:spcPts val="1600"/>
              </a:lnSpc>
              <a:buNone/>
            </a:pPr>
            <a:r>
              <a:rPr lang="en-US" sz="1200" dirty="0">
                <a:solidFill>
                  <a:srgbClr val="EAF4F4"/>
                </a:solidFill>
                <a:latin typeface="Calibri" pitchFamily="34" charset="0"/>
                <a:ea typeface="Calibri" pitchFamily="34" charset="-122"/>
                <a:cs typeface="Calibri" pitchFamily="34" charset="-120"/>
              </a:rPr>
              <a:t>La biblioteca de secuencias contra la que se alinea la consulta para identificar coincidencias significativas.</a:t>
            </a:r>
            <a:endParaRPr lang="en-US" sz="1200" dirty="0"/>
          </a:p>
        </p:txBody>
      </p:sp>
      <p:sp>
        <p:nvSpPr>
          <p:cNvPr id="12" name="Text 10"/>
          <p:cNvSpPr/>
          <p:nvPr/>
        </p:nvSpPr>
        <p:spPr>
          <a:xfrm>
            <a:off x="548640" y="5349240"/>
            <a:ext cx="11064240" cy="640080"/>
          </a:xfrm>
          <a:prstGeom prst="rect">
            <a:avLst/>
          </a:prstGeom>
          <a:noFill/>
          <a:ln/>
        </p:spPr>
        <p:txBody>
          <a:bodyPr wrap="square" rtlCol="0" anchor="ctr"/>
          <a:lstStyle/>
          <a:p>
            <a:pPr marL="0" indent="0">
              <a:buNone/>
            </a:pPr>
            <a:r>
              <a:rPr lang="en-US" sz="1200" i="1" dirty="0">
                <a:solidFill>
                  <a:srgbClr val="9FC7CF"/>
                </a:solidFill>
                <a:latin typeface="Calibri" pitchFamily="34" charset="0"/>
                <a:ea typeface="Calibri" pitchFamily="34" charset="-122"/>
                <a:cs typeface="Calibri" pitchFamily="34" charset="-120"/>
              </a:rPr>
              <a:t>Creado por Stephen Altschul et al. en el NIH · Publicado en Journal of Molecular Biology, 1990. Mejora sustancial en velocidad respecto a Smith-Waterman y FASTA.</a:t>
            </a:r>
            <a:endParaRPr lang="en-US" sz="1200" dirty="0"/>
          </a:p>
        </p:txBody>
      </p:sp>
      <p:sp>
        <p:nvSpPr>
          <p:cNvPr id="13" name="Text 11"/>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7A85"/>
                </a:solidFill>
                <a:latin typeface="Calibri" pitchFamily="34" charset="0"/>
                <a:ea typeface="Calibri" pitchFamily="34" charset="-122"/>
                <a:cs typeface="Calibri" pitchFamily="34" charset="-120"/>
              </a:rPr>
              <a:t>BLAST y diseño de fármacos asistido por computadora</a:t>
            </a:r>
            <a:endParaRPr lang="en-US" sz="900" dirty="0"/>
          </a:p>
        </p:txBody>
      </p:sp>
      <p:sp>
        <p:nvSpPr>
          <p:cNvPr id="14" name="Text 12"/>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7A8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4919B"/>
                </a:solidFill>
                <a:latin typeface="Calibri" pitchFamily="34" charset="0"/>
                <a:ea typeface="Calibri" pitchFamily="34" charset="-122"/>
                <a:cs typeface="Calibri" pitchFamily="34" charset="-120"/>
              </a:rPr>
              <a:t>14.4 · CÓMO FUNCIONA BLAST — PASO 1</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buNone/>
            </a:pPr>
            <a:r>
              <a:rPr lang="en-US" sz="3200" b="1" dirty="0">
                <a:solidFill>
                  <a:srgbClr val="0B3D57"/>
                </a:solidFill>
                <a:latin typeface="Cambria" pitchFamily="34" charset="0"/>
                <a:ea typeface="Cambria" pitchFamily="34" charset="-122"/>
                <a:cs typeface="Cambria" pitchFamily="34" charset="-120"/>
              </a:rPr>
              <a:t>Sembrado ("seeding") de palabras</a:t>
            </a:r>
            <a:endParaRPr lang="en-US" sz="3200" dirty="0"/>
          </a:p>
        </p:txBody>
      </p:sp>
      <p:sp>
        <p:nvSpPr>
          <p:cNvPr id="4" name="Text 2"/>
          <p:cNvSpPr/>
          <p:nvPr/>
        </p:nvSpPr>
        <p:spPr>
          <a:xfrm>
            <a:off x="548640" y="1645920"/>
            <a:ext cx="10881360" cy="822960"/>
          </a:xfrm>
          <a:prstGeom prst="rect">
            <a:avLst/>
          </a:prstGeom>
          <a:noFill/>
          <a:ln/>
        </p:spPr>
        <p:txBody>
          <a:bodyPr wrap="square" rtlCol="0" anchor="ctr"/>
          <a:lstStyle/>
          <a:p>
            <a:pPr marL="0" indent="0">
              <a:lnSpc>
                <a:spcPts val="1900"/>
              </a:lnSpc>
              <a:buNone/>
            </a:pPr>
            <a:r>
              <a:rPr lang="en-US" sz="1350" dirty="0">
                <a:solidFill>
                  <a:srgbClr val="17303B"/>
                </a:solidFill>
                <a:latin typeface="Calibri" pitchFamily="34" charset="0"/>
                <a:ea typeface="Calibri" pitchFamily="34" charset="-122"/>
                <a:cs typeface="Calibri" pitchFamily="34" charset="-120"/>
              </a:rPr>
              <a:t>BLAST fragmenta la secuencia consulta en "palabras": subcadenas de 11 nucleótidos (ADN) o 3 aminoácidos (proteína). Se genera la lista de todas las palabras posibles a partir de la secuencia.</a:t>
            </a:r>
            <a:endParaRPr lang="en-US" sz="1350" dirty="0"/>
          </a:p>
        </p:txBody>
      </p:sp>
      <p:pic>
        <p:nvPicPr>
          <p:cNvPr id="5" name="Image 0" descr="/home/claude/work/img/fig14_7.jpg"/>
          <p:cNvPicPr>
            <a:picLocks noChangeAspect="1"/>
          </p:cNvPicPr>
          <p:nvPr/>
        </p:nvPicPr>
        <p:blipFill>
          <a:blip r:embed="rId3"/>
          <a:stretch>
            <a:fillRect/>
          </a:stretch>
        </p:blipFill>
        <p:spPr>
          <a:xfrm>
            <a:off x="3657600" y="2514600"/>
            <a:ext cx="4846320" cy="3566160"/>
          </a:xfrm>
          <a:prstGeom prst="rect">
            <a:avLst/>
          </a:prstGeom>
        </p:spPr>
      </p:pic>
      <p:sp>
        <p:nvSpPr>
          <p:cNvPr id="6" name="Text 3"/>
          <p:cNvSpPr/>
          <p:nvPr/>
        </p:nvSpPr>
        <p:spPr>
          <a:xfrm>
            <a:off x="2103120" y="6144768"/>
            <a:ext cx="7955280" cy="320040"/>
          </a:xfrm>
          <a:prstGeom prst="rect">
            <a:avLst/>
          </a:prstGeom>
          <a:noFill/>
          <a:ln/>
        </p:spPr>
        <p:txBody>
          <a:bodyPr wrap="square" rtlCol="0" anchor="ctr"/>
          <a:lstStyle/>
          <a:p>
            <a:pPr marL="0" indent="0" algn="ctr">
              <a:buNone/>
            </a:pPr>
            <a:r>
              <a:rPr lang="en-US" sz="900" i="1" dirty="0">
                <a:solidFill>
                  <a:srgbClr val="5C7A85"/>
                </a:solidFill>
                <a:latin typeface="Calibri" pitchFamily="34" charset="0"/>
                <a:ea typeface="Calibri" pitchFamily="34" charset="-122"/>
                <a:cs typeface="Calibri" pitchFamily="34" charset="-120"/>
              </a:rPr>
              <a:t>Fig. 14.7 — Sembrado de una secuencia de aminoácidos: se generan todas las "palabras" posibles (tripletes).</a:t>
            </a:r>
            <a:endParaRPr lang="en-US" sz="900" dirty="0"/>
          </a:p>
        </p:txBody>
      </p:sp>
      <p:sp>
        <p:nvSpPr>
          <p:cNvPr id="7" name="Text 4"/>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7A85"/>
                </a:solidFill>
                <a:latin typeface="Calibri" pitchFamily="34" charset="0"/>
                <a:ea typeface="Calibri" pitchFamily="34" charset="-122"/>
                <a:cs typeface="Calibri" pitchFamily="34" charset="-120"/>
              </a:rPr>
              <a:t>BLAST y diseño de fármacos asistido por computadora</a:t>
            </a:r>
            <a:endParaRPr lang="en-US" sz="900" dirty="0"/>
          </a:p>
        </p:txBody>
      </p:sp>
      <p:sp>
        <p:nvSpPr>
          <p:cNvPr id="8" name="Text 5"/>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7A8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4919B"/>
                </a:solidFill>
                <a:latin typeface="Calibri" pitchFamily="34" charset="0"/>
                <a:ea typeface="Calibri" pitchFamily="34" charset="-122"/>
                <a:cs typeface="Calibri" pitchFamily="34" charset="-120"/>
              </a:rPr>
              <a:t>14.4 · CÓMO FUNCIONA BLAST — PASO 2</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buNone/>
            </a:pPr>
            <a:r>
              <a:rPr lang="en-US" sz="3200" b="1" dirty="0">
                <a:solidFill>
                  <a:srgbClr val="0B3D57"/>
                </a:solidFill>
                <a:latin typeface="Cambria" pitchFamily="34" charset="0"/>
                <a:ea typeface="Cambria" pitchFamily="34" charset="-122"/>
                <a:cs typeface="Cambria" pitchFamily="34" charset="-120"/>
              </a:rPr>
              <a:t>Puntuación y filtrado de palabras</a:t>
            </a:r>
            <a:endParaRPr lang="en-US" sz="3200" dirty="0"/>
          </a:p>
        </p:txBody>
      </p:sp>
      <p:pic>
        <p:nvPicPr>
          <p:cNvPr id="4" name="Image 0" descr="/home/claude/work/img/fig14_8.jpg"/>
          <p:cNvPicPr>
            <a:picLocks noChangeAspect="1"/>
          </p:cNvPicPr>
          <p:nvPr/>
        </p:nvPicPr>
        <p:blipFill>
          <a:blip r:embed="rId3"/>
          <a:stretch>
            <a:fillRect/>
          </a:stretch>
        </p:blipFill>
        <p:spPr>
          <a:xfrm>
            <a:off x="2194560" y="1737360"/>
            <a:ext cx="7763256" cy="3977640"/>
          </a:xfrm>
          <a:prstGeom prst="rect">
            <a:avLst/>
          </a:prstGeom>
        </p:spPr>
      </p:pic>
      <p:sp>
        <p:nvSpPr>
          <p:cNvPr id="5" name="Text 2"/>
          <p:cNvSpPr/>
          <p:nvPr/>
        </p:nvSpPr>
        <p:spPr>
          <a:xfrm>
            <a:off x="548640" y="5760720"/>
            <a:ext cx="11064240" cy="365760"/>
          </a:xfrm>
          <a:prstGeom prst="rect">
            <a:avLst/>
          </a:prstGeom>
          <a:noFill/>
          <a:ln/>
        </p:spPr>
        <p:txBody>
          <a:bodyPr wrap="square" rtlCol="0" anchor="ctr"/>
          <a:lstStyle/>
          <a:p>
            <a:pPr marL="0" indent="0" algn="ctr">
              <a:buNone/>
            </a:pPr>
            <a:r>
              <a:rPr lang="en-US" sz="900" i="1" dirty="0">
                <a:solidFill>
                  <a:srgbClr val="5C7A85"/>
                </a:solidFill>
                <a:latin typeface="Calibri" pitchFamily="34" charset="0"/>
                <a:ea typeface="Calibri" pitchFamily="34" charset="-122"/>
                <a:cs typeface="Calibri" pitchFamily="34" charset="-120"/>
              </a:rPr>
              <a:t>Fig. 14.8 — (a) Cada palabra recibe el mejor puntaje posible según BLOSUM62. (b) Solo las palabras sobre el umbral (opción -f) continúan a la etapa de extensión.</a:t>
            </a:r>
            <a:endParaRPr lang="en-US" sz="900" dirty="0"/>
          </a:p>
        </p:txBody>
      </p:sp>
      <p:sp>
        <p:nvSpPr>
          <p:cNvPr id="6" name="Text 3"/>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7A85"/>
                </a:solidFill>
                <a:latin typeface="Calibri" pitchFamily="34" charset="0"/>
                <a:ea typeface="Calibri" pitchFamily="34" charset="-122"/>
                <a:cs typeface="Calibri" pitchFamily="34" charset="-120"/>
              </a:rPr>
              <a:t>BLAST y diseño de fármacos asistido por computadora</a:t>
            </a:r>
            <a:endParaRPr lang="en-US" sz="900" dirty="0"/>
          </a:p>
        </p:txBody>
      </p:sp>
      <p:sp>
        <p:nvSpPr>
          <p:cNvPr id="7" name="Text 4"/>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7A85"/>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4919B"/>
                </a:solidFill>
                <a:latin typeface="Calibri" pitchFamily="34" charset="0"/>
                <a:ea typeface="Calibri" pitchFamily="34" charset="-122"/>
                <a:cs typeface="Calibri" pitchFamily="34" charset="-120"/>
              </a:rPr>
              <a:t>14.4 · CÓMO FUNCIONA BLAST — PASO 3</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buNone/>
            </a:pPr>
            <a:r>
              <a:rPr lang="en-US" sz="3200" b="1" dirty="0">
                <a:solidFill>
                  <a:srgbClr val="0B3D57"/>
                </a:solidFill>
                <a:latin typeface="Cambria" pitchFamily="34" charset="0"/>
                <a:ea typeface="Cambria" pitchFamily="34" charset="-122"/>
                <a:cs typeface="Cambria" pitchFamily="34" charset="-120"/>
              </a:rPr>
              <a:t>Extensión y el par de segmentos de alto puntaje (HSP)</a:t>
            </a:r>
            <a:endParaRPr lang="en-US" sz="3200" dirty="0"/>
          </a:p>
        </p:txBody>
      </p:sp>
      <p:sp>
        <p:nvSpPr>
          <p:cNvPr id="4" name="Text 2"/>
          <p:cNvSpPr/>
          <p:nvPr/>
        </p:nvSpPr>
        <p:spPr>
          <a:xfrm>
            <a:off x="548640" y="1600200"/>
            <a:ext cx="10881360" cy="914400"/>
          </a:xfrm>
          <a:prstGeom prst="rect">
            <a:avLst/>
          </a:prstGeom>
          <a:noFill/>
          <a:ln/>
        </p:spPr>
        <p:txBody>
          <a:bodyPr wrap="square" rtlCol="0" anchor="ctr"/>
          <a:lstStyle/>
          <a:p>
            <a:pPr marL="0" indent="0">
              <a:lnSpc>
                <a:spcPts val="1800"/>
              </a:lnSpc>
              <a:buNone/>
            </a:pPr>
            <a:r>
              <a:rPr lang="en-US" sz="1300" dirty="0">
                <a:solidFill>
                  <a:srgbClr val="17303B"/>
                </a:solidFill>
                <a:latin typeface="Calibri" pitchFamily="34" charset="0"/>
                <a:ea typeface="Calibri" pitchFamily="34" charset="-122"/>
                <a:cs typeface="Calibri" pitchFamily="34" charset="-120"/>
              </a:rPr>
              <a:t>Las palabras que superan el umbral se extienden en ambas direcciones mientras el puntaje acumulado se mantenga por encima del límite de caída (20 para ADN, 22 para proteína). El resultado sin gaps es el HSP (High-Scoring Segment Pair).</a:t>
            </a:r>
            <a:endParaRPr lang="en-US" sz="1300" dirty="0"/>
          </a:p>
        </p:txBody>
      </p:sp>
      <p:pic>
        <p:nvPicPr>
          <p:cNvPr id="5" name="Image 0" descr="/home/claude/work/img/fig14_9.jpg"/>
          <p:cNvPicPr>
            <a:picLocks noChangeAspect="1"/>
          </p:cNvPicPr>
          <p:nvPr/>
        </p:nvPicPr>
        <p:blipFill>
          <a:blip r:embed="rId3"/>
          <a:stretch>
            <a:fillRect/>
          </a:stretch>
        </p:blipFill>
        <p:spPr>
          <a:xfrm>
            <a:off x="3054096" y="2697480"/>
            <a:ext cx="6053328" cy="3337560"/>
          </a:xfrm>
          <a:prstGeom prst="rect">
            <a:avLst/>
          </a:prstGeom>
        </p:spPr>
      </p:pic>
      <p:sp>
        <p:nvSpPr>
          <p:cNvPr id="6" name="Text 3"/>
          <p:cNvSpPr/>
          <p:nvPr/>
        </p:nvSpPr>
        <p:spPr>
          <a:xfrm>
            <a:off x="1280160" y="6108192"/>
            <a:ext cx="9601200" cy="457200"/>
          </a:xfrm>
          <a:prstGeom prst="rect">
            <a:avLst/>
          </a:prstGeom>
          <a:noFill/>
          <a:ln/>
        </p:spPr>
        <p:txBody>
          <a:bodyPr wrap="square" rtlCol="0" anchor="ctr"/>
          <a:lstStyle/>
          <a:p>
            <a:pPr marL="0" indent="0" algn="ctr">
              <a:buNone/>
            </a:pPr>
            <a:r>
              <a:rPr lang="en-US" sz="900" i="1" dirty="0">
                <a:solidFill>
                  <a:srgbClr val="5C7A85"/>
                </a:solidFill>
                <a:latin typeface="Calibri" pitchFamily="34" charset="0"/>
                <a:ea typeface="Calibri" pitchFamily="34" charset="-122"/>
                <a:cs typeface="Calibri" pitchFamily="34" charset="-120"/>
              </a:rPr>
              <a:t>Fig. 14.9 — (a) Un gap une dos "palabras" para formar el HSP. (b) Puntuación del HSP con BLOSUM62, incluyendo penalización por apertura y extensión de gap. Puntaje bruto ("raw score") final: 54.</a:t>
            </a:r>
            <a:endParaRPr lang="en-US" sz="900" dirty="0"/>
          </a:p>
        </p:txBody>
      </p:sp>
      <p:sp>
        <p:nvSpPr>
          <p:cNvPr id="7" name="Text 4"/>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7A85"/>
                </a:solidFill>
                <a:latin typeface="Calibri" pitchFamily="34" charset="0"/>
                <a:ea typeface="Calibri" pitchFamily="34" charset="-122"/>
                <a:cs typeface="Calibri" pitchFamily="34" charset="-120"/>
              </a:rPr>
              <a:t>BLAST y diseño de fármacos asistido por computadora</a:t>
            </a:r>
            <a:endParaRPr lang="en-US" sz="900" dirty="0"/>
          </a:p>
        </p:txBody>
      </p:sp>
      <p:sp>
        <p:nvSpPr>
          <p:cNvPr id="8" name="Text 5"/>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7A85"/>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4919B"/>
                </a:solidFill>
                <a:latin typeface="Calibri" pitchFamily="34" charset="0"/>
                <a:ea typeface="Calibri" pitchFamily="34" charset="-122"/>
                <a:cs typeface="Calibri" pitchFamily="34" charset="-120"/>
              </a:rPr>
              <a:t>14.4 · SIGNIFICANCIA ESTADÍSTICA</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buNone/>
            </a:pPr>
            <a:r>
              <a:rPr lang="en-US" sz="3200" b="1" dirty="0">
                <a:solidFill>
                  <a:srgbClr val="0B3D57"/>
                </a:solidFill>
                <a:latin typeface="Cambria" pitchFamily="34" charset="0"/>
                <a:ea typeface="Cambria" pitchFamily="34" charset="-122"/>
                <a:cs typeface="Cambria" pitchFamily="34" charset="-120"/>
              </a:rPr>
              <a:t>¿Es significativo el puntaje? El P-value</a:t>
            </a:r>
            <a:endParaRPr lang="en-US" sz="3200" dirty="0"/>
          </a:p>
        </p:txBody>
      </p:sp>
      <p:pic>
        <p:nvPicPr>
          <p:cNvPr id="4" name="Image 0" descr="/home/claude/work/img/fig14_10.jpg"/>
          <p:cNvPicPr>
            <a:picLocks noChangeAspect="1"/>
          </p:cNvPicPr>
          <p:nvPr/>
        </p:nvPicPr>
        <p:blipFill>
          <a:blip r:embed="rId3"/>
          <a:stretch>
            <a:fillRect/>
          </a:stretch>
        </p:blipFill>
        <p:spPr>
          <a:xfrm>
            <a:off x="978408" y="1691640"/>
            <a:ext cx="4992624" cy="4297680"/>
          </a:xfrm>
          <a:prstGeom prst="rect">
            <a:avLst/>
          </a:prstGeom>
        </p:spPr>
      </p:pic>
      <p:sp>
        <p:nvSpPr>
          <p:cNvPr id="5" name="Text 2"/>
          <p:cNvSpPr/>
          <p:nvPr/>
        </p:nvSpPr>
        <p:spPr>
          <a:xfrm>
            <a:off x="548640" y="6035040"/>
            <a:ext cx="5852160" cy="457200"/>
          </a:xfrm>
          <a:prstGeom prst="rect">
            <a:avLst/>
          </a:prstGeom>
          <a:noFill/>
          <a:ln/>
        </p:spPr>
        <p:txBody>
          <a:bodyPr wrap="square" rtlCol="0" anchor="ctr"/>
          <a:lstStyle/>
          <a:p>
            <a:pPr marL="0" indent="0" algn="ctr">
              <a:buNone/>
            </a:pPr>
            <a:r>
              <a:rPr lang="en-US" sz="900" i="1" dirty="0">
                <a:solidFill>
                  <a:srgbClr val="5C7A85"/>
                </a:solidFill>
                <a:latin typeface="Calibri" pitchFamily="34" charset="0"/>
                <a:ea typeface="Calibri" pitchFamily="34" charset="-122"/>
                <a:cs typeface="Calibri" pitchFamily="34" charset="-120"/>
              </a:rPr>
              <a:t>Fig. 14.10 — Gráfico inverso: a mayor puntaje, menor número de alineamientos aleatorios con puntaje igual o mayor (menor P-value).</a:t>
            </a:r>
            <a:endParaRPr lang="en-US" sz="900" dirty="0"/>
          </a:p>
        </p:txBody>
      </p:sp>
      <p:sp>
        <p:nvSpPr>
          <p:cNvPr id="6" name="Text 3"/>
          <p:cNvSpPr/>
          <p:nvPr/>
        </p:nvSpPr>
        <p:spPr>
          <a:xfrm>
            <a:off x="6629400" y="1691640"/>
            <a:ext cx="4983480" cy="914400"/>
          </a:xfrm>
          <a:prstGeom prst="rect">
            <a:avLst/>
          </a:prstGeom>
          <a:noFill/>
          <a:ln/>
        </p:spPr>
        <p:txBody>
          <a:bodyPr wrap="square" rtlCol="0" anchor="ctr"/>
          <a:lstStyle/>
          <a:p>
            <a:pPr marL="0" indent="0">
              <a:lnSpc>
                <a:spcPts val="1700"/>
              </a:lnSpc>
              <a:buNone/>
            </a:pPr>
            <a:r>
              <a:rPr lang="en-US" sz="1250" dirty="0">
                <a:solidFill>
                  <a:srgbClr val="17303B"/>
                </a:solidFill>
                <a:latin typeface="Calibri" pitchFamily="34" charset="0"/>
                <a:ea typeface="Calibri" pitchFamily="34" charset="-122"/>
                <a:cs typeface="Calibri" pitchFamily="34" charset="-120"/>
              </a:rPr>
              <a:t>El P-value es la probabilidad de que el alineamiento observado sea producto del azar. Cuanto más cercano a cero, más significativo el resultado.</a:t>
            </a:r>
            <a:endParaRPr lang="en-US" sz="12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29400" y="2697480"/>
          <a:ext cx="4983480" cy="3108960"/>
        </p:xfrm>
        <a:graphic>
          <a:graphicData uri="http://schemas.openxmlformats.org/drawingml/2006/table">
            <a:tbl>
              <a:tblPr/>
              <a:tblGrid>
                <a:gridCol w="228600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tblGrid>
              <a:tr h="518160">
                <a:tc>
                  <a:txBody>
                    <a:bodyPr/>
                    <a:lstStyle/>
                    <a:p>
                      <a:pPr marL="0" indent="0" algn="ctr">
                        <a:buNone/>
                      </a:pPr>
                      <a:r>
                        <a:rPr lang="en-US" sz="1150" b="1" dirty="0">
                          <a:solidFill>
                            <a:srgbClr val="FFFFFF"/>
                          </a:solidFill>
                        </a:rPr>
                        <a:t>P-value</a:t>
                      </a:r>
                      <a:endParaRPr lang="en-US" sz="115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solidFill>
                      <a:srgbClr val="0B3D57"/>
                    </a:solidFill>
                  </a:tcPr>
                </a:tc>
                <a:tc>
                  <a:txBody>
                    <a:bodyPr/>
                    <a:lstStyle/>
                    <a:p>
                      <a:pPr marL="0" indent="0" algn="ctr">
                        <a:buNone/>
                      </a:pPr>
                      <a:r>
                        <a:rPr lang="en-US" sz="1150" b="1" dirty="0">
                          <a:solidFill>
                            <a:srgbClr val="FFFFFF"/>
                          </a:solidFill>
                        </a:rPr>
                        <a:t>Inferencia</a:t>
                      </a:r>
                      <a:endParaRPr lang="en-US" sz="115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solidFill>
                      <a:srgbClr val="0B3D57"/>
                    </a:solidFill>
                  </a:tcPr>
                </a:tc>
                <a:extLst>
                  <a:ext uri="{0D108BD9-81ED-4DB2-BD59-A6C34878D82A}">
                    <a16:rowId xmlns:a16="http://schemas.microsoft.com/office/drawing/2014/main" val="10000"/>
                  </a:ext>
                </a:extLst>
              </a:tr>
              <a:tr h="518160">
                <a:tc>
                  <a:txBody>
                    <a:bodyPr/>
                    <a:lstStyle/>
                    <a:p>
                      <a:pPr marL="0" indent="0">
                        <a:buNone/>
                      </a:pPr>
                      <a:r>
                        <a:rPr lang="en-US" sz="1100" dirty="0">
                          <a:solidFill>
                            <a:srgbClr val="17303B"/>
                          </a:solidFill>
                        </a:rPr>
                        <a:t>&lt; 1×10⁻¹⁰⁰</a:t>
                      </a:r>
                      <a:endParaRPr lang="en-US" sz="11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tc>
                  <a:txBody>
                    <a:bodyPr/>
                    <a:lstStyle/>
                    <a:p>
                      <a:pPr marL="0" indent="0">
                        <a:buNone/>
                      </a:pPr>
                      <a:r>
                        <a:rPr lang="en-US" sz="1100" dirty="0">
                          <a:solidFill>
                            <a:srgbClr val="17303B"/>
                          </a:solidFill>
                        </a:rPr>
                        <a:t>Secuencias idénticas</a:t>
                      </a:r>
                      <a:endParaRPr lang="en-US" sz="11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extLst>
                  <a:ext uri="{0D108BD9-81ED-4DB2-BD59-A6C34878D82A}">
                    <a16:rowId xmlns:a16="http://schemas.microsoft.com/office/drawing/2014/main" val="10001"/>
                  </a:ext>
                </a:extLst>
              </a:tr>
              <a:tr h="518160">
                <a:tc>
                  <a:txBody>
                    <a:bodyPr/>
                    <a:lstStyle/>
                    <a:p>
                      <a:pPr marL="0" indent="0">
                        <a:buNone/>
                      </a:pPr>
                      <a:r>
                        <a:rPr lang="en-US" sz="1100" dirty="0">
                          <a:solidFill>
                            <a:srgbClr val="17303B"/>
                          </a:solidFill>
                        </a:rPr>
                        <a:t>1×10⁻⁵⁰ a 1×10⁻¹⁰⁰</a:t>
                      </a:r>
                      <a:endParaRPr lang="en-US" sz="11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tc>
                  <a:txBody>
                    <a:bodyPr/>
                    <a:lstStyle/>
                    <a:p>
                      <a:pPr marL="0" indent="0">
                        <a:buNone/>
                      </a:pPr>
                      <a:r>
                        <a:rPr lang="en-US" sz="1100" dirty="0">
                          <a:solidFill>
                            <a:srgbClr val="17303B"/>
                          </a:solidFill>
                        </a:rPr>
                        <a:t>Secuencias casi idénticas</a:t>
                      </a:r>
                      <a:endParaRPr lang="en-US" sz="11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extLst>
                  <a:ext uri="{0D108BD9-81ED-4DB2-BD59-A6C34878D82A}">
                    <a16:rowId xmlns:a16="http://schemas.microsoft.com/office/drawing/2014/main" val="10002"/>
                  </a:ext>
                </a:extLst>
              </a:tr>
              <a:tr h="518160">
                <a:tc>
                  <a:txBody>
                    <a:bodyPr/>
                    <a:lstStyle/>
                    <a:p>
                      <a:pPr marL="0" indent="0">
                        <a:buNone/>
                      </a:pPr>
                      <a:r>
                        <a:rPr lang="en-US" sz="1100" dirty="0">
                          <a:solidFill>
                            <a:srgbClr val="17303B"/>
                          </a:solidFill>
                        </a:rPr>
                        <a:t>1×10⁻⁵ a 1×10⁻⁵⁰</a:t>
                      </a:r>
                      <a:endParaRPr lang="en-US" sz="11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tc>
                  <a:txBody>
                    <a:bodyPr/>
                    <a:lstStyle/>
                    <a:p>
                      <a:pPr marL="0" indent="0">
                        <a:buNone/>
                      </a:pPr>
                      <a:r>
                        <a:rPr lang="en-US" sz="1100" dirty="0">
                          <a:solidFill>
                            <a:srgbClr val="17303B"/>
                          </a:solidFill>
                        </a:rPr>
                        <a:t>Secuencias homólogas</a:t>
                      </a:r>
                      <a:endParaRPr lang="en-US" sz="11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extLst>
                  <a:ext uri="{0D108BD9-81ED-4DB2-BD59-A6C34878D82A}">
                    <a16:rowId xmlns:a16="http://schemas.microsoft.com/office/drawing/2014/main" val="10003"/>
                  </a:ext>
                </a:extLst>
              </a:tr>
              <a:tr h="518160">
                <a:tc>
                  <a:txBody>
                    <a:bodyPr/>
                    <a:lstStyle/>
                    <a:p>
                      <a:pPr marL="0" indent="0">
                        <a:buNone/>
                      </a:pPr>
                      <a:r>
                        <a:rPr lang="en-US" sz="1100" dirty="0">
                          <a:solidFill>
                            <a:srgbClr val="17303B"/>
                          </a:solidFill>
                        </a:rPr>
                        <a:t>1×10⁻¹ a 1×10⁻⁵</a:t>
                      </a:r>
                      <a:endParaRPr lang="en-US" sz="11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tc>
                  <a:txBody>
                    <a:bodyPr/>
                    <a:lstStyle/>
                    <a:p>
                      <a:pPr marL="0" indent="0">
                        <a:buNone/>
                      </a:pPr>
                      <a:r>
                        <a:rPr lang="en-US" sz="1100" dirty="0">
                          <a:solidFill>
                            <a:srgbClr val="17303B"/>
                          </a:solidFill>
                        </a:rPr>
                        <a:t>Homología distante</a:t>
                      </a:r>
                      <a:endParaRPr lang="en-US" sz="11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extLst>
                  <a:ext uri="{0D108BD9-81ED-4DB2-BD59-A6C34878D82A}">
                    <a16:rowId xmlns:a16="http://schemas.microsoft.com/office/drawing/2014/main" val="10004"/>
                  </a:ext>
                </a:extLst>
              </a:tr>
              <a:tr h="518160">
                <a:tc>
                  <a:txBody>
                    <a:bodyPr/>
                    <a:lstStyle/>
                    <a:p>
                      <a:pPr marL="0" indent="0">
                        <a:buNone/>
                      </a:pPr>
                      <a:r>
                        <a:rPr lang="en-US" sz="1100" dirty="0">
                          <a:solidFill>
                            <a:srgbClr val="17303B"/>
                          </a:solidFill>
                        </a:rPr>
                        <a:t>&gt; 1×10⁻¹</a:t>
                      </a:r>
                      <a:endParaRPr lang="en-US" sz="11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tc>
                  <a:txBody>
                    <a:bodyPr/>
                    <a:lstStyle/>
                    <a:p>
                      <a:pPr marL="0" indent="0">
                        <a:buNone/>
                      </a:pPr>
                      <a:r>
                        <a:rPr lang="en-US" sz="1100" dirty="0">
                          <a:solidFill>
                            <a:srgbClr val="17303B"/>
                          </a:solidFill>
                        </a:rPr>
                        <a:t>Posible alineamiento al azar</a:t>
                      </a:r>
                      <a:endParaRPr lang="en-US" sz="11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6629400" y="5852160"/>
            <a:ext cx="4983480" cy="320040"/>
          </a:xfrm>
          <a:prstGeom prst="rect">
            <a:avLst/>
          </a:prstGeom>
          <a:noFill/>
          <a:ln/>
        </p:spPr>
        <p:txBody>
          <a:bodyPr wrap="square" rtlCol="0" anchor="ctr"/>
          <a:lstStyle/>
          <a:p>
            <a:pPr marL="0" indent="0">
              <a:buNone/>
            </a:pPr>
            <a:r>
              <a:rPr lang="en-US" sz="900" i="1" dirty="0">
                <a:solidFill>
                  <a:srgbClr val="5C7A85"/>
                </a:solidFill>
                <a:latin typeface="Calibri" pitchFamily="34" charset="0"/>
                <a:ea typeface="Calibri" pitchFamily="34" charset="-122"/>
                <a:cs typeface="Calibri" pitchFamily="34" charset="-120"/>
              </a:rPr>
              <a:t>Tabla 14.2 — Reglas prácticas de inferencia según el P-value.</a:t>
            </a:r>
            <a:endParaRPr lang="en-US" sz="900" dirty="0"/>
          </a:p>
        </p:txBody>
      </p:sp>
      <p:sp>
        <p:nvSpPr>
          <p:cNvPr id="9" name="Text 5"/>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7A85"/>
                </a:solidFill>
                <a:latin typeface="Calibri" pitchFamily="34" charset="0"/>
                <a:ea typeface="Calibri" pitchFamily="34" charset="-122"/>
                <a:cs typeface="Calibri" pitchFamily="34" charset="-120"/>
              </a:rPr>
              <a:t>BLAST y diseño de fármacos asistido por computadora</a:t>
            </a:r>
            <a:endParaRPr lang="en-US" sz="900" dirty="0"/>
          </a:p>
        </p:txBody>
      </p:sp>
      <p:sp>
        <p:nvSpPr>
          <p:cNvPr id="10" name="Text 6"/>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7A85"/>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4919B"/>
                </a:solidFill>
                <a:latin typeface="Calibri" pitchFamily="34" charset="0"/>
                <a:ea typeface="Calibri" pitchFamily="34" charset="-122"/>
                <a:cs typeface="Calibri" pitchFamily="34" charset="-120"/>
              </a:rPr>
              <a:t>14.4 · EL E-VALUE</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buNone/>
            </a:pPr>
            <a:r>
              <a:rPr lang="en-US" sz="3200" b="1" dirty="0">
                <a:solidFill>
                  <a:srgbClr val="0B3D57"/>
                </a:solidFill>
                <a:latin typeface="Cambria" pitchFamily="34" charset="0"/>
                <a:ea typeface="Cambria" pitchFamily="34" charset="-122"/>
                <a:cs typeface="Cambria" pitchFamily="34" charset="-120"/>
              </a:rPr>
              <a:t>Del P-value al E-value y al bit score</a:t>
            </a:r>
            <a:endParaRPr lang="en-US" sz="3200" dirty="0"/>
          </a:p>
        </p:txBody>
      </p:sp>
      <p:sp>
        <p:nvSpPr>
          <p:cNvPr id="4" name="Text 2"/>
          <p:cNvSpPr/>
          <p:nvPr/>
        </p:nvSpPr>
        <p:spPr>
          <a:xfrm>
            <a:off x="548640" y="1600200"/>
            <a:ext cx="10881360" cy="1005840"/>
          </a:xfrm>
          <a:prstGeom prst="rect">
            <a:avLst/>
          </a:prstGeom>
          <a:noFill/>
          <a:ln/>
        </p:spPr>
        <p:txBody>
          <a:bodyPr wrap="square" rtlCol="0" anchor="ctr"/>
          <a:lstStyle/>
          <a:p>
            <a:pPr marL="0" indent="0">
              <a:lnSpc>
                <a:spcPts val="1800"/>
              </a:lnSpc>
              <a:buNone/>
            </a:pPr>
            <a:r>
              <a:rPr lang="en-US" sz="1300" dirty="0">
                <a:solidFill>
                  <a:srgbClr val="17303B"/>
                </a:solidFill>
                <a:latin typeface="Calibri" pitchFamily="34" charset="0"/>
                <a:ea typeface="Calibri" pitchFamily="34" charset="-122"/>
                <a:cs typeface="Calibri" pitchFamily="34" charset="-120"/>
              </a:rPr>
              <a:t>El E-value corrige el problema de que secuencias o bases de datos más largas tienden a producir puntajes más altos por azar. Indica cuántas coincidencias con puntaje similar se esperarían por casualidad en una base de datos de ese tamaño.</a:t>
            </a:r>
            <a:endParaRPr lang="en-US" sz="1300" dirty="0"/>
          </a:p>
        </p:txBody>
      </p:sp>
      <p:sp>
        <p:nvSpPr>
          <p:cNvPr id="5" name="Shape 3"/>
          <p:cNvSpPr/>
          <p:nvPr/>
        </p:nvSpPr>
        <p:spPr>
          <a:xfrm>
            <a:off x="548640" y="2697480"/>
            <a:ext cx="5303520" cy="2331720"/>
          </a:xfrm>
          <a:prstGeom prst="roundRect">
            <a:avLst>
              <a:gd name="adj" fmla="val 3137"/>
            </a:avLst>
          </a:prstGeom>
          <a:solidFill>
            <a:srgbClr val="0B3D57"/>
          </a:solidFill>
          <a:ln/>
        </p:spPr>
        <p:txBody>
          <a:bodyPr/>
          <a:lstStyle/>
          <a:p>
            <a:endParaRPr lang="es-MX"/>
          </a:p>
        </p:txBody>
      </p:sp>
      <p:sp>
        <p:nvSpPr>
          <p:cNvPr id="6" name="Text 4"/>
          <p:cNvSpPr/>
          <p:nvPr/>
        </p:nvSpPr>
        <p:spPr>
          <a:xfrm>
            <a:off x="822960" y="2834640"/>
            <a:ext cx="4754880" cy="365760"/>
          </a:xfrm>
          <a:prstGeom prst="rect">
            <a:avLst/>
          </a:prstGeom>
          <a:noFill/>
          <a:ln/>
        </p:spPr>
        <p:txBody>
          <a:bodyPr wrap="square" rtlCol="0" anchor="ctr"/>
          <a:lstStyle/>
          <a:p>
            <a:pPr marL="0" indent="0">
              <a:buNone/>
            </a:pPr>
            <a:r>
              <a:rPr lang="en-US" sz="1300" b="1" dirty="0">
                <a:solidFill>
                  <a:srgbClr val="00C2A8"/>
                </a:solidFill>
                <a:latin typeface="Calibri" pitchFamily="34" charset="0"/>
                <a:ea typeface="Calibri" pitchFamily="34" charset="-122"/>
                <a:cs typeface="Calibri" pitchFamily="34" charset="-120"/>
              </a:rPr>
              <a:t>Fórmulas clave</a:t>
            </a:r>
            <a:endParaRPr lang="en-US" sz="1300" dirty="0"/>
          </a:p>
        </p:txBody>
      </p:sp>
      <p:sp>
        <p:nvSpPr>
          <p:cNvPr id="7" name="Text 5"/>
          <p:cNvSpPr/>
          <p:nvPr/>
        </p:nvSpPr>
        <p:spPr>
          <a:xfrm>
            <a:off x="822960" y="3246120"/>
            <a:ext cx="4754880" cy="457200"/>
          </a:xfrm>
          <a:prstGeom prst="rect">
            <a:avLst/>
          </a:prstGeom>
          <a:noFill/>
          <a:ln/>
        </p:spPr>
        <p:txBody>
          <a:bodyPr wrap="square" rtlCol="0" anchor="ctr"/>
          <a:lstStyle/>
          <a:p>
            <a:pPr marL="0" indent="0">
              <a:buNone/>
            </a:pPr>
            <a:r>
              <a:rPr lang="en-US" sz="1600" b="1" dirty="0">
                <a:solidFill>
                  <a:srgbClr val="FFFFFF"/>
                </a:solidFill>
                <a:latin typeface="Courier New" pitchFamily="34" charset="0"/>
                <a:ea typeface="Courier New" pitchFamily="34" charset="-122"/>
                <a:cs typeface="Courier New" pitchFamily="34" charset="-120"/>
              </a:rPr>
              <a:t>E = K · m · n · e^(−λS)</a:t>
            </a:r>
            <a:endParaRPr lang="en-US" sz="1600" dirty="0"/>
          </a:p>
        </p:txBody>
      </p:sp>
      <p:sp>
        <p:nvSpPr>
          <p:cNvPr id="8" name="Text 6"/>
          <p:cNvSpPr/>
          <p:nvPr/>
        </p:nvSpPr>
        <p:spPr>
          <a:xfrm>
            <a:off x="822960" y="3703320"/>
            <a:ext cx="4754880" cy="685800"/>
          </a:xfrm>
          <a:prstGeom prst="rect">
            <a:avLst/>
          </a:prstGeom>
          <a:noFill/>
          <a:ln/>
        </p:spPr>
        <p:txBody>
          <a:bodyPr wrap="square" rtlCol="0" anchor="ctr"/>
          <a:lstStyle/>
          <a:p>
            <a:pPr marL="0" indent="0">
              <a:lnSpc>
                <a:spcPts val="1400"/>
              </a:lnSpc>
              <a:buNone/>
            </a:pPr>
            <a:r>
              <a:rPr lang="en-US" sz="1050" dirty="0">
                <a:solidFill>
                  <a:srgbClr val="CADCFC"/>
                </a:solidFill>
                <a:latin typeface="Calibri" pitchFamily="34" charset="0"/>
                <a:ea typeface="Calibri" pitchFamily="34" charset="-122"/>
                <a:cs typeface="Calibri" pitchFamily="34" charset="-120"/>
              </a:rPr>
              <a:t>m = longitud de la base de datos · n = longitud de la consulta · S = puntaje bruto del HSP · K, λ = factores de escala</a:t>
            </a:r>
            <a:endParaRPr lang="en-US" sz="1050" dirty="0"/>
          </a:p>
        </p:txBody>
      </p:sp>
      <p:sp>
        <p:nvSpPr>
          <p:cNvPr id="9" name="Text 7"/>
          <p:cNvSpPr/>
          <p:nvPr/>
        </p:nvSpPr>
        <p:spPr>
          <a:xfrm>
            <a:off x="822960" y="4434840"/>
            <a:ext cx="4754880" cy="365760"/>
          </a:xfrm>
          <a:prstGeom prst="rect">
            <a:avLst/>
          </a:prstGeom>
          <a:noFill/>
          <a:ln/>
        </p:spPr>
        <p:txBody>
          <a:bodyPr wrap="square" rtlCol="0" anchor="ctr"/>
          <a:lstStyle/>
          <a:p>
            <a:pPr marL="0" indent="0">
              <a:buNone/>
            </a:pPr>
            <a:r>
              <a:rPr lang="en-US" sz="1300" b="1" dirty="0">
                <a:solidFill>
                  <a:srgbClr val="00C2A8"/>
                </a:solidFill>
                <a:latin typeface="Courier New" pitchFamily="34" charset="0"/>
                <a:ea typeface="Courier New" pitchFamily="34" charset="-122"/>
                <a:cs typeface="Courier New" pitchFamily="34" charset="-120"/>
              </a:rPr>
              <a:t>Bit score: S′ = (λS − ln K) / ln 2</a:t>
            </a:r>
            <a:endParaRPr lang="en-US" sz="1300" dirty="0"/>
          </a:p>
        </p:txBody>
      </p:sp>
      <p:sp>
        <p:nvSpPr>
          <p:cNvPr id="10" name="Text 8"/>
          <p:cNvSpPr/>
          <p:nvPr/>
        </p:nvSpPr>
        <p:spPr>
          <a:xfrm>
            <a:off x="822960" y="4800600"/>
            <a:ext cx="4754880" cy="365760"/>
          </a:xfrm>
          <a:prstGeom prst="rect">
            <a:avLst/>
          </a:prstGeom>
          <a:noFill/>
          <a:ln/>
        </p:spPr>
        <p:txBody>
          <a:bodyPr wrap="square" rtlCol="0" anchor="ctr"/>
          <a:lstStyle/>
          <a:p>
            <a:pPr marL="0" indent="0">
              <a:buNone/>
            </a:pPr>
            <a:r>
              <a:rPr lang="en-US" sz="1050" i="1" dirty="0">
                <a:solidFill>
                  <a:srgbClr val="CADCFC"/>
                </a:solidFill>
                <a:latin typeface="Calibri" pitchFamily="34" charset="0"/>
                <a:ea typeface="Calibri" pitchFamily="34" charset="-122"/>
                <a:cs typeface="Calibri" pitchFamily="34" charset="-120"/>
              </a:rPr>
              <a:t>Un bit score más alto corresponde a un E-value más bajo.</a:t>
            </a:r>
            <a:endParaRPr lang="en-US" sz="10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126480" y="2697480"/>
          <a:ext cx="5486400" cy="2331720"/>
        </p:xfrm>
        <a:graphic>
          <a:graphicData uri="http://schemas.openxmlformats.org/drawingml/2006/table">
            <a:tbl>
              <a:tblPr/>
              <a:tblGrid>
                <a:gridCol w="24688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388620">
                <a:tc>
                  <a:txBody>
                    <a:bodyPr/>
                    <a:lstStyle/>
                    <a:p>
                      <a:pPr marL="0" indent="0" algn="ctr">
                        <a:buNone/>
                      </a:pPr>
                      <a:r>
                        <a:rPr lang="en-US" sz="1150" b="1" dirty="0">
                          <a:solidFill>
                            <a:srgbClr val="FFFFFF"/>
                          </a:solidFill>
                        </a:rPr>
                        <a:t>E-value</a:t>
                      </a:r>
                      <a:endParaRPr lang="en-US" sz="115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solidFill>
                      <a:srgbClr val="14919B"/>
                    </a:solidFill>
                  </a:tcPr>
                </a:tc>
                <a:tc>
                  <a:txBody>
                    <a:bodyPr/>
                    <a:lstStyle/>
                    <a:p>
                      <a:pPr marL="0" indent="0" algn="ctr">
                        <a:buNone/>
                      </a:pPr>
                      <a:r>
                        <a:rPr lang="en-US" sz="1150" b="1" dirty="0">
                          <a:solidFill>
                            <a:srgbClr val="FFFFFF"/>
                          </a:solidFill>
                        </a:rPr>
                        <a:t>Inferencia</a:t>
                      </a:r>
                      <a:endParaRPr lang="en-US" sz="115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solidFill>
                      <a:srgbClr val="14919B"/>
                    </a:solidFill>
                  </a:tcPr>
                </a:tc>
                <a:extLst>
                  <a:ext uri="{0D108BD9-81ED-4DB2-BD59-A6C34878D82A}">
                    <a16:rowId xmlns:a16="http://schemas.microsoft.com/office/drawing/2014/main" val="10000"/>
                  </a:ext>
                </a:extLst>
              </a:tr>
              <a:tr h="388620">
                <a:tc>
                  <a:txBody>
                    <a:bodyPr/>
                    <a:lstStyle/>
                    <a:p>
                      <a:pPr marL="0" indent="0">
                        <a:buNone/>
                      </a:pPr>
                      <a:r>
                        <a:rPr lang="en-US" sz="1100" dirty="0">
                          <a:solidFill>
                            <a:srgbClr val="17303B"/>
                          </a:solidFill>
                        </a:rPr>
                        <a:t>&lt; 1×10⁻¹⁰⁰</a:t>
                      </a:r>
                      <a:endParaRPr lang="en-US" sz="11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tc>
                  <a:txBody>
                    <a:bodyPr/>
                    <a:lstStyle/>
                    <a:p>
                      <a:pPr marL="0" indent="0">
                        <a:buNone/>
                      </a:pPr>
                      <a:r>
                        <a:rPr lang="en-US" sz="1100" dirty="0">
                          <a:solidFill>
                            <a:srgbClr val="17303B"/>
                          </a:solidFill>
                        </a:rPr>
                        <a:t>Secuencias idénticas</a:t>
                      </a:r>
                      <a:endParaRPr lang="en-US" sz="11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extLst>
                  <a:ext uri="{0D108BD9-81ED-4DB2-BD59-A6C34878D82A}">
                    <a16:rowId xmlns:a16="http://schemas.microsoft.com/office/drawing/2014/main" val="10001"/>
                  </a:ext>
                </a:extLst>
              </a:tr>
              <a:tr h="388620">
                <a:tc>
                  <a:txBody>
                    <a:bodyPr/>
                    <a:lstStyle/>
                    <a:p>
                      <a:pPr marL="0" indent="0">
                        <a:buNone/>
                      </a:pPr>
                      <a:r>
                        <a:rPr lang="en-US" sz="1100" dirty="0">
                          <a:solidFill>
                            <a:srgbClr val="17303B"/>
                          </a:solidFill>
                        </a:rPr>
                        <a:t>1×10⁻⁵⁰ a 1×10⁻¹⁰⁰</a:t>
                      </a:r>
                      <a:endParaRPr lang="en-US" sz="11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tc>
                  <a:txBody>
                    <a:bodyPr/>
                    <a:lstStyle/>
                    <a:p>
                      <a:pPr marL="0" indent="0">
                        <a:buNone/>
                      </a:pPr>
                      <a:r>
                        <a:rPr lang="en-US" sz="1100" dirty="0">
                          <a:solidFill>
                            <a:srgbClr val="17303B"/>
                          </a:solidFill>
                        </a:rPr>
                        <a:t>Secuencias casi idénticas</a:t>
                      </a:r>
                      <a:endParaRPr lang="en-US" sz="11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extLst>
                  <a:ext uri="{0D108BD9-81ED-4DB2-BD59-A6C34878D82A}">
                    <a16:rowId xmlns:a16="http://schemas.microsoft.com/office/drawing/2014/main" val="10002"/>
                  </a:ext>
                </a:extLst>
              </a:tr>
              <a:tr h="388620">
                <a:tc>
                  <a:txBody>
                    <a:bodyPr/>
                    <a:lstStyle/>
                    <a:p>
                      <a:pPr marL="0" indent="0">
                        <a:buNone/>
                      </a:pPr>
                      <a:r>
                        <a:rPr lang="en-US" sz="1100" dirty="0">
                          <a:solidFill>
                            <a:srgbClr val="17303B"/>
                          </a:solidFill>
                        </a:rPr>
                        <a:t>1×10⁻⁵ a 1×10⁻⁵⁰</a:t>
                      </a:r>
                      <a:endParaRPr lang="en-US" sz="11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tc>
                  <a:txBody>
                    <a:bodyPr/>
                    <a:lstStyle/>
                    <a:p>
                      <a:pPr marL="0" indent="0">
                        <a:buNone/>
                      </a:pPr>
                      <a:r>
                        <a:rPr lang="en-US" sz="1100" dirty="0">
                          <a:solidFill>
                            <a:srgbClr val="17303B"/>
                          </a:solidFill>
                        </a:rPr>
                        <a:t>Secuencias homólogas</a:t>
                      </a:r>
                      <a:endParaRPr lang="en-US" sz="11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extLst>
                  <a:ext uri="{0D108BD9-81ED-4DB2-BD59-A6C34878D82A}">
                    <a16:rowId xmlns:a16="http://schemas.microsoft.com/office/drawing/2014/main" val="10003"/>
                  </a:ext>
                </a:extLst>
              </a:tr>
              <a:tr h="388620">
                <a:tc>
                  <a:txBody>
                    <a:bodyPr/>
                    <a:lstStyle/>
                    <a:p>
                      <a:pPr marL="0" indent="0">
                        <a:buNone/>
                      </a:pPr>
                      <a:r>
                        <a:rPr lang="en-US" sz="1100" dirty="0">
                          <a:solidFill>
                            <a:srgbClr val="17303B"/>
                          </a:solidFill>
                        </a:rPr>
                        <a:t>1×10⁻¹ a 1×10⁻⁵</a:t>
                      </a:r>
                      <a:endParaRPr lang="en-US" sz="11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tc>
                  <a:txBody>
                    <a:bodyPr/>
                    <a:lstStyle/>
                    <a:p>
                      <a:pPr marL="0" indent="0">
                        <a:buNone/>
                      </a:pPr>
                      <a:r>
                        <a:rPr lang="en-US" sz="1100" dirty="0">
                          <a:solidFill>
                            <a:srgbClr val="17303B"/>
                          </a:solidFill>
                        </a:rPr>
                        <a:t>Homología distante</a:t>
                      </a:r>
                      <a:endParaRPr lang="en-US" sz="11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extLst>
                  <a:ext uri="{0D108BD9-81ED-4DB2-BD59-A6C34878D82A}">
                    <a16:rowId xmlns:a16="http://schemas.microsoft.com/office/drawing/2014/main" val="10004"/>
                  </a:ext>
                </a:extLst>
              </a:tr>
              <a:tr h="388620">
                <a:tc>
                  <a:txBody>
                    <a:bodyPr/>
                    <a:lstStyle/>
                    <a:p>
                      <a:pPr marL="0" indent="0">
                        <a:buNone/>
                      </a:pPr>
                      <a:r>
                        <a:rPr lang="en-US" sz="1100" dirty="0">
                          <a:solidFill>
                            <a:srgbClr val="17303B"/>
                          </a:solidFill>
                        </a:rPr>
                        <a:t>&gt; 1×10⁻¹</a:t>
                      </a:r>
                      <a:endParaRPr lang="en-US" sz="11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tc>
                  <a:txBody>
                    <a:bodyPr/>
                    <a:lstStyle/>
                    <a:p>
                      <a:pPr marL="0" indent="0">
                        <a:buNone/>
                      </a:pPr>
                      <a:r>
                        <a:rPr lang="en-US" sz="1100" dirty="0">
                          <a:solidFill>
                            <a:srgbClr val="17303B"/>
                          </a:solidFill>
                        </a:rPr>
                        <a:t>Posible alineamiento al azar</a:t>
                      </a:r>
                      <a:endParaRPr lang="en-US" sz="1100" dirty="0"/>
                    </a:p>
                  </a:txBody>
                  <a:tcPr>
                    <a:lnL w="12700" cap="flat" cmpd="sng" algn="ctr">
                      <a:solidFill>
                        <a:srgbClr val="D6E7E7"/>
                      </a:solidFill>
                      <a:prstDash val="solid"/>
                      <a:round/>
                      <a:headEnd type="none" w="med" len="med"/>
                      <a:tailEnd type="none" w="med" len="med"/>
                    </a:lnL>
                    <a:lnR w="12700" cap="flat" cmpd="sng" algn="ctr">
                      <a:solidFill>
                        <a:srgbClr val="D6E7E7"/>
                      </a:solidFill>
                      <a:prstDash val="solid"/>
                      <a:round/>
                      <a:headEnd type="none" w="med" len="med"/>
                      <a:tailEnd type="none" w="med" len="med"/>
                    </a:lnR>
                    <a:lnT w="12700" cap="flat" cmpd="sng" algn="ctr">
                      <a:solidFill>
                        <a:srgbClr val="D6E7E7"/>
                      </a:solidFill>
                      <a:prstDash val="solid"/>
                      <a:round/>
                      <a:headEnd type="none" w="med" len="med"/>
                      <a:tailEnd type="none" w="med" len="med"/>
                    </a:lnT>
                    <a:lnB w="12700" cap="flat" cmpd="sng" algn="ctr">
                      <a:solidFill>
                        <a:srgbClr val="D6E7E7"/>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2" name="Text 9"/>
          <p:cNvSpPr/>
          <p:nvPr/>
        </p:nvSpPr>
        <p:spPr>
          <a:xfrm>
            <a:off x="6126480" y="5120640"/>
            <a:ext cx="5486400" cy="548640"/>
          </a:xfrm>
          <a:prstGeom prst="rect">
            <a:avLst/>
          </a:prstGeom>
          <a:noFill/>
          <a:ln/>
        </p:spPr>
        <p:txBody>
          <a:bodyPr wrap="square" rtlCol="0" anchor="ctr"/>
          <a:lstStyle/>
          <a:p>
            <a:pPr marL="0" indent="0">
              <a:buNone/>
            </a:pPr>
            <a:r>
              <a:rPr lang="en-US" sz="1000" i="1" dirty="0">
                <a:solidFill>
                  <a:srgbClr val="5C7A85"/>
                </a:solidFill>
                <a:latin typeface="Calibri" pitchFamily="34" charset="0"/>
                <a:ea typeface="Calibri" pitchFamily="34" charset="-122"/>
                <a:cs typeface="Calibri" pitchFamily="34" charset="-120"/>
              </a:rPr>
              <a:t>Tabla 14.3 — Reglas prácticas de inferencia según el E-value. El valor por defecto de umbral en BLAST es 10.</a:t>
            </a:r>
            <a:endParaRPr lang="en-US" sz="1000" dirty="0"/>
          </a:p>
        </p:txBody>
      </p:sp>
      <p:sp>
        <p:nvSpPr>
          <p:cNvPr id="13" name="Shape 10"/>
          <p:cNvSpPr/>
          <p:nvPr/>
        </p:nvSpPr>
        <p:spPr>
          <a:xfrm>
            <a:off x="548640" y="5440680"/>
            <a:ext cx="11064240" cy="960120"/>
          </a:xfrm>
          <a:prstGeom prst="roundRect">
            <a:avLst>
              <a:gd name="adj" fmla="val 7619"/>
            </a:avLst>
          </a:prstGeom>
          <a:solidFill>
            <a:srgbClr val="EAF4F4"/>
          </a:solidFill>
          <a:ln/>
        </p:spPr>
        <p:txBody>
          <a:bodyPr/>
          <a:lstStyle/>
          <a:p>
            <a:endParaRPr lang="es-MX"/>
          </a:p>
        </p:txBody>
      </p:sp>
      <p:sp>
        <p:nvSpPr>
          <p:cNvPr id="14" name="Text 11"/>
          <p:cNvSpPr/>
          <p:nvPr/>
        </p:nvSpPr>
        <p:spPr>
          <a:xfrm>
            <a:off x="822960" y="5440680"/>
            <a:ext cx="10515600" cy="960120"/>
          </a:xfrm>
          <a:prstGeom prst="rect">
            <a:avLst/>
          </a:prstGeom>
          <a:noFill/>
          <a:ln/>
        </p:spPr>
        <p:txBody>
          <a:bodyPr wrap="square" rtlCol="0" anchor="ctr"/>
          <a:lstStyle/>
          <a:p>
            <a:pPr marL="0" indent="0">
              <a:buNone/>
            </a:pPr>
            <a:r>
              <a:rPr lang="en-US" sz="1200" i="1" dirty="0">
                <a:solidFill>
                  <a:srgbClr val="0B3D57"/>
                </a:solidFill>
                <a:latin typeface="Calibri" pitchFamily="34" charset="0"/>
                <a:ea typeface="Calibri" pitchFamily="34" charset="-122"/>
                <a:cs typeface="Calibri" pitchFamily="34" charset="-120"/>
              </a:rPr>
              <a:t>Un E-value de 1 significa que, en una base de datos de ese tamaño, se esperaría ver por azar una coincidencia con puntaje similar.</a:t>
            </a:r>
            <a:endParaRPr lang="en-US" sz="1200" dirty="0"/>
          </a:p>
        </p:txBody>
      </p:sp>
      <p:sp>
        <p:nvSpPr>
          <p:cNvPr id="15" name="Text 12"/>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7A85"/>
                </a:solidFill>
                <a:latin typeface="Calibri" pitchFamily="34" charset="0"/>
                <a:ea typeface="Calibri" pitchFamily="34" charset="-122"/>
                <a:cs typeface="Calibri" pitchFamily="34" charset="-120"/>
              </a:rPr>
              <a:t>BLAST y diseño de fármacos asistido por computadora</a:t>
            </a:r>
            <a:endParaRPr lang="en-US" sz="900" dirty="0"/>
          </a:p>
        </p:txBody>
      </p:sp>
      <p:sp>
        <p:nvSpPr>
          <p:cNvPr id="16" name="Text 13"/>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7A85"/>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4919B"/>
                </a:solidFill>
                <a:latin typeface="Calibri" pitchFamily="34" charset="0"/>
                <a:ea typeface="Calibri" pitchFamily="34" charset="-122"/>
                <a:cs typeface="Calibri" pitchFamily="34" charset="-120"/>
              </a:rPr>
              <a:t>14.5 · PROGRAMAS DE BLAST</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buNone/>
            </a:pPr>
            <a:r>
              <a:rPr lang="en-US" sz="3200" b="1" dirty="0">
                <a:solidFill>
                  <a:srgbClr val="0B3D57"/>
                </a:solidFill>
                <a:latin typeface="Cambria" pitchFamily="34" charset="0"/>
                <a:ea typeface="Cambria" pitchFamily="34" charset="-122"/>
                <a:cs typeface="Cambria" pitchFamily="34" charset="-120"/>
              </a:rPr>
              <a:t>Los cinco tipos principales de BLAST</a:t>
            </a:r>
            <a:endParaRPr lang="en-US" sz="3200" dirty="0"/>
          </a:p>
        </p:txBody>
      </p:sp>
      <p:sp>
        <p:nvSpPr>
          <p:cNvPr id="4" name="Shape 2"/>
          <p:cNvSpPr/>
          <p:nvPr/>
        </p:nvSpPr>
        <p:spPr>
          <a:xfrm>
            <a:off x="548640" y="1737360"/>
            <a:ext cx="2121408" cy="4297680"/>
          </a:xfrm>
          <a:prstGeom prst="roundRect">
            <a:avLst>
              <a:gd name="adj" fmla="val 3448"/>
            </a:avLst>
          </a:prstGeom>
          <a:solidFill>
            <a:srgbClr val="0B3D57"/>
          </a:solidFill>
          <a:ln/>
        </p:spPr>
        <p:txBody>
          <a:bodyPr/>
          <a:lstStyle/>
          <a:p>
            <a:endParaRPr lang="es-MX"/>
          </a:p>
        </p:txBody>
      </p:sp>
      <p:sp>
        <p:nvSpPr>
          <p:cNvPr id="5" name="Text 3"/>
          <p:cNvSpPr/>
          <p:nvPr/>
        </p:nvSpPr>
        <p:spPr>
          <a:xfrm>
            <a:off x="685800" y="1920240"/>
            <a:ext cx="1847088" cy="45720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BLASTN</a:t>
            </a:r>
            <a:endParaRPr lang="en-US" sz="1700" dirty="0"/>
          </a:p>
        </p:txBody>
      </p:sp>
      <p:sp>
        <p:nvSpPr>
          <p:cNvPr id="6" name="Text 4"/>
          <p:cNvSpPr/>
          <p:nvPr/>
        </p:nvSpPr>
        <p:spPr>
          <a:xfrm>
            <a:off x="685800" y="2377440"/>
            <a:ext cx="1847088" cy="502920"/>
          </a:xfrm>
          <a:prstGeom prst="rect">
            <a:avLst/>
          </a:prstGeom>
          <a:noFill/>
          <a:ln/>
        </p:spPr>
        <p:txBody>
          <a:bodyPr wrap="square" rtlCol="0" anchor="ctr"/>
          <a:lstStyle/>
          <a:p>
            <a:pPr marL="0" indent="0">
              <a:buNone/>
            </a:pPr>
            <a:r>
              <a:rPr lang="en-US" sz="1050" i="1" dirty="0">
                <a:solidFill>
                  <a:srgbClr val="CADCFC"/>
                </a:solidFill>
                <a:latin typeface="Calibri" pitchFamily="34" charset="0"/>
                <a:ea typeface="Calibri" pitchFamily="34" charset="-122"/>
                <a:cs typeface="Calibri" pitchFamily="34" charset="-120"/>
              </a:rPr>
              <a:t>ADN → ADN</a:t>
            </a:r>
            <a:endParaRPr lang="en-US" sz="1050" dirty="0"/>
          </a:p>
        </p:txBody>
      </p:sp>
      <p:sp>
        <p:nvSpPr>
          <p:cNvPr id="7" name="Text 5"/>
          <p:cNvSpPr/>
          <p:nvPr/>
        </p:nvSpPr>
        <p:spPr>
          <a:xfrm>
            <a:off x="685800" y="2971800"/>
            <a:ext cx="1847088" cy="2834640"/>
          </a:xfrm>
          <a:prstGeom prst="rect">
            <a:avLst/>
          </a:prstGeom>
          <a:noFill/>
          <a:ln/>
        </p:spPr>
        <p:txBody>
          <a:bodyPr wrap="square" rtlCol="0" anchor="ctr"/>
          <a:lstStyle/>
          <a:p>
            <a:pPr marL="0" indent="0">
              <a:lnSpc>
                <a:spcPts val="1350"/>
              </a:lnSpc>
              <a:buNone/>
            </a:pPr>
            <a:r>
              <a:rPr lang="en-US" sz="1000" dirty="0">
                <a:solidFill>
                  <a:srgbClr val="FFFFFF"/>
                </a:solidFill>
                <a:latin typeface="Calibri" pitchFamily="34" charset="0"/>
                <a:ea typeface="Calibri" pitchFamily="34" charset="-122"/>
                <a:cs typeface="Calibri" pitchFamily="34" charset="-120"/>
              </a:rPr>
              <a:t>Compara una consulta de ADN contra una base de datos de ADN; busca ambas hebras automáticamente. Optimizado para velocidad.</a:t>
            </a:r>
            <a:endParaRPr lang="en-US" sz="1000" dirty="0"/>
          </a:p>
        </p:txBody>
      </p:sp>
      <p:sp>
        <p:nvSpPr>
          <p:cNvPr id="8" name="Shape 6"/>
          <p:cNvSpPr/>
          <p:nvPr/>
        </p:nvSpPr>
        <p:spPr>
          <a:xfrm>
            <a:off x="2816352" y="1737360"/>
            <a:ext cx="2121408" cy="4297680"/>
          </a:xfrm>
          <a:prstGeom prst="roundRect">
            <a:avLst>
              <a:gd name="adj" fmla="val 3448"/>
            </a:avLst>
          </a:prstGeom>
          <a:solidFill>
            <a:srgbClr val="14919B"/>
          </a:solidFill>
          <a:ln/>
        </p:spPr>
        <p:txBody>
          <a:bodyPr/>
          <a:lstStyle/>
          <a:p>
            <a:endParaRPr lang="es-MX"/>
          </a:p>
        </p:txBody>
      </p:sp>
      <p:sp>
        <p:nvSpPr>
          <p:cNvPr id="9" name="Text 7"/>
          <p:cNvSpPr/>
          <p:nvPr/>
        </p:nvSpPr>
        <p:spPr>
          <a:xfrm>
            <a:off x="2953512" y="1920240"/>
            <a:ext cx="1847088" cy="45720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BLASTP</a:t>
            </a:r>
            <a:endParaRPr lang="en-US" sz="1700" dirty="0"/>
          </a:p>
        </p:txBody>
      </p:sp>
      <p:sp>
        <p:nvSpPr>
          <p:cNvPr id="10" name="Text 8"/>
          <p:cNvSpPr/>
          <p:nvPr/>
        </p:nvSpPr>
        <p:spPr>
          <a:xfrm>
            <a:off x="2953512" y="2377440"/>
            <a:ext cx="1847088" cy="502920"/>
          </a:xfrm>
          <a:prstGeom prst="rect">
            <a:avLst/>
          </a:prstGeom>
          <a:noFill/>
          <a:ln/>
        </p:spPr>
        <p:txBody>
          <a:bodyPr wrap="square" rtlCol="0" anchor="ctr"/>
          <a:lstStyle/>
          <a:p>
            <a:pPr marL="0" indent="0">
              <a:buNone/>
            </a:pPr>
            <a:r>
              <a:rPr lang="en-US" sz="1050" i="1" dirty="0">
                <a:solidFill>
                  <a:srgbClr val="CADCFC"/>
                </a:solidFill>
                <a:latin typeface="Calibri" pitchFamily="34" charset="0"/>
                <a:ea typeface="Calibri" pitchFamily="34" charset="-122"/>
                <a:cs typeface="Calibri" pitchFamily="34" charset="-120"/>
              </a:rPr>
              <a:t>Proteína → Proteína</a:t>
            </a:r>
            <a:endParaRPr lang="en-US" sz="1050" dirty="0"/>
          </a:p>
        </p:txBody>
      </p:sp>
      <p:sp>
        <p:nvSpPr>
          <p:cNvPr id="11" name="Text 9"/>
          <p:cNvSpPr/>
          <p:nvPr/>
        </p:nvSpPr>
        <p:spPr>
          <a:xfrm>
            <a:off x="2953512" y="2971800"/>
            <a:ext cx="1847088" cy="2834640"/>
          </a:xfrm>
          <a:prstGeom prst="rect">
            <a:avLst/>
          </a:prstGeom>
          <a:noFill/>
          <a:ln/>
        </p:spPr>
        <p:txBody>
          <a:bodyPr wrap="square" rtlCol="0" anchor="ctr"/>
          <a:lstStyle/>
          <a:p>
            <a:pPr marL="0" indent="0">
              <a:lnSpc>
                <a:spcPts val="1350"/>
              </a:lnSpc>
              <a:buNone/>
            </a:pPr>
            <a:r>
              <a:rPr lang="en-US" sz="1000" dirty="0">
                <a:solidFill>
                  <a:srgbClr val="FFFFFF"/>
                </a:solidFill>
                <a:latin typeface="Calibri" pitchFamily="34" charset="0"/>
                <a:ea typeface="Calibri" pitchFamily="34" charset="-122"/>
                <a:cs typeface="Calibri" pitchFamily="34" charset="-120"/>
              </a:rPr>
              <a:t>Compara una secuencia de proteína consulta contra una base de datos de proteínas.</a:t>
            </a:r>
            <a:endParaRPr lang="en-US" sz="1000" dirty="0"/>
          </a:p>
        </p:txBody>
      </p:sp>
      <p:sp>
        <p:nvSpPr>
          <p:cNvPr id="12" name="Shape 10"/>
          <p:cNvSpPr/>
          <p:nvPr/>
        </p:nvSpPr>
        <p:spPr>
          <a:xfrm>
            <a:off x="5084064" y="1737360"/>
            <a:ext cx="2121408" cy="4297680"/>
          </a:xfrm>
          <a:prstGeom prst="roundRect">
            <a:avLst>
              <a:gd name="adj" fmla="val 3448"/>
            </a:avLst>
          </a:prstGeom>
          <a:solidFill>
            <a:srgbClr val="0B3D57"/>
          </a:solidFill>
          <a:ln/>
        </p:spPr>
        <p:txBody>
          <a:bodyPr/>
          <a:lstStyle/>
          <a:p>
            <a:endParaRPr lang="es-MX"/>
          </a:p>
        </p:txBody>
      </p:sp>
      <p:sp>
        <p:nvSpPr>
          <p:cNvPr id="13" name="Text 11"/>
          <p:cNvSpPr/>
          <p:nvPr/>
        </p:nvSpPr>
        <p:spPr>
          <a:xfrm>
            <a:off x="5221224" y="1920240"/>
            <a:ext cx="1847088" cy="45720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BLASTX</a:t>
            </a:r>
            <a:endParaRPr lang="en-US" sz="1700" dirty="0"/>
          </a:p>
        </p:txBody>
      </p:sp>
      <p:sp>
        <p:nvSpPr>
          <p:cNvPr id="14" name="Text 12"/>
          <p:cNvSpPr/>
          <p:nvPr/>
        </p:nvSpPr>
        <p:spPr>
          <a:xfrm>
            <a:off x="5221224" y="2377440"/>
            <a:ext cx="1847088" cy="502920"/>
          </a:xfrm>
          <a:prstGeom prst="rect">
            <a:avLst/>
          </a:prstGeom>
          <a:noFill/>
          <a:ln/>
        </p:spPr>
        <p:txBody>
          <a:bodyPr wrap="square" rtlCol="0" anchor="ctr"/>
          <a:lstStyle/>
          <a:p>
            <a:pPr marL="0" indent="0">
              <a:buNone/>
            </a:pPr>
            <a:r>
              <a:rPr lang="en-US" sz="1050" i="1" dirty="0">
                <a:solidFill>
                  <a:srgbClr val="CADCFC"/>
                </a:solidFill>
                <a:latin typeface="Calibri" pitchFamily="34" charset="0"/>
                <a:ea typeface="Calibri" pitchFamily="34" charset="-122"/>
                <a:cs typeface="Calibri" pitchFamily="34" charset="-120"/>
              </a:rPr>
              <a:t>ADN → Proteína</a:t>
            </a:r>
            <a:endParaRPr lang="en-US" sz="1050" dirty="0"/>
          </a:p>
        </p:txBody>
      </p:sp>
      <p:sp>
        <p:nvSpPr>
          <p:cNvPr id="15" name="Text 13"/>
          <p:cNvSpPr/>
          <p:nvPr/>
        </p:nvSpPr>
        <p:spPr>
          <a:xfrm>
            <a:off x="5221224" y="2971800"/>
            <a:ext cx="1847088" cy="2834640"/>
          </a:xfrm>
          <a:prstGeom prst="rect">
            <a:avLst/>
          </a:prstGeom>
          <a:noFill/>
          <a:ln/>
        </p:spPr>
        <p:txBody>
          <a:bodyPr wrap="square" rtlCol="0" anchor="ctr"/>
          <a:lstStyle/>
          <a:p>
            <a:pPr marL="0" indent="0">
              <a:lnSpc>
                <a:spcPts val="1350"/>
              </a:lnSpc>
              <a:buNone/>
            </a:pPr>
            <a:r>
              <a:rPr lang="en-US" sz="1000" dirty="0">
                <a:solidFill>
                  <a:srgbClr val="FFFFFF"/>
                </a:solidFill>
                <a:latin typeface="Calibri" pitchFamily="34" charset="0"/>
                <a:ea typeface="Calibri" pitchFamily="34" charset="-122"/>
                <a:cs typeface="Calibri" pitchFamily="34" charset="-120"/>
              </a:rPr>
              <a:t>Traduce la consulta de ADN en sus 6 marcos de lectura posibles y compara cada uno contra una base de datos de proteínas.</a:t>
            </a:r>
            <a:endParaRPr lang="en-US" sz="1000" dirty="0"/>
          </a:p>
        </p:txBody>
      </p:sp>
      <p:sp>
        <p:nvSpPr>
          <p:cNvPr id="16" name="Shape 14"/>
          <p:cNvSpPr/>
          <p:nvPr/>
        </p:nvSpPr>
        <p:spPr>
          <a:xfrm>
            <a:off x="7351776" y="1737360"/>
            <a:ext cx="2121408" cy="4297680"/>
          </a:xfrm>
          <a:prstGeom prst="roundRect">
            <a:avLst>
              <a:gd name="adj" fmla="val 3448"/>
            </a:avLst>
          </a:prstGeom>
          <a:solidFill>
            <a:srgbClr val="14919B"/>
          </a:solidFill>
          <a:ln/>
        </p:spPr>
        <p:txBody>
          <a:bodyPr/>
          <a:lstStyle/>
          <a:p>
            <a:endParaRPr lang="es-MX"/>
          </a:p>
        </p:txBody>
      </p:sp>
      <p:sp>
        <p:nvSpPr>
          <p:cNvPr id="17" name="Text 15"/>
          <p:cNvSpPr/>
          <p:nvPr/>
        </p:nvSpPr>
        <p:spPr>
          <a:xfrm>
            <a:off x="7488936" y="1920240"/>
            <a:ext cx="1847088" cy="45720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TBLASTN</a:t>
            </a:r>
            <a:endParaRPr lang="en-US" sz="1700" dirty="0"/>
          </a:p>
        </p:txBody>
      </p:sp>
      <p:sp>
        <p:nvSpPr>
          <p:cNvPr id="18" name="Text 16"/>
          <p:cNvSpPr/>
          <p:nvPr/>
        </p:nvSpPr>
        <p:spPr>
          <a:xfrm>
            <a:off x="7488936" y="2377440"/>
            <a:ext cx="1847088" cy="502920"/>
          </a:xfrm>
          <a:prstGeom prst="rect">
            <a:avLst/>
          </a:prstGeom>
          <a:noFill/>
          <a:ln/>
        </p:spPr>
        <p:txBody>
          <a:bodyPr wrap="square" rtlCol="0" anchor="ctr"/>
          <a:lstStyle/>
          <a:p>
            <a:pPr marL="0" indent="0">
              <a:buNone/>
            </a:pPr>
            <a:r>
              <a:rPr lang="en-US" sz="1050" i="1" dirty="0">
                <a:solidFill>
                  <a:srgbClr val="CADCFC"/>
                </a:solidFill>
                <a:latin typeface="Calibri" pitchFamily="34" charset="0"/>
                <a:ea typeface="Calibri" pitchFamily="34" charset="-122"/>
                <a:cs typeface="Calibri" pitchFamily="34" charset="-120"/>
              </a:rPr>
              <a:t>Proteína → ADN</a:t>
            </a:r>
            <a:endParaRPr lang="en-US" sz="1050" dirty="0"/>
          </a:p>
        </p:txBody>
      </p:sp>
      <p:sp>
        <p:nvSpPr>
          <p:cNvPr id="19" name="Text 17"/>
          <p:cNvSpPr/>
          <p:nvPr/>
        </p:nvSpPr>
        <p:spPr>
          <a:xfrm>
            <a:off x="7488936" y="2971800"/>
            <a:ext cx="1847088" cy="2834640"/>
          </a:xfrm>
          <a:prstGeom prst="rect">
            <a:avLst/>
          </a:prstGeom>
          <a:noFill/>
          <a:ln/>
        </p:spPr>
        <p:txBody>
          <a:bodyPr wrap="square" rtlCol="0" anchor="ctr"/>
          <a:lstStyle/>
          <a:p>
            <a:pPr marL="0" indent="0">
              <a:lnSpc>
                <a:spcPts val="1350"/>
              </a:lnSpc>
              <a:buNone/>
            </a:pPr>
            <a:r>
              <a:rPr lang="en-US" sz="1000" dirty="0">
                <a:solidFill>
                  <a:srgbClr val="FFFFFF"/>
                </a:solidFill>
                <a:latin typeface="Calibri" pitchFamily="34" charset="0"/>
                <a:ea typeface="Calibri" pitchFamily="34" charset="-122"/>
                <a:cs typeface="Calibri" pitchFamily="34" charset="-120"/>
              </a:rPr>
              <a:t>Compara una proteína consulta contra una base de datos de ADN traducida en los 6 marcos de lectura posibles.</a:t>
            </a:r>
            <a:endParaRPr lang="en-US" sz="1000" dirty="0"/>
          </a:p>
        </p:txBody>
      </p:sp>
      <p:sp>
        <p:nvSpPr>
          <p:cNvPr id="20" name="Shape 18"/>
          <p:cNvSpPr/>
          <p:nvPr/>
        </p:nvSpPr>
        <p:spPr>
          <a:xfrm>
            <a:off x="9619488" y="1737360"/>
            <a:ext cx="2121408" cy="4297680"/>
          </a:xfrm>
          <a:prstGeom prst="roundRect">
            <a:avLst>
              <a:gd name="adj" fmla="val 3448"/>
            </a:avLst>
          </a:prstGeom>
          <a:solidFill>
            <a:srgbClr val="0B3D57"/>
          </a:solidFill>
          <a:ln/>
        </p:spPr>
        <p:txBody>
          <a:bodyPr/>
          <a:lstStyle/>
          <a:p>
            <a:endParaRPr lang="es-MX"/>
          </a:p>
        </p:txBody>
      </p:sp>
      <p:sp>
        <p:nvSpPr>
          <p:cNvPr id="21" name="Text 19"/>
          <p:cNvSpPr/>
          <p:nvPr/>
        </p:nvSpPr>
        <p:spPr>
          <a:xfrm>
            <a:off x="9756648" y="1920240"/>
            <a:ext cx="1847088" cy="45720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TBLASTX</a:t>
            </a:r>
            <a:endParaRPr lang="en-US" sz="1700" dirty="0"/>
          </a:p>
        </p:txBody>
      </p:sp>
      <p:sp>
        <p:nvSpPr>
          <p:cNvPr id="22" name="Text 20"/>
          <p:cNvSpPr/>
          <p:nvPr/>
        </p:nvSpPr>
        <p:spPr>
          <a:xfrm>
            <a:off x="9756648" y="2377440"/>
            <a:ext cx="1847088" cy="502920"/>
          </a:xfrm>
          <a:prstGeom prst="rect">
            <a:avLst/>
          </a:prstGeom>
          <a:noFill/>
          <a:ln/>
        </p:spPr>
        <p:txBody>
          <a:bodyPr wrap="square" rtlCol="0" anchor="ctr"/>
          <a:lstStyle/>
          <a:p>
            <a:pPr marL="0" indent="0">
              <a:buNone/>
            </a:pPr>
            <a:r>
              <a:rPr lang="en-US" sz="1050" i="1" dirty="0">
                <a:solidFill>
                  <a:srgbClr val="CADCFC"/>
                </a:solidFill>
                <a:latin typeface="Calibri" pitchFamily="34" charset="0"/>
                <a:ea typeface="Calibri" pitchFamily="34" charset="-122"/>
                <a:cs typeface="Calibri" pitchFamily="34" charset="-120"/>
              </a:rPr>
              <a:t>ADN → ADN (vía proteína)</a:t>
            </a:r>
            <a:endParaRPr lang="en-US" sz="1050" dirty="0"/>
          </a:p>
        </p:txBody>
      </p:sp>
      <p:sp>
        <p:nvSpPr>
          <p:cNvPr id="23" name="Text 21"/>
          <p:cNvSpPr/>
          <p:nvPr/>
        </p:nvSpPr>
        <p:spPr>
          <a:xfrm>
            <a:off x="9756648" y="2971800"/>
            <a:ext cx="1847088" cy="2834640"/>
          </a:xfrm>
          <a:prstGeom prst="rect">
            <a:avLst/>
          </a:prstGeom>
          <a:noFill/>
          <a:ln/>
        </p:spPr>
        <p:txBody>
          <a:bodyPr wrap="square" rtlCol="0" anchor="ctr"/>
          <a:lstStyle/>
          <a:p>
            <a:pPr marL="0" indent="0">
              <a:lnSpc>
                <a:spcPts val="1350"/>
              </a:lnSpc>
              <a:buNone/>
            </a:pPr>
            <a:r>
              <a:rPr lang="en-US" sz="1000" dirty="0">
                <a:solidFill>
                  <a:srgbClr val="FFFFFF"/>
                </a:solidFill>
                <a:latin typeface="Calibri" pitchFamily="34" charset="0"/>
                <a:ea typeface="Calibri" pitchFamily="34" charset="-122"/>
                <a:cs typeface="Calibri" pitchFamily="34" charset="-120"/>
              </a:rPr>
              <a:t>Compara la proteína codificada en el ADN consulta contra la codificada en la base de datos, en las 6×6 combinaciones de marcos.</a:t>
            </a:r>
            <a:endParaRPr lang="en-US" sz="1000" dirty="0"/>
          </a:p>
        </p:txBody>
      </p:sp>
      <p:sp>
        <p:nvSpPr>
          <p:cNvPr id="24" name="Text 22"/>
          <p:cNvSpPr/>
          <p:nvPr/>
        </p:nvSpPr>
        <p:spPr>
          <a:xfrm>
            <a:off x="548640" y="6172200"/>
            <a:ext cx="11064240" cy="365760"/>
          </a:xfrm>
          <a:prstGeom prst="rect">
            <a:avLst/>
          </a:prstGeom>
          <a:noFill/>
          <a:ln/>
        </p:spPr>
        <p:txBody>
          <a:bodyPr wrap="square" rtlCol="0" anchor="ctr"/>
          <a:lstStyle/>
          <a:p>
            <a:pPr marL="0" indent="0">
              <a:buNone/>
            </a:pPr>
            <a:r>
              <a:rPr lang="en-US" sz="1050" i="1" dirty="0">
                <a:solidFill>
                  <a:srgbClr val="5C7A85"/>
                </a:solidFill>
                <a:latin typeface="Calibri" pitchFamily="34" charset="0"/>
                <a:ea typeface="Calibri" pitchFamily="34" charset="-122"/>
                <a:cs typeface="Calibri" pitchFamily="34" charset="-120"/>
              </a:rPr>
              <a:t>Existen además derivados especializados: PHI-BLAST, PSI-BLAST, MegaBLAST, BLASTZ, XBLAST, HT-BLAST, GENE-BLAST y BLAST específicos por organismo.</a:t>
            </a:r>
            <a:endParaRPr lang="en-US" sz="1050" dirty="0"/>
          </a:p>
        </p:txBody>
      </p:sp>
      <p:sp>
        <p:nvSpPr>
          <p:cNvPr id="25" name="Text 23"/>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7A85"/>
                </a:solidFill>
                <a:latin typeface="Calibri" pitchFamily="34" charset="0"/>
                <a:ea typeface="Calibri" pitchFamily="34" charset="-122"/>
                <a:cs typeface="Calibri" pitchFamily="34" charset="-120"/>
              </a:rPr>
              <a:t>BLAST y diseño de fármacos asistido por computadora</a:t>
            </a:r>
            <a:endParaRPr lang="en-US" sz="900" dirty="0"/>
          </a:p>
        </p:txBody>
      </p:sp>
      <p:sp>
        <p:nvSpPr>
          <p:cNvPr id="26" name="Text 24"/>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7A85"/>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4919B"/>
                </a:solidFill>
                <a:latin typeface="Calibri" pitchFamily="34" charset="0"/>
                <a:ea typeface="Calibri" pitchFamily="34" charset="-122"/>
                <a:cs typeface="Calibri" pitchFamily="34" charset="-120"/>
              </a:rPr>
              <a:t>14.6 · BIOINFORMÁTICA Y DISEÑO DE FÁRMACOS</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buNone/>
            </a:pPr>
            <a:r>
              <a:rPr lang="en-US" sz="3200" b="1" dirty="0">
                <a:solidFill>
                  <a:srgbClr val="0B3D57"/>
                </a:solidFill>
                <a:latin typeface="Cambria" pitchFamily="34" charset="0"/>
                <a:ea typeface="Cambria" pitchFamily="34" charset="-122"/>
                <a:cs typeface="Cambria" pitchFamily="34" charset="-120"/>
              </a:rPr>
              <a:t>BLAST en el diseño de fármacos (CADD)</a:t>
            </a:r>
            <a:endParaRPr lang="en-US" sz="3200" dirty="0"/>
          </a:p>
        </p:txBody>
      </p:sp>
      <p:pic>
        <p:nvPicPr>
          <p:cNvPr id="4" name="Image 0" descr="/home/claude/work/img/fig14_11.jpg"/>
          <p:cNvPicPr>
            <a:picLocks noChangeAspect="1"/>
          </p:cNvPicPr>
          <p:nvPr/>
        </p:nvPicPr>
        <p:blipFill>
          <a:blip r:embed="rId3"/>
          <a:stretch>
            <a:fillRect/>
          </a:stretch>
        </p:blipFill>
        <p:spPr>
          <a:xfrm>
            <a:off x="548640" y="1691640"/>
            <a:ext cx="5120640" cy="3589020"/>
          </a:xfrm>
          <a:prstGeom prst="rect">
            <a:avLst/>
          </a:prstGeom>
        </p:spPr>
      </p:pic>
      <p:sp>
        <p:nvSpPr>
          <p:cNvPr id="5" name="Text 2"/>
          <p:cNvSpPr/>
          <p:nvPr/>
        </p:nvSpPr>
        <p:spPr>
          <a:xfrm>
            <a:off x="548640" y="5394960"/>
            <a:ext cx="5120640" cy="548640"/>
          </a:xfrm>
          <a:prstGeom prst="rect">
            <a:avLst/>
          </a:prstGeom>
          <a:noFill/>
          <a:ln/>
        </p:spPr>
        <p:txBody>
          <a:bodyPr wrap="square" rtlCol="0" anchor="ctr"/>
          <a:lstStyle/>
          <a:p>
            <a:pPr marL="0" indent="0">
              <a:buNone/>
            </a:pPr>
            <a:r>
              <a:rPr lang="en-US" sz="900" i="1" dirty="0">
                <a:solidFill>
                  <a:srgbClr val="5C7A85"/>
                </a:solidFill>
                <a:latin typeface="Calibri" pitchFamily="34" charset="0"/>
                <a:ea typeface="Calibri" pitchFamily="34" charset="-122"/>
                <a:cs typeface="Calibri" pitchFamily="34" charset="-120"/>
              </a:rPr>
              <a:t>Fig. 14.11 — Interacción fármaco-diana en su forma más simplificada: identificar la proteína de interés para inhabilitarla y curar la enfermedad.</a:t>
            </a:r>
            <a:endParaRPr lang="en-US" sz="900" dirty="0"/>
          </a:p>
        </p:txBody>
      </p:sp>
      <p:sp>
        <p:nvSpPr>
          <p:cNvPr id="6" name="Text 3"/>
          <p:cNvSpPr/>
          <p:nvPr/>
        </p:nvSpPr>
        <p:spPr>
          <a:xfrm>
            <a:off x="5943600" y="1691640"/>
            <a:ext cx="5669280" cy="1188720"/>
          </a:xfrm>
          <a:prstGeom prst="rect">
            <a:avLst/>
          </a:prstGeom>
          <a:noFill/>
          <a:ln/>
        </p:spPr>
        <p:txBody>
          <a:bodyPr wrap="square" rtlCol="0" anchor="ctr"/>
          <a:lstStyle/>
          <a:p>
            <a:pPr marL="0" indent="0">
              <a:lnSpc>
                <a:spcPts val="1800"/>
              </a:lnSpc>
              <a:buNone/>
            </a:pPr>
            <a:r>
              <a:rPr lang="en-US" sz="1300" dirty="0">
                <a:solidFill>
                  <a:srgbClr val="17303B"/>
                </a:solidFill>
                <a:latin typeface="Calibri" pitchFamily="34" charset="0"/>
                <a:ea typeface="Calibri" pitchFamily="34" charset="-122"/>
                <a:cs typeface="Calibri" pitchFamily="34" charset="-120"/>
              </a:rPr>
              <a:t>El diseño de fármacos asistido por computadora (CADD) usa métodos computacionales para estudiar la interacción fármaco-receptor, ahorrando tiempo y dinero frente al método tradicional de prueba y error.</a:t>
            </a:r>
            <a:endParaRPr lang="en-US" sz="1300" dirty="0"/>
          </a:p>
        </p:txBody>
      </p:sp>
      <p:sp>
        <p:nvSpPr>
          <p:cNvPr id="7" name="Shape 4"/>
          <p:cNvSpPr/>
          <p:nvPr/>
        </p:nvSpPr>
        <p:spPr>
          <a:xfrm>
            <a:off x="5943600" y="3118104"/>
            <a:ext cx="128016" cy="128016"/>
          </a:xfrm>
          <a:prstGeom prst="ellipse">
            <a:avLst/>
          </a:prstGeom>
          <a:solidFill>
            <a:srgbClr val="00C2A8"/>
          </a:solidFill>
          <a:ln/>
        </p:spPr>
        <p:txBody>
          <a:bodyPr/>
          <a:lstStyle/>
          <a:p>
            <a:endParaRPr lang="es-MX"/>
          </a:p>
        </p:txBody>
      </p:sp>
      <p:sp>
        <p:nvSpPr>
          <p:cNvPr id="8" name="Text 5"/>
          <p:cNvSpPr/>
          <p:nvPr/>
        </p:nvSpPr>
        <p:spPr>
          <a:xfrm>
            <a:off x="6263640" y="2953512"/>
            <a:ext cx="5349240" cy="594360"/>
          </a:xfrm>
          <a:prstGeom prst="rect">
            <a:avLst/>
          </a:prstGeom>
          <a:noFill/>
          <a:ln/>
        </p:spPr>
        <p:txBody>
          <a:bodyPr wrap="square" rtlCol="0" anchor="ctr"/>
          <a:lstStyle/>
          <a:p>
            <a:pPr marL="0" indent="0">
              <a:lnSpc>
                <a:spcPts val="1600"/>
              </a:lnSpc>
              <a:buNone/>
            </a:pPr>
            <a:r>
              <a:rPr lang="en-US" sz="1200" dirty="0">
                <a:solidFill>
                  <a:srgbClr val="17303B"/>
                </a:solidFill>
                <a:latin typeface="Calibri" pitchFamily="34" charset="0"/>
                <a:ea typeface="Calibri" pitchFamily="34" charset="-122"/>
                <a:cs typeface="Calibri" pitchFamily="34" charset="-120"/>
              </a:rPr>
              <a:t>Identificar la diana farmacológica ya disponible en bases de datos de proteínas.</a:t>
            </a:r>
            <a:endParaRPr lang="en-US" sz="1200" dirty="0"/>
          </a:p>
        </p:txBody>
      </p:sp>
      <p:sp>
        <p:nvSpPr>
          <p:cNvPr id="9" name="Shape 6"/>
          <p:cNvSpPr/>
          <p:nvPr/>
        </p:nvSpPr>
        <p:spPr>
          <a:xfrm>
            <a:off x="5943600" y="3895344"/>
            <a:ext cx="128016" cy="128016"/>
          </a:xfrm>
          <a:prstGeom prst="ellipse">
            <a:avLst/>
          </a:prstGeom>
          <a:solidFill>
            <a:srgbClr val="00C2A8"/>
          </a:solidFill>
          <a:ln/>
        </p:spPr>
        <p:txBody>
          <a:bodyPr/>
          <a:lstStyle/>
          <a:p>
            <a:endParaRPr lang="es-MX"/>
          </a:p>
        </p:txBody>
      </p:sp>
      <p:sp>
        <p:nvSpPr>
          <p:cNvPr id="10" name="Text 7"/>
          <p:cNvSpPr/>
          <p:nvPr/>
        </p:nvSpPr>
        <p:spPr>
          <a:xfrm>
            <a:off x="6263640" y="3730752"/>
            <a:ext cx="5349240" cy="594360"/>
          </a:xfrm>
          <a:prstGeom prst="rect">
            <a:avLst/>
          </a:prstGeom>
          <a:noFill/>
          <a:ln/>
        </p:spPr>
        <p:txBody>
          <a:bodyPr wrap="square" rtlCol="0" anchor="ctr"/>
          <a:lstStyle/>
          <a:p>
            <a:pPr marL="0" indent="0">
              <a:lnSpc>
                <a:spcPts val="1600"/>
              </a:lnSpc>
              <a:buNone/>
            </a:pPr>
            <a:r>
              <a:rPr lang="en-US" sz="1200" dirty="0">
                <a:solidFill>
                  <a:srgbClr val="17303B"/>
                </a:solidFill>
                <a:latin typeface="Calibri" pitchFamily="34" charset="0"/>
                <a:ea typeface="Calibri" pitchFamily="34" charset="-122"/>
                <a:cs typeface="Calibri" pitchFamily="34" charset="-120"/>
              </a:rPr>
              <a:t>Generar la estructura 3D del sitio activo o de la proteína completa vía síntesis de novo.</a:t>
            </a:r>
            <a:endParaRPr lang="en-US" sz="1200" dirty="0"/>
          </a:p>
        </p:txBody>
      </p:sp>
      <p:sp>
        <p:nvSpPr>
          <p:cNvPr id="11" name="Shape 8"/>
          <p:cNvSpPr/>
          <p:nvPr/>
        </p:nvSpPr>
        <p:spPr>
          <a:xfrm>
            <a:off x="5943600" y="4672584"/>
            <a:ext cx="128016" cy="128016"/>
          </a:xfrm>
          <a:prstGeom prst="ellipse">
            <a:avLst/>
          </a:prstGeom>
          <a:solidFill>
            <a:srgbClr val="00C2A8"/>
          </a:solidFill>
          <a:ln/>
        </p:spPr>
        <p:txBody>
          <a:bodyPr/>
          <a:lstStyle/>
          <a:p>
            <a:endParaRPr lang="es-MX"/>
          </a:p>
        </p:txBody>
      </p:sp>
      <p:sp>
        <p:nvSpPr>
          <p:cNvPr id="12" name="Text 9"/>
          <p:cNvSpPr/>
          <p:nvPr/>
        </p:nvSpPr>
        <p:spPr>
          <a:xfrm>
            <a:off x="6263640" y="4507992"/>
            <a:ext cx="5349240" cy="594360"/>
          </a:xfrm>
          <a:prstGeom prst="rect">
            <a:avLst/>
          </a:prstGeom>
          <a:noFill/>
          <a:ln/>
        </p:spPr>
        <p:txBody>
          <a:bodyPr wrap="square" rtlCol="0" anchor="ctr"/>
          <a:lstStyle/>
          <a:p>
            <a:pPr marL="0" indent="0">
              <a:lnSpc>
                <a:spcPts val="1600"/>
              </a:lnSpc>
              <a:buNone/>
            </a:pPr>
            <a:r>
              <a:rPr lang="en-US" sz="1200" dirty="0">
                <a:solidFill>
                  <a:srgbClr val="17303B"/>
                </a:solidFill>
                <a:latin typeface="Calibri" pitchFamily="34" charset="0"/>
                <a:ea typeface="Calibri" pitchFamily="34" charset="-122"/>
                <a:cs typeface="Calibri" pitchFamily="34" charset="-120"/>
              </a:rPr>
              <a:t>Encontrar el molde (template) homólogo (≥30% identidad) para el modelado por homología.</a:t>
            </a:r>
            <a:endParaRPr lang="en-US" sz="1200" dirty="0"/>
          </a:p>
        </p:txBody>
      </p:sp>
      <p:sp>
        <p:nvSpPr>
          <p:cNvPr id="13" name="Shape 10"/>
          <p:cNvSpPr/>
          <p:nvPr/>
        </p:nvSpPr>
        <p:spPr>
          <a:xfrm>
            <a:off x="5943600" y="5440680"/>
            <a:ext cx="5669280" cy="914400"/>
          </a:xfrm>
          <a:prstGeom prst="roundRect">
            <a:avLst>
              <a:gd name="adj" fmla="val 8000"/>
            </a:avLst>
          </a:prstGeom>
          <a:solidFill>
            <a:srgbClr val="0B3D57"/>
          </a:solidFill>
          <a:ln/>
        </p:spPr>
        <p:txBody>
          <a:bodyPr/>
          <a:lstStyle/>
          <a:p>
            <a:endParaRPr lang="es-MX"/>
          </a:p>
        </p:txBody>
      </p:sp>
      <p:sp>
        <p:nvSpPr>
          <p:cNvPr id="14" name="Text 11"/>
          <p:cNvSpPr/>
          <p:nvPr/>
        </p:nvSpPr>
        <p:spPr>
          <a:xfrm>
            <a:off x="6172200" y="5440680"/>
            <a:ext cx="5212080" cy="914400"/>
          </a:xfrm>
          <a:prstGeom prst="rect">
            <a:avLst/>
          </a:prstGeom>
          <a:noFill/>
          <a:ln/>
        </p:spPr>
        <p:txBody>
          <a:bodyPr wrap="square" rtlCol="0" anchor="ctr"/>
          <a:lstStyle/>
          <a:p>
            <a:pPr marL="0" indent="0">
              <a:lnSpc>
                <a:spcPts val="1500"/>
              </a:lnSpc>
              <a:buNone/>
            </a:pPr>
            <a:r>
              <a:rPr lang="en-US" sz="1150" i="1" dirty="0">
                <a:solidFill>
                  <a:srgbClr val="FFFFFF"/>
                </a:solidFill>
                <a:latin typeface="Calibri" pitchFamily="34" charset="0"/>
                <a:ea typeface="Calibri" pitchFamily="34" charset="-122"/>
                <a:cs typeface="Calibri" pitchFamily="34" charset="-120"/>
              </a:rPr>
              <a:t>BLAST es la técnica central para encontrar secuencias que comparten propiedades estructurales y funcionales con dianas ya conocidas.</a:t>
            </a:r>
            <a:endParaRPr lang="en-US" sz="1150" dirty="0"/>
          </a:p>
        </p:txBody>
      </p:sp>
      <p:sp>
        <p:nvSpPr>
          <p:cNvPr id="15" name="Text 12"/>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7A85"/>
                </a:solidFill>
                <a:latin typeface="Calibri" pitchFamily="34" charset="0"/>
                <a:ea typeface="Calibri" pitchFamily="34" charset="-122"/>
                <a:cs typeface="Calibri" pitchFamily="34" charset="-120"/>
              </a:rPr>
              <a:t>BLAST y diseño de fármacos asistido por computadora</a:t>
            </a:r>
            <a:endParaRPr lang="en-US" sz="900" dirty="0"/>
          </a:p>
        </p:txBody>
      </p:sp>
      <p:sp>
        <p:nvSpPr>
          <p:cNvPr id="16" name="Text 13"/>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7A85"/>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4919B"/>
                </a:solidFill>
                <a:latin typeface="Calibri" pitchFamily="34" charset="0"/>
                <a:ea typeface="Calibri" pitchFamily="34" charset="-122"/>
                <a:cs typeface="Calibri" pitchFamily="34" charset="-120"/>
              </a:rPr>
              <a:t>14.6 · ESTRATEGIAS DE CADD</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buNone/>
            </a:pPr>
            <a:r>
              <a:rPr lang="en-US" sz="3200" b="1" dirty="0">
                <a:solidFill>
                  <a:srgbClr val="0B3D57"/>
                </a:solidFill>
                <a:latin typeface="Cambria" pitchFamily="34" charset="0"/>
                <a:ea typeface="Cambria" pitchFamily="34" charset="-122"/>
                <a:cs typeface="Cambria" pitchFamily="34" charset="-120"/>
              </a:rPr>
              <a:t>Cuatro caminos según lo que conocemos</a:t>
            </a:r>
            <a:endParaRPr lang="en-US" sz="3200" dirty="0"/>
          </a:p>
        </p:txBody>
      </p:sp>
      <p:pic>
        <p:nvPicPr>
          <p:cNvPr id="4" name="Image 0" descr="/home/claude/work/img/fig14_12.jpg"/>
          <p:cNvPicPr>
            <a:picLocks noChangeAspect="1"/>
          </p:cNvPicPr>
          <p:nvPr/>
        </p:nvPicPr>
        <p:blipFill>
          <a:blip r:embed="rId3"/>
          <a:stretch>
            <a:fillRect/>
          </a:stretch>
        </p:blipFill>
        <p:spPr>
          <a:xfrm>
            <a:off x="548640" y="1691640"/>
            <a:ext cx="6126480" cy="4306824"/>
          </a:xfrm>
          <a:prstGeom prst="rect">
            <a:avLst/>
          </a:prstGeom>
        </p:spPr>
      </p:pic>
      <p:sp>
        <p:nvSpPr>
          <p:cNvPr id="5" name="Text 2"/>
          <p:cNvSpPr/>
          <p:nvPr/>
        </p:nvSpPr>
        <p:spPr>
          <a:xfrm>
            <a:off x="548640" y="6053328"/>
            <a:ext cx="6126480" cy="502920"/>
          </a:xfrm>
          <a:prstGeom prst="rect">
            <a:avLst/>
          </a:prstGeom>
          <a:noFill/>
          <a:ln/>
        </p:spPr>
        <p:txBody>
          <a:bodyPr wrap="square" rtlCol="0" anchor="ctr"/>
          <a:lstStyle/>
          <a:p>
            <a:pPr marL="0" indent="0">
              <a:buNone/>
            </a:pPr>
            <a:r>
              <a:rPr lang="en-US" sz="900" i="1" dirty="0">
                <a:solidFill>
                  <a:srgbClr val="5C7A85"/>
                </a:solidFill>
                <a:latin typeface="Calibri" pitchFamily="34" charset="0"/>
                <a:ea typeface="Calibri" pitchFamily="34" charset="-122"/>
                <a:cs typeface="Calibri" pitchFamily="34" charset="-120"/>
              </a:rPr>
              <a:t>Fig. 14.12 — CADD identifica dianas según el conocimiento existente de proteínas y ligandos. QSAR: relación cuantitativa estructura-actividad.</a:t>
            </a:r>
            <a:endParaRPr lang="en-US" sz="900" dirty="0"/>
          </a:p>
        </p:txBody>
      </p:sp>
      <p:sp>
        <p:nvSpPr>
          <p:cNvPr id="6" name="Text 3"/>
          <p:cNvSpPr/>
          <p:nvPr/>
        </p:nvSpPr>
        <p:spPr>
          <a:xfrm>
            <a:off x="6903720" y="1691640"/>
            <a:ext cx="4709160" cy="868680"/>
          </a:xfrm>
          <a:prstGeom prst="rect">
            <a:avLst/>
          </a:prstGeom>
          <a:noFill/>
          <a:ln/>
        </p:spPr>
        <p:txBody>
          <a:bodyPr wrap="square" rtlCol="0" anchor="ctr"/>
          <a:lstStyle/>
          <a:p>
            <a:pPr marL="0" indent="0">
              <a:lnSpc>
                <a:spcPts val="1500"/>
              </a:lnSpc>
              <a:buNone/>
            </a:pPr>
            <a:r>
              <a:rPr lang="en-US" sz="1200" b="1" dirty="0">
                <a:solidFill>
                  <a:srgbClr val="0B3D57"/>
                </a:solidFill>
                <a:latin typeface="Calibri" pitchFamily="34" charset="0"/>
                <a:ea typeface="Calibri" pitchFamily="34" charset="-122"/>
                <a:cs typeface="Calibri" pitchFamily="34" charset="-120"/>
              </a:rPr>
              <a:t>Diseño basado en estructura — </a:t>
            </a:r>
            <a:r>
              <a:rPr lang="en-US" sz="1150" dirty="0">
                <a:solidFill>
                  <a:srgbClr val="17303B"/>
                </a:solidFill>
                <a:latin typeface="Calibri" pitchFamily="34" charset="0"/>
                <a:ea typeface="Calibri" pitchFamily="34" charset="-122"/>
                <a:cs typeface="Calibri" pitchFamily="34" charset="-120"/>
              </a:rPr>
              <a:t>Proteína y ligando conocidos → acoplamiento proteína-ligando (docking).</a:t>
            </a:r>
            <a:endParaRPr lang="en-US" sz="1200" dirty="0"/>
          </a:p>
        </p:txBody>
      </p:sp>
      <p:sp>
        <p:nvSpPr>
          <p:cNvPr id="7" name="Text 4"/>
          <p:cNvSpPr/>
          <p:nvPr/>
        </p:nvSpPr>
        <p:spPr>
          <a:xfrm>
            <a:off x="6903720" y="2743200"/>
            <a:ext cx="4709160" cy="868680"/>
          </a:xfrm>
          <a:prstGeom prst="rect">
            <a:avLst/>
          </a:prstGeom>
          <a:noFill/>
          <a:ln/>
        </p:spPr>
        <p:txBody>
          <a:bodyPr wrap="square" rtlCol="0" anchor="ctr"/>
          <a:lstStyle/>
          <a:p>
            <a:pPr marL="0" indent="0">
              <a:lnSpc>
                <a:spcPts val="1500"/>
              </a:lnSpc>
              <a:buNone/>
            </a:pPr>
            <a:r>
              <a:rPr lang="en-US" sz="1200" b="1" dirty="0">
                <a:solidFill>
                  <a:srgbClr val="0B3D57"/>
                </a:solidFill>
                <a:latin typeface="Calibri" pitchFamily="34" charset="0"/>
                <a:ea typeface="Calibri" pitchFamily="34" charset="-122"/>
                <a:cs typeface="Calibri" pitchFamily="34" charset="-120"/>
              </a:rPr>
              <a:t>Diseño de novo — </a:t>
            </a:r>
            <a:r>
              <a:rPr lang="en-US" sz="1150" dirty="0">
                <a:solidFill>
                  <a:srgbClr val="17303B"/>
                </a:solidFill>
                <a:latin typeface="Calibri" pitchFamily="34" charset="0"/>
                <a:ea typeface="Calibri" pitchFamily="34" charset="-122"/>
                <a:cs typeface="Calibri" pitchFamily="34" charset="-120"/>
              </a:rPr>
              <a:t>Proteína conocida, ligando desconocido → se generan nuevos candidatos.</a:t>
            </a:r>
            <a:endParaRPr lang="en-US" sz="1200" dirty="0"/>
          </a:p>
        </p:txBody>
      </p:sp>
      <p:sp>
        <p:nvSpPr>
          <p:cNvPr id="8" name="Text 5"/>
          <p:cNvSpPr/>
          <p:nvPr/>
        </p:nvSpPr>
        <p:spPr>
          <a:xfrm>
            <a:off x="6903720" y="3794760"/>
            <a:ext cx="4709160" cy="868680"/>
          </a:xfrm>
          <a:prstGeom prst="rect">
            <a:avLst/>
          </a:prstGeom>
          <a:noFill/>
          <a:ln/>
        </p:spPr>
        <p:txBody>
          <a:bodyPr wrap="square" rtlCol="0" anchor="ctr"/>
          <a:lstStyle/>
          <a:p>
            <a:pPr marL="0" indent="0">
              <a:lnSpc>
                <a:spcPts val="1500"/>
              </a:lnSpc>
              <a:buNone/>
            </a:pPr>
            <a:r>
              <a:rPr lang="en-US" sz="1200" b="1" dirty="0">
                <a:solidFill>
                  <a:srgbClr val="0B3D57"/>
                </a:solidFill>
                <a:latin typeface="Calibri" pitchFamily="34" charset="0"/>
                <a:ea typeface="Calibri" pitchFamily="34" charset="-122"/>
                <a:cs typeface="Calibri" pitchFamily="34" charset="-120"/>
              </a:rPr>
              <a:t>Diseño basado en ligando — </a:t>
            </a:r>
            <a:r>
              <a:rPr lang="en-US" sz="1150" dirty="0">
                <a:solidFill>
                  <a:srgbClr val="17303B"/>
                </a:solidFill>
                <a:latin typeface="Calibri" pitchFamily="34" charset="0"/>
                <a:ea typeface="Calibri" pitchFamily="34" charset="-122"/>
                <a:cs typeface="Calibri" pitchFamily="34" charset="-120"/>
              </a:rPr>
              <a:t>Proteína desconocida, ligando conocido → farmacóforos, QSAR.</a:t>
            </a:r>
            <a:endParaRPr lang="en-US" sz="1200" dirty="0"/>
          </a:p>
        </p:txBody>
      </p:sp>
      <p:sp>
        <p:nvSpPr>
          <p:cNvPr id="9" name="Text 6"/>
          <p:cNvSpPr/>
          <p:nvPr/>
        </p:nvSpPr>
        <p:spPr>
          <a:xfrm>
            <a:off x="6903720" y="4846320"/>
            <a:ext cx="4709160" cy="868680"/>
          </a:xfrm>
          <a:prstGeom prst="rect">
            <a:avLst/>
          </a:prstGeom>
          <a:noFill/>
          <a:ln/>
        </p:spPr>
        <p:txBody>
          <a:bodyPr wrap="square" rtlCol="0" anchor="ctr"/>
          <a:lstStyle/>
          <a:p>
            <a:pPr marL="0" indent="0">
              <a:lnSpc>
                <a:spcPts val="1500"/>
              </a:lnSpc>
              <a:buNone/>
            </a:pPr>
            <a:r>
              <a:rPr lang="en-US" sz="1200" b="1" dirty="0">
                <a:solidFill>
                  <a:srgbClr val="0B3D57"/>
                </a:solidFill>
                <a:latin typeface="Calibri" pitchFamily="34" charset="0"/>
                <a:ea typeface="Calibri" pitchFamily="34" charset="-122"/>
                <a:cs typeface="Calibri" pitchFamily="34" charset="-120"/>
              </a:rPr>
              <a:t>Sin utilidad para CADD — </a:t>
            </a:r>
            <a:r>
              <a:rPr lang="en-US" sz="1150" dirty="0">
                <a:solidFill>
                  <a:srgbClr val="17303B"/>
                </a:solidFill>
                <a:latin typeface="Calibri" pitchFamily="34" charset="0"/>
                <a:ea typeface="Calibri" pitchFamily="34" charset="-122"/>
                <a:cs typeface="Calibri" pitchFamily="34" charset="-120"/>
              </a:rPr>
              <a:t>Ni proteína ni ligando conocidos: no hay punto de partida computacional.</a:t>
            </a:r>
            <a:endParaRPr lang="en-US" sz="1200" dirty="0"/>
          </a:p>
        </p:txBody>
      </p:sp>
      <p:sp>
        <p:nvSpPr>
          <p:cNvPr id="10" name="Text 7"/>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7A85"/>
                </a:solidFill>
                <a:latin typeface="Calibri" pitchFamily="34" charset="0"/>
                <a:ea typeface="Calibri" pitchFamily="34" charset="-122"/>
                <a:cs typeface="Calibri" pitchFamily="34" charset="-120"/>
              </a:rPr>
              <a:t>BLAST y diseño de fármacos asistido por computadora</a:t>
            </a:r>
            <a:endParaRPr lang="en-US" sz="900" dirty="0"/>
          </a:p>
        </p:txBody>
      </p:sp>
      <p:sp>
        <p:nvSpPr>
          <p:cNvPr id="11" name="Text 8"/>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7A85"/>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4919B"/>
                </a:solidFill>
                <a:latin typeface="Calibri" pitchFamily="34" charset="0"/>
                <a:ea typeface="Calibri" pitchFamily="34" charset="-122"/>
                <a:cs typeface="Calibri" pitchFamily="34" charset="-120"/>
              </a:rPr>
              <a:t>14.7 · APLICACIONES</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buNone/>
            </a:pPr>
            <a:r>
              <a:rPr lang="en-US" sz="3200" b="1" dirty="0">
                <a:solidFill>
                  <a:srgbClr val="0B3D57"/>
                </a:solidFill>
                <a:latin typeface="Cambria" pitchFamily="34" charset="0"/>
                <a:ea typeface="Cambria" pitchFamily="34" charset="-122"/>
                <a:cs typeface="Cambria" pitchFamily="34" charset="-120"/>
              </a:rPr>
              <a:t>Aplicaciones de BLAST</a:t>
            </a:r>
            <a:endParaRPr lang="en-US" sz="3200" dirty="0"/>
          </a:p>
        </p:txBody>
      </p:sp>
      <p:sp>
        <p:nvSpPr>
          <p:cNvPr id="4" name="Shape 2"/>
          <p:cNvSpPr/>
          <p:nvPr/>
        </p:nvSpPr>
        <p:spPr>
          <a:xfrm>
            <a:off x="548640" y="1691640"/>
            <a:ext cx="320040" cy="320040"/>
          </a:xfrm>
          <a:prstGeom prst="roundRect">
            <a:avLst>
              <a:gd name="adj" fmla="val 17143"/>
            </a:avLst>
          </a:prstGeom>
          <a:solidFill>
            <a:srgbClr val="00C2A8"/>
          </a:solidFill>
          <a:ln/>
        </p:spPr>
        <p:txBody>
          <a:bodyPr/>
          <a:lstStyle/>
          <a:p>
            <a:endParaRPr lang="es-MX"/>
          </a:p>
        </p:txBody>
      </p:sp>
      <p:sp>
        <p:nvSpPr>
          <p:cNvPr id="5" name="Text 3"/>
          <p:cNvSpPr/>
          <p:nvPr/>
        </p:nvSpPr>
        <p:spPr>
          <a:xfrm>
            <a:off x="548640" y="1691640"/>
            <a:ext cx="320040" cy="320040"/>
          </a:xfrm>
          <a:prstGeom prst="rect">
            <a:avLst/>
          </a:prstGeom>
          <a:noFill/>
          <a:ln/>
        </p:spPr>
        <p:txBody>
          <a:bodyPr wrap="square" rtlCol="0" anchor="ctr"/>
          <a:lstStyle/>
          <a:p>
            <a:pPr marL="0" indent="0" algn="ctr">
              <a:buNone/>
            </a:pPr>
            <a:r>
              <a:rPr lang="en-US" sz="1200" b="1" dirty="0">
                <a:solidFill>
                  <a:srgbClr val="0B3D57"/>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05840" y="1618488"/>
            <a:ext cx="4892040" cy="640080"/>
          </a:xfrm>
          <a:prstGeom prst="rect">
            <a:avLst/>
          </a:prstGeom>
          <a:noFill/>
          <a:ln/>
        </p:spPr>
        <p:txBody>
          <a:bodyPr wrap="square" rtlCol="0" anchor="ctr"/>
          <a:lstStyle/>
          <a:p>
            <a:pPr marL="0" indent="0">
              <a:lnSpc>
                <a:spcPts val="1400"/>
              </a:lnSpc>
              <a:buNone/>
            </a:pPr>
            <a:r>
              <a:rPr lang="en-US" sz="1150" dirty="0">
                <a:solidFill>
                  <a:srgbClr val="17303B"/>
                </a:solidFill>
                <a:latin typeface="Calibri" pitchFamily="34" charset="0"/>
                <a:ea typeface="Calibri" pitchFamily="34" charset="-122"/>
                <a:cs typeface="Calibri" pitchFamily="34" charset="-120"/>
              </a:rPr>
              <a:t>Identificación de dianas terapéuticas para el descubrimiento de fármacos</a:t>
            </a:r>
            <a:endParaRPr lang="en-US" sz="1150" dirty="0"/>
          </a:p>
        </p:txBody>
      </p:sp>
      <p:sp>
        <p:nvSpPr>
          <p:cNvPr id="7" name="Shape 5"/>
          <p:cNvSpPr/>
          <p:nvPr/>
        </p:nvSpPr>
        <p:spPr>
          <a:xfrm>
            <a:off x="6217920" y="1691640"/>
            <a:ext cx="320040" cy="320040"/>
          </a:xfrm>
          <a:prstGeom prst="roundRect">
            <a:avLst>
              <a:gd name="adj" fmla="val 17143"/>
            </a:avLst>
          </a:prstGeom>
          <a:solidFill>
            <a:srgbClr val="00C2A8"/>
          </a:solidFill>
          <a:ln/>
        </p:spPr>
        <p:txBody>
          <a:bodyPr/>
          <a:lstStyle/>
          <a:p>
            <a:endParaRPr lang="es-MX"/>
          </a:p>
        </p:txBody>
      </p:sp>
      <p:sp>
        <p:nvSpPr>
          <p:cNvPr id="8" name="Text 6"/>
          <p:cNvSpPr/>
          <p:nvPr/>
        </p:nvSpPr>
        <p:spPr>
          <a:xfrm>
            <a:off x="6217920" y="1691640"/>
            <a:ext cx="320040" cy="320040"/>
          </a:xfrm>
          <a:prstGeom prst="rect">
            <a:avLst/>
          </a:prstGeom>
          <a:noFill/>
          <a:ln/>
        </p:spPr>
        <p:txBody>
          <a:bodyPr wrap="square" rtlCol="0" anchor="ctr"/>
          <a:lstStyle/>
          <a:p>
            <a:pPr marL="0" indent="0" algn="ctr">
              <a:buNone/>
            </a:pPr>
            <a:r>
              <a:rPr lang="en-US" sz="1200" b="1" dirty="0">
                <a:solidFill>
                  <a:srgbClr val="0B3D57"/>
                </a:solidFill>
                <a:latin typeface="Calibri" pitchFamily="34" charset="0"/>
                <a:ea typeface="Calibri" pitchFamily="34" charset="-122"/>
                <a:cs typeface="Calibri" pitchFamily="34" charset="-120"/>
              </a:rPr>
              <a:t>2</a:t>
            </a:r>
            <a:endParaRPr lang="en-US" sz="1200" dirty="0"/>
          </a:p>
        </p:txBody>
      </p:sp>
      <p:sp>
        <p:nvSpPr>
          <p:cNvPr id="9" name="Text 7"/>
          <p:cNvSpPr/>
          <p:nvPr/>
        </p:nvSpPr>
        <p:spPr>
          <a:xfrm>
            <a:off x="6675120" y="1618488"/>
            <a:ext cx="4892040" cy="640080"/>
          </a:xfrm>
          <a:prstGeom prst="rect">
            <a:avLst/>
          </a:prstGeom>
          <a:noFill/>
          <a:ln/>
        </p:spPr>
        <p:txBody>
          <a:bodyPr wrap="square" rtlCol="0" anchor="ctr"/>
          <a:lstStyle/>
          <a:p>
            <a:pPr marL="0" indent="0">
              <a:lnSpc>
                <a:spcPts val="1400"/>
              </a:lnSpc>
              <a:buNone/>
            </a:pPr>
            <a:r>
              <a:rPr lang="en-US" sz="1150" dirty="0">
                <a:solidFill>
                  <a:srgbClr val="17303B"/>
                </a:solidFill>
                <a:latin typeface="Calibri" pitchFamily="34" charset="0"/>
                <a:ea typeface="Calibri" pitchFamily="34" charset="-122"/>
                <a:cs typeface="Calibri" pitchFamily="34" charset="-120"/>
              </a:rPr>
              <a:t>Identificación de estructuras secundarias y terciarias de proteínas</a:t>
            </a:r>
            <a:endParaRPr lang="en-US" sz="1150" dirty="0"/>
          </a:p>
        </p:txBody>
      </p:sp>
      <p:sp>
        <p:nvSpPr>
          <p:cNvPr id="10" name="Shape 8"/>
          <p:cNvSpPr/>
          <p:nvPr/>
        </p:nvSpPr>
        <p:spPr>
          <a:xfrm>
            <a:off x="548640" y="2514600"/>
            <a:ext cx="320040" cy="320040"/>
          </a:xfrm>
          <a:prstGeom prst="roundRect">
            <a:avLst>
              <a:gd name="adj" fmla="val 17143"/>
            </a:avLst>
          </a:prstGeom>
          <a:solidFill>
            <a:srgbClr val="00C2A8"/>
          </a:solidFill>
          <a:ln/>
        </p:spPr>
        <p:txBody>
          <a:bodyPr/>
          <a:lstStyle/>
          <a:p>
            <a:endParaRPr lang="es-MX"/>
          </a:p>
        </p:txBody>
      </p:sp>
      <p:sp>
        <p:nvSpPr>
          <p:cNvPr id="11" name="Text 9"/>
          <p:cNvSpPr/>
          <p:nvPr/>
        </p:nvSpPr>
        <p:spPr>
          <a:xfrm>
            <a:off x="548640" y="2514600"/>
            <a:ext cx="320040" cy="320040"/>
          </a:xfrm>
          <a:prstGeom prst="rect">
            <a:avLst/>
          </a:prstGeom>
          <a:noFill/>
          <a:ln/>
        </p:spPr>
        <p:txBody>
          <a:bodyPr wrap="square" rtlCol="0" anchor="ctr"/>
          <a:lstStyle/>
          <a:p>
            <a:pPr marL="0" indent="0" algn="ctr">
              <a:buNone/>
            </a:pPr>
            <a:r>
              <a:rPr lang="en-US" sz="1200" b="1" dirty="0">
                <a:solidFill>
                  <a:srgbClr val="0B3D57"/>
                </a:solidFill>
                <a:latin typeface="Calibri" pitchFamily="34" charset="0"/>
                <a:ea typeface="Calibri" pitchFamily="34" charset="-122"/>
                <a:cs typeface="Calibri" pitchFamily="34" charset="-120"/>
              </a:rPr>
              <a:t>3</a:t>
            </a:r>
            <a:endParaRPr lang="en-US" sz="1200" dirty="0"/>
          </a:p>
        </p:txBody>
      </p:sp>
      <p:sp>
        <p:nvSpPr>
          <p:cNvPr id="12" name="Text 10"/>
          <p:cNvSpPr/>
          <p:nvPr/>
        </p:nvSpPr>
        <p:spPr>
          <a:xfrm>
            <a:off x="1005840" y="2441448"/>
            <a:ext cx="4892040" cy="640080"/>
          </a:xfrm>
          <a:prstGeom prst="rect">
            <a:avLst/>
          </a:prstGeom>
          <a:noFill/>
          <a:ln/>
        </p:spPr>
        <p:txBody>
          <a:bodyPr wrap="square" rtlCol="0" anchor="ctr"/>
          <a:lstStyle/>
          <a:p>
            <a:pPr marL="0" indent="0">
              <a:lnSpc>
                <a:spcPts val="1400"/>
              </a:lnSpc>
              <a:buNone/>
            </a:pPr>
            <a:r>
              <a:rPr lang="en-US" sz="1150" dirty="0">
                <a:solidFill>
                  <a:srgbClr val="17303B"/>
                </a:solidFill>
                <a:latin typeface="Calibri" pitchFamily="34" charset="0"/>
                <a:ea typeface="Calibri" pitchFamily="34" charset="-122"/>
                <a:cs typeface="Calibri" pitchFamily="34" charset="-120"/>
              </a:rPr>
              <a:t>Predicción de estructuras 3D de novo para dianas de unión</a:t>
            </a:r>
            <a:endParaRPr lang="en-US" sz="1150" dirty="0"/>
          </a:p>
        </p:txBody>
      </p:sp>
      <p:sp>
        <p:nvSpPr>
          <p:cNvPr id="13" name="Shape 11"/>
          <p:cNvSpPr/>
          <p:nvPr/>
        </p:nvSpPr>
        <p:spPr>
          <a:xfrm>
            <a:off x="6217920" y="2514600"/>
            <a:ext cx="320040" cy="320040"/>
          </a:xfrm>
          <a:prstGeom prst="roundRect">
            <a:avLst>
              <a:gd name="adj" fmla="val 17143"/>
            </a:avLst>
          </a:prstGeom>
          <a:solidFill>
            <a:srgbClr val="00C2A8"/>
          </a:solidFill>
          <a:ln/>
        </p:spPr>
        <p:txBody>
          <a:bodyPr/>
          <a:lstStyle/>
          <a:p>
            <a:endParaRPr lang="es-MX"/>
          </a:p>
        </p:txBody>
      </p:sp>
      <p:sp>
        <p:nvSpPr>
          <p:cNvPr id="14" name="Text 12"/>
          <p:cNvSpPr/>
          <p:nvPr/>
        </p:nvSpPr>
        <p:spPr>
          <a:xfrm>
            <a:off x="6217920" y="2514600"/>
            <a:ext cx="320040" cy="320040"/>
          </a:xfrm>
          <a:prstGeom prst="rect">
            <a:avLst/>
          </a:prstGeom>
          <a:noFill/>
          <a:ln/>
        </p:spPr>
        <p:txBody>
          <a:bodyPr wrap="square" rtlCol="0" anchor="ctr"/>
          <a:lstStyle/>
          <a:p>
            <a:pPr marL="0" indent="0" algn="ctr">
              <a:buNone/>
            </a:pPr>
            <a:r>
              <a:rPr lang="en-US" sz="1200" b="1" dirty="0">
                <a:solidFill>
                  <a:srgbClr val="0B3D57"/>
                </a:solidFill>
                <a:latin typeface="Calibri" pitchFamily="34" charset="0"/>
                <a:ea typeface="Calibri" pitchFamily="34" charset="-122"/>
                <a:cs typeface="Calibri" pitchFamily="34" charset="-120"/>
              </a:rPr>
              <a:t>4</a:t>
            </a:r>
            <a:endParaRPr lang="en-US" sz="1200" dirty="0"/>
          </a:p>
        </p:txBody>
      </p:sp>
      <p:sp>
        <p:nvSpPr>
          <p:cNvPr id="15" name="Text 13"/>
          <p:cNvSpPr/>
          <p:nvPr/>
        </p:nvSpPr>
        <p:spPr>
          <a:xfrm>
            <a:off x="6675120" y="2441448"/>
            <a:ext cx="4892040" cy="640080"/>
          </a:xfrm>
          <a:prstGeom prst="rect">
            <a:avLst/>
          </a:prstGeom>
          <a:noFill/>
          <a:ln/>
        </p:spPr>
        <p:txBody>
          <a:bodyPr wrap="square" rtlCol="0" anchor="ctr"/>
          <a:lstStyle/>
          <a:p>
            <a:pPr marL="0" indent="0">
              <a:lnSpc>
                <a:spcPts val="1400"/>
              </a:lnSpc>
              <a:buNone/>
            </a:pPr>
            <a:r>
              <a:rPr lang="en-US" sz="1150" dirty="0">
                <a:solidFill>
                  <a:srgbClr val="17303B"/>
                </a:solidFill>
                <a:latin typeface="Calibri" pitchFamily="34" charset="0"/>
                <a:ea typeface="Calibri" pitchFamily="34" charset="-122"/>
                <a:cs typeface="Calibri" pitchFamily="34" charset="-120"/>
              </a:rPr>
              <a:t>Identificación de especies y de secuencias homólogas, ortólogas y parálogas</a:t>
            </a:r>
            <a:endParaRPr lang="en-US" sz="1150" dirty="0"/>
          </a:p>
        </p:txBody>
      </p:sp>
      <p:sp>
        <p:nvSpPr>
          <p:cNvPr id="16" name="Shape 14"/>
          <p:cNvSpPr/>
          <p:nvPr/>
        </p:nvSpPr>
        <p:spPr>
          <a:xfrm>
            <a:off x="548640" y="3337560"/>
            <a:ext cx="320040" cy="320040"/>
          </a:xfrm>
          <a:prstGeom prst="roundRect">
            <a:avLst>
              <a:gd name="adj" fmla="val 17143"/>
            </a:avLst>
          </a:prstGeom>
          <a:solidFill>
            <a:srgbClr val="00C2A8"/>
          </a:solidFill>
          <a:ln/>
        </p:spPr>
        <p:txBody>
          <a:bodyPr/>
          <a:lstStyle/>
          <a:p>
            <a:endParaRPr lang="es-MX"/>
          </a:p>
        </p:txBody>
      </p:sp>
      <p:sp>
        <p:nvSpPr>
          <p:cNvPr id="17" name="Text 15"/>
          <p:cNvSpPr/>
          <p:nvPr/>
        </p:nvSpPr>
        <p:spPr>
          <a:xfrm>
            <a:off x="548640" y="3337560"/>
            <a:ext cx="320040" cy="320040"/>
          </a:xfrm>
          <a:prstGeom prst="rect">
            <a:avLst/>
          </a:prstGeom>
          <a:noFill/>
          <a:ln/>
        </p:spPr>
        <p:txBody>
          <a:bodyPr wrap="square" rtlCol="0" anchor="ctr"/>
          <a:lstStyle/>
          <a:p>
            <a:pPr marL="0" indent="0" algn="ctr">
              <a:buNone/>
            </a:pPr>
            <a:r>
              <a:rPr lang="en-US" sz="1200" b="1" dirty="0">
                <a:solidFill>
                  <a:srgbClr val="0B3D57"/>
                </a:solidFill>
                <a:latin typeface="Calibri" pitchFamily="34" charset="0"/>
                <a:ea typeface="Calibri" pitchFamily="34" charset="-122"/>
                <a:cs typeface="Calibri" pitchFamily="34" charset="-120"/>
              </a:rPr>
              <a:t>5</a:t>
            </a:r>
            <a:endParaRPr lang="en-US" sz="1200" dirty="0"/>
          </a:p>
        </p:txBody>
      </p:sp>
      <p:sp>
        <p:nvSpPr>
          <p:cNvPr id="18" name="Text 16"/>
          <p:cNvSpPr/>
          <p:nvPr/>
        </p:nvSpPr>
        <p:spPr>
          <a:xfrm>
            <a:off x="1005840" y="3264408"/>
            <a:ext cx="4892040" cy="640080"/>
          </a:xfrm>
          <a:prstGeom prst="rect">
            <a:avLst/>
          </a:prstGeom>
          <a:noFill/>
          <a:ln/>
        </p:spPr>
        <p:txBody>
          <a:bodyPr wrap="square" rtlCol="0" anchor="ctr"/>
          <a:lstStyle/>
          <a:p>
            <a:pPr marL="0" indent="0">
              <a:lnSpc>
                <a:spcPts val="1400"/>
              </a:lnSpc>
              <a:buNone/>
            </a:pPr>
            <a:r>
              <a:rPr lang="en-US" sz="1150" dirty="0">
                <a:solidFill>
                  <a:srgbClr val="17303B"/>
                </a:solidFill>
                <a:latin typeface="Calibri" pitchFamily="34" charset="0"/>
                <a:ea typeface="Calibri" pitchFamily="34" charset="-122"/>
                <a:cs typeface="Calibri" pitchFamily="34" charset="-120"/>
              </a:rPr>
              <a:t>Descubrimiento de dominios y motivos funcionales en proteínas</a:t>
            </a:r>
            <a:endParaRPr lang="en-US" sz="1150" dirty="0"/>
          </a:p>
        </p:txBody>
      </p:sp>
      <p:sp>
        <p:nvSpPr>
          <p:cNvPr id="19" name="Shape 17"/>
          <p:cNvSpPr/>
          <p:nvPr/>
        </p:nvSpPr>
        <p:spPr>
          <a:xfrm>
            <a:off x="6217920" y="3337560"/>
            <a:ext cx="320040" cy="320040"/>
          </a:xfrm>
          <a:prstGeom prst="roundRect">
            <a:avLst>
              <a:gd name="adj" fmla="val 17143"/>
            </a:avLst>
          </a:prstGeom>
          <a:solidFill>
            <a:srgbClr val="00C2A8"/>
          </a:solidFill>
          <a:ln/>
        </p:spPr>
        <p:txBody>
          <a:bodyPr/>
          <a:lstStyle/>
          <a:p>
            <a:endParaRPr lang="es-MX"/>
          </a:p>
        </p:txBody>
      </p:sp>
      <p:sp>
        <p:nvSpPr>
          <p:cNvPr id="20" name="Text 18"/>
          <p:cNvSpPr/>
          <p:nvPr/>
        </p:nvSpPr>
        <p:spPr>
          <a:xfrm>
            <a:off x="6217920" y="3337560"/>
            <a:ext cx="320040" cy="320040"/>
          </a:xfrm>
          <a:prstGeom prst="rect">
            <a:avLst/>
          </a:prstGeom>
          <a:noFill/>
          <a:ln/>
        </p:spPr>
        <p:txBody>
          <a:bodyPr wrap="square" rtlCol="0" anchor="ctr"/>
          <a:lstStyle/>
          <a:p>
            <a:pPr marL="0" indent="0" algn="ctr">
              <a:buNone/>
            </a:pPr>
            <a:r>
              <a:rPr lang="en-US" sz="1200" b="1" dirty="0">
                <a:solidFill>
                  <a:srgbClr val="0B3D57"/>
                </a:solidFill>
                <a:latin typeface="Calibri" pitchFamily="34" charset="0"/>
                <a:ea typeface="Calibri" pitchFamily="34" charset="-122"/>
                <a:cs typeface="Calibri" pitchFamily="34" charset="-120"/>
              </a:rPr>
              <a:t>6</a:t>
            </a:r>
            <a:endParaRPr lang="en-US" sz="1200" dirty="0"/>
          </a:p>
        </p:txBody>
      </p:sp>
      <p:sp>
        <p:nvSpPr>
          <p:cNvPr id="21" name="Text 19"/>
          <p:cNvSpPr/>
          <p:nvPr/>
        </p:nvSpPr>
        <p:spPr>
          <a:xfrm>
            <a:off x="6675120" y="3264408"/>
            <a:ext cx="4892040" cy="640080"/>
          </a:xfrm>
          <a:prstGeom prst="rect">
            <a:avLst/>
          </a:prstGeom>
          <a:noFill/>
          <a:ln/>
        </p:spPr>
        <p:txBody>
          <a:bodyPr wrap="square" rtlCol="0" anchor="ctr"/>
          <a:lstStyle/>
          <a:p>
            <a:pPr marL="0" indent="0">
              <a:lnSpc>
                <a:spcPts val="1400"/>
              </a:lnSpc>
              <a:buNone/>
            </a:pPr>
            <a:r>
              <a:rPr lang="en-US" sz="1150" dirty="0">
                <a:solidFill>
                  <a:srgbClr val="17303B"/>
                </a:solidFill>
                <a:latin typeface="Calibri" pitchFamily="34" charset="0"/>
                <a:ea typeface="Calibri" pitchFamily="34" charset="-122"/>
                <a:cs typeface="Calibri" pitchFamily="34" charset="-120"/>
              </a:rPr>
              <a:t>Construcción de árboles filogenéticos y relaciones ancestrales</a:t>
            </a:r>
            <a:endParaRPr lang="en-US" sz="1150" dirty="0"/>
          </a:p>
        </p:txBody>
      </p:sp>
      <p:sp>
        <p:nvSpPr>
          <p:cNvPr id="22" name="Shape 20"/>
          <p:cNvSpPr/>
          <p:nvPr/>
        </p:nvSpPr>
        <p:spPr>
          <a:xfrm>
            <a:off x="548640" y="4160520"/>
            <a:ext cx="320040" cy="320040"/>
          </a:xfrm>
          <a:prstGeom prst="roundRect">
            <a:avLst>
              <a:gd name="adj" fmla="val 17143"/>
            </a:avLst>
          </a:prstGeom>
          <a:solidFill>
            <a:srgbClr val="00C2A8"/>
          </a:solidFill>
          <a:ln/>
        </p:spPr>
        <p:txBody>
          <a:bodyPr/>
          <a:lstStyle/>
          <a:p>
            <a:endParaRPr lang="es-MX"/>
          </a:p>
        </p:txBody>
      </p:sp>
      <p:sp>
        <p:nvSpPr>
          <p:cNvPr id="23" name="Text 21"/>
          <p:cNvSpPr/>
          <p:nvPr/>
        </p:nvSpPr>
        <p:spPr>
          <a:xfrm>
            <a:off x="548640" y="4160520"/>
            <a:ext cx="320040" cy="320040"/>
          </a:xfrm>
          <a:prstGeom prst="rect">
            <a:avLst/>
          </a:prstGeom>
          <a:noFill/>
          <a:ln/>
        </p:spPr>
        <p:txBody>
          <a:bodyPr wrap="square" rtlCol="0" anchor="ctr"/>
          <a:lstStyle/>
          <a:p>
            <a:pPr marL="0" indent="0" algn="ctr">
              <a:buNone/>
            </a:pPr>
            <a:r>
              <a:rPr lang="en-US" sz="1200" b="1" dirty="0">
                <a:solidFill>
                  <a:srgbClr val="0B3D57"/>
                </a:solidFill>
                <a:latin typeface="Calibri" pitchFamily="34" charset="0"/>
                <a:ea typeface="Calibri" pitchFamily="34" charset="-122"/>
                <a:cs typeface="Calibri" pitchFamily="34" charset="-120"/>
              </a:rPr>
              <a:t>7</a:t>
            </a:r>
            <a:endParaRPr lang="en-US" sz="1200" dirty="0"/>
          </a:p>
        </p:txBody>
      </p:sp>
      <p:sp>
        <p:nvSpPr>
          <p:cNvPr id="24" name="Text 22"/>
          <p:cNvSpPr/>
          <p:nvPr/>
        </p:nvSpPr>
        <p:spPr>
          <a:xfrm>
            <a:off x="1005840" y="4087368"/>
            <a:ext cx="4892040" cy="640080"/>
          </a:xfrm>
          <a:prstGeom prst="rect">
            <a:avLst/>
          </a:prstGeom>
          <a:noFill/>
          <a:ln/>
        </p:spPr>
        <p:txBody>
          <a:bodyPr wrap="square" rtlCol="0" anchor="ctr"/>
          <a:lstStyle/>
          <a:p>
            <a:pPr marL="0" indent="0">
              <a:lnSpc>
                <a:spcPts val="1400"/>
              </a:lnSpc>
              <a:buNone/>
            </a:pPr>
            <a:r>
              <a:rPr lang="en-US" sz="1150" dirty="0">
                <a:solidFill>
                  <a:srgbClr val="17303B"/>
                </a:solidFill>
                <a:latin typeface="Calibri" pitchFamily="34" charset="0"/>
                <a:ea typeface="Calibri" pitchFamily="34" charset="-122"/>
                <a:cs typeface="Calibri" pitchFamily="34" charset="-120"/>
              </a:rPr>
              <a:t>Mapeo de ADN en regiones desconocidas de un genoma (p. ej. Magic-BLAST)</a:t>
            </a:r>
            <a:endParaRPr lang="en-US" sz="1150" dirty="0"/>
          </a:p>
        </p:txBody>
      </p:sp>
      <p:sp>
        <p:nvSpPr>
          <p:cNvPr id="25" name="Shape 23"/>
          <p:cNvSpPr/>
          <p:nvPr/>
        </p:nvSpPr>
        <p:spPr>
          <a:xfrm>
            <a:off x="6217920" y="4160520"/>
            <a:ext cx="320040" cy="320040"/>
          </a:xfrm>
          <a:prstGeom prst="roundRect">
            <a:avLst>
              <a:gd name="adj" fmla="val 17143"/>
            </a:avLst>
          </a:prstGeom>
          <a:solidFill>
            <a:srgbClr val="00C2A8"/>
          </a:solidFill>
          <a:ln/>
        </p:spPr>
        <p:txBody>
          <a:bodyPr/>
          <a:lstStyle/>
          <a:p>
            <a:endParaRPr lang="es-MX"/>
          </a:p>
        </p:txBody>
      </p:sp>
      <p:sp>
        <p:nvSpPr>
          <p:cNvPr id="26" name="Text 24"/>
          <p:cNvSpPr/>
          <p:nvPr/>
        </p:nvSpPr>
        <p:spPr>
          <a:xfrm>
            <a:off x="6217920" y="4160520"/>
            <a:ext cx="320040" cy="320040"/>
          </a:xfrm>
          <a:prstGeom prst="rect">
            <a:avLst/>
          </a:prstGeom>
          <a:noFill/>
          <a:ln/>
        </p:spPr>
        <p:txBody>
          <a:bodyPr wrap="square" rtlCol="0" anchor="ctr"/>
          <a:lstStyle/>
          <a:p>
            <a:pPr marL="0" indent="0" algn="ctr">
              <a:buNone/>
            </a:pPr>
            <a:r>
              <a:rPr lang="en-US" sz="1200" b="1" dirty="0">
                <a:solidFill>
                  <a:srgbClr val="0B3D57"/>
                </a:solidFill>
                <a:latin typeface="Calibri" pitchFamily="34" charset="0"/>
                <a:ea typeface="Calibri" pitchFamily="34" charset="-122"/>
                <a:cs typeface="Calibri" pitchFamily="34" charset="-120"/>
              </a:rPr>
              <a:t>8</a:t>
            </a:r>
            <a:endParaRPr lang="en-US" sz="1200" dirty="0"/>
          </a:p>
        </p:txBody>
      </p:sp>
      <p:sp>
        <p:nvSpPr>
          <p:cNvPr id="27" name="Text 25"/>
          <p:cNvSpPr/>
          <p:nvPr/>
        </p:nvSpPr>
        <p:spPr>
          <a:xfrm>
            <a:off x="6675120" y="4087368"/>
            <a:ext cx="4892040" cy="640080"/>
          </a:xfrm>
          <a:prstGeom prst="rect">
            <a:avLst/>
          </a:prstGeom>
          <a:noFill/>
          <a:ln/>
        </p:spPr>
        <p:txBody>
          <a:bodyPr wrap="square" rtlCol="0" anchor="ctr"/>
          <a:lstStyle/>
          <a:p>
            <a:pPr marL="0" indent="0">
              <a:lnSpc>
                <a:spcPts val="1400"/>
              </a:lnSpc>
              <a:buNone/>
            </a:pPr>
            <a:r>
              <a:rPr lang="en-US" sz="1150" dirty="0">
                <a:solidFill>
                  <a:srgbClr val="17303B"/>
                </a:solidFill>
                <a:latin typeface="Calibri" pitchFamily="34" charset="0"/>
                <a:ea typeface="Calibri" pitchFamily="34" charset="-122"/>
                <a:cs typeface="Calibri" pitchFamily="34" charset="-120"/>
              </a:rPr>
              <a:t>Transferencia de anotaciones génicas entre especies relacionadas</a:t>
            </a:r>
            <a:endParaRPr lang="en-US" sz="1150" dirty="0"/>
          </a:p>
        </p:txBody>
      </p:sp>
      <p:sp>
        <p:nvSpPr>
          <p:cNvPr id="28" name="Shape 26"/>
          <p:cNvSpPr/>
          <p:nvPr/>
        </p:nvSpPr>
        <p:spPr>
          <a:xfrm>
            <a:off x="548640" y="4983480"/>
            <a:ext cx="320040" cy="320040"/>
          </a:xfrm>
          <a:prstGeom prst="roundRect">
            <a:avLst>
              <a:gd name="adj" fmla="val 17143"/>
            </a:avLst>
          </a:prstGeom>
          <a:solidFill>
            <a:srgbClr val="00C2A8"/>
          </a:solidFill>
          <a:ln/>
        </p:spPr>
        <p:txBody>
          <a:bodyPr/>
          <a:lstStyle/>
          <a:p>
            <a:endParaRPr lang="es-MX"/>
          </a:p>
        </p:txBody>
      </p:sp>
      <p:sp>
        <p:nvSpPr>
          <p:cNvPr id="29" name="Text 27"/>
          <p:cNvSpPr/>
          <p:nvPr/>
        </p:nvSpPr>
        <p:spPr>
          <a:xfrm>
            <a:off x="548640" y="4983480"/>
            <a:ext cx="320040" cy="320040"/>
          </a:xfrm>
          <a:prstGeom prst="rect">
            <a:avLst/>
          </a:prstGeom>
          <a:noFill/>
          <a:ln/>
        </p:spPr>
        <p:txBody>
          <a:bodyPr wrap="square" rtlCol="0" anchor="ctr"/>
          <a:lstStyle/>
          <a:p>
            <a:pPr marL="0" indent="0" algn="ctr">
              <a:buNone/>
            </a:pPr>
            <a:r>
              <a:rPr lang="en-US" sz="1200" b="1" dirty="0">
                <a:solidFill>
                  <a:srgbClr val="0B3D57"/>
                </a:solidFill>
                <a:latin typeface="Calibri" pitchFamily="34" charset="0"/>
                <a:ea typeface="Calibri" pitchFamily="34" charset="-122"/>
                <a:cs typeface="Calibri" pitchFamily="34" charset="-120"/>
              </a:rPr>
              <a:t>9</a:t>
            </a:r>
            <a:endParaRPr lang="en-US" sz="1200" dirty="0"/>
          </a:p>
        </p:txBody>
      </p:sp>
      <p:sp>
        <p:nvSpPr>
          <p:cNvPr id="30" name="Text 28"/>
          <p:cNvSpPr/>
          <p:nvPr/>
        </p:nvSpPr>
        <p:spPr>
          <a:xfrm>
            <a:off x="1005840" y="4910328"/>
            <a:ext cx="4892040" cy="640080"/>
          </a:xfrm>
          <a:prstGeom prst="rect">
            <a:avLst/>
          </a:prstGeom>
          <a:noFill/>
          <a:ln/>
        </p:spPr>
        <p:txBody>
          <a:bodyPr wrap="square" rtlCol="0" anchor="ctr"/>
          <a:lstStyle/>
          <a:p>
            <a:pPr marL="0" indent="0">
              <a:lnSpc>
                <a:spcPts val="1400"/>
              </a:lnSpc>
              <a:buNone/>
            </a:pPr>
            <a:r>
              <a:rPr lang="en-US" sz="1150" dirty="0">
                <a:solidFill>
                  <a:srgbClr val="17303B"/>
                </a:solidFill>
                <a:latin typeface="Calibri" pitchFamily="34" charset="0"/>
                <a:ea typeface="Calibri" pitchFamily="34" charset="-122"/>
                <a:cs typeface="Calibri" pitchFamily="34" charset="-120"/>
              </a:rPr>
              <a:t>Estudio de polimorfismos genéticos</a:t>
            </a:r>
            <a:endParaRPr lang="en-US" sz="1150" dirty="0"/>
          </a:p>
        </p:txBody>
      </p:sp>
      <p:sp>
        <p:nvSpPr>
          <p:cNvPr id="31" name="Shape 29"/>
          <p:cNvSpPr/>
          <p:nvPr/>
        </p:nvSpPr>
        <p:spPr>
          <a:xfrm>
            <a:off x="6217920" y="4983480"/>
            <a:ext cx="320040" cy="320040"/>
          </a:xfrm>
          <a:prstGeom prst="roundRect">
            <a:avLst>
              <a:gd name="adj" fmla="val 17143"/>
            </a:avLst>
          </a:prstGeom>
          <a:solidFill>
            <a:srgbClr val="00C2A8"/>
          </a:solidFill>
          <a:ln/>
        </p:spPr>
        <p:txBody>
          <a:bodyPr/>
          <a:lstStyle/>
          <a:p>
            <a:endParaRPr lang="es-MX"/>
          </a:p>
        </p:txBody>
      </p:sp>
      <p:sp>
        <p:nvSpPr>
          <p:cNvPr id="32" name="Text 30"/>
          <p:cNvSpPr/>
          <p:nvPr/>
        </p:nvSpPr>
        <p:spPr>
          <a:xfrm>
            <a:off x="6217920" y="4983480"/>
            <a:ext cx="320040" cy="320040"/>
          </a:xfrm>
          <a:prstGeom prst="rect">
            <a:avLst/>
          </a:prstGeom>
          <a:noFill/>
          <a:ln/>
        </p:spPr>
        <p:txBody>
          <a:bodyPr wrap="square" rtlCol="0" anchor="ctr"/>
          <a:lstStyle/>
          <a:p>
            <a:pPr marL="0" indent="0" algn="ctr">
              <a:buNone/>
            </a:pPr>
            <a:r>
              <a:rPr lang="en-US" sz="1200" b="1" dirty="0">
                <a:solidFill>
                  <a:srgbClr val="0B3D57"/>
                </a:solidFill>
                <a:latin typeface="Calibri" pitchFamily="34" charset="0"/>
                <a:ea typeface="Calibri" pitchFamily="34" charset="-122"/>
                <a:cs typeface="Calibri" pitchFamily="34" charset="-120"/>
              </a:rPr>
              <a:t>10</a:t>
            </a:r>
            <a:endParaRPr lang="en-US" sz="1200" dirty="0"/>
          </a:p>
        </p:txBody>
      </p:sp>
      <p:sp>
        <p:nvSpPr>
          <p:cNvPr id="33" name="Text 31"/>
          <p:cNvSpPr/>
          <p:nvPr/>
        </p:nvSpPr>
        <p:spPr>
          <a:xfrm>
            <a:off x="6675120" y="4910328"/>
            <a:ext cx="4892040" cy="640080"/>
          </a:xfrm>
          <a:prstGeom prst="rect">
            <a:avLst/>
          </a:prstGeom>
          <a:noFill/>
          <a:ln/>
        </p:spPr>
        <p:txBody>
          <a:bodyPr wrap="square" rtlCol="0" anchor="ctr"/>
          <a:lstStyle/>
          <a:p>
            <a:pPr marL="0" indent="0">
              <a:lnSpc>
                <a:spcPts val="1400"/>
              </a:lnSpc>
              <a:buNone/>
            </a:pPr>
            <a:r>
              <a:rPr lang="en-US" sz="1150" dirty="0">
                <a:solidFill>
                  <a:srgbClr val="17303B"/>
                </a:solidFill>
                <a:latin typeface="Calibri" pitchFamily="34" charset="0"/>
                <a:ea typeface="Calibri" pitchFamily="34" charset="-122"/>
                <a:cs typeface="Calibri" pitchFamily="34" charset="-120"/>
              </a:rPr>
              <a:t>Descubrimiento de nuevos genes por similitud estructural/funcional</a:t>
            </a:r>
            <a:endParaRPr lang="en-US" sz="1150" dirty="0"/>
          </a:p>
        </p:txBody>
      </p:sp>
      <p:sp>
        <p:nvSpPr>
          <p:cNvPr id="34" name="Text 32"/>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7A85"/>
                </a:solidFill>
                <a:latin typeface="Calibri" pitchFamily="34" charset="0"/>
                <a:ea typeface="Calibri" pitchFamily="34" charset="-122"/>
                <a:cs typeface="Calibri" pitchFamily="34" charset="-120"/>
              </a:rPr>
              <a:t>BLAST y diseño de fármacos asistido por computadora</a:t>
            </a:r>
            <a:endParaRPr lang="en-US" sz="900" dirty="0"/>
          </a:p>
        </p:txBody>
      </p:sp>
      <p:sp>
        <p:nvSpPr>
          <p:cNvPr id="35" name="Text 33"/>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7A85"/>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3D57"/>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4919B"/>
                </a:solidFill>
                <a:latin typeface="Calibri" pitchFamily="34" charset="0"/>
                <a:ea typeface="Calibri" pitchFamily="34" charset="-122"/>
                <a:cs typeface="Calibri" pitchFamily="34" charset="-120"/>
              </a:rPr>
              <a:t>14.8 · CASO DE ESTUDIO</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BLAST frente al SARS-CoV-2</a:t>
            </a:r>
            <a:endParaRPr lang="en-US" sz="3200" dirty="0"/>
          </a:p>
        </p:txBody>
      </p:sp>
      <p:sp>
        <p:nvSpPr>
          <p:cNvPr id="4" name="Text 2"/>
          <p:cNvSpPr/>
          <p:nvPr/>
        </p:nvSpPr>
        <p:spPr>
          <a:xfrm>
            <a:off x="548640" y="1645920"/>
            <a:ext cx="11064240" cy="914400"/>
          </a:xfrm>
          <a:prstGeom prst="rect">
            <a:avLst/>
          </a:prstGeom>
          <a:noFill/>
          <a:ln/>
        </p:spPr>
        <p:txBody>
          <a:bodyPr wrap="square" rtlCol="0" anchor="ctr"/>
          <a:lstStyle/>
          <a:p>
            <a:pPr marL="0" indent="0">
              <a:lnSpc>
                <a:spcPts val="1900"/>
              </a:lnSpc>
              <a:buNone/>
            </a:pPr>
            <a:r>
              <a:rPr lang="en-US" sz="1350" dirty="0">
                <a:solidFill>
                  <a:srgbClr val="FFFFFF"/>
                </a:solidFill>
                <a:latin typeface="Calibri" pitchFamily="34" charset="0"/>
                <a:ea typeface="Calibri" pitchFamily="34" charset="-122"/>
                <a:cs typeface="Calibri" pitchFamily="34" charset="-120"/>
              </a:rPr>
              <a:t>El brote del nuevo coronavirus (Wuhan, diciembre de 2019) impulsó la secuenciación masiva de genomas virales. BLAST permitió a los investigadores rastrear variantes, comparar cepas y estudiar la evolución del virus desde sus propios laboratorios.</a:t>
            </a:r>
            <a:endParaRPr lang="en-US" sz="1350" dirty="0"/>
          </a:p>
        </p:txBody>
      </p:sp>
      <p:sp>
        <p:nvSpPr>
          <p:cNvPr id="5" name="Shape 3"/>
          <p:cNvSpPr/>
          <p:nvPr/>
        </p:nvSpPr>
        <p:spPr>
          <a:xfrm>
            <a:off x="548640" y="2743200"/>
            <a:ext cx="5486400" cy="3291840"/>
          </a:xfrm>
          <a:prstGeom prst="roundRect">
            <a:avLst>
              <a:gd name="adj" fmla="val 2222"/>
            </a:avLst>
          </a:prstGeom>
          <a:solidFill>
            <a:srgbClr val="12496B"/>
          </a:solidFill>
          <a:ln/>
        </p:spPr>
        <p:txBody>
          <a:bodyPr/>
          <a:lstStyle/>
          <a:p>
            <a:endParaRPr lang="es-MX"/>
          </a:p>
        </p:txBody>
      </p:sp>
      <p:sp>
        <p:nvSpPr>
          <p:cNvPr id="6" name="Text 4"/>
          <p:cNvSpPr/>
          <p:nvPr/>
        </p:nvSpPr>
        <p:spPr>
          <a:xfrm>
            <a:off x="822960" y="2926080"/>
            <a:ext cx="4937760" cy="365760"/>
          </a:xfrm>
          <a:prstGeom prst="rect">
            <a:avLst/>
          </a:prstGeom>
          <a:noFill/>
          <a:ln/>
        </p:spPr>
        <p:txBody>
          <a:bodyPr wrap="square" rtlCol="0" anchor="ctr"/>
          <a:lstStyle/>
          <a:p>
            <a:pPr marL="0" indent="0">
              <a:buNone/>
            </a:pPr>
            <a:r>
              <a:rPr lang="en-US" sz="1350" b="1" dirty="0">
                <a:solidFill>
                  <a:srgbClr val="00C2A8"/>
                </a:solidFill>
                <a:latin typeface="Calibri" pitchFamily="34" charset="0"/>
                <a:ea typeface="Calibri" pitchFamily="34" charset="-122"/>
                <a:cs typeface="Calibri" pitchFamily="34" charset="-120"/>
              </a:rPr>
              <a:t>Práctica de simulación (resumen)</a:t>
            </a:r>
            <a:endParaRPr lang="en-US" sz="1350" dirty="0"/>
          </a:p>
        </p:txBody>
      </p:sp>
      <p:sp>
        <p:nvSpPr>
          <p:cNvPr id="7" name="Text 5"/>
          <p:cNvSpPr/>
          <p:nvPr/>
        </p:nvSpPr>
        <p:spPr>
          <a:xfrm>
            <a:off x="822960" y="3337560"/>
            <a:ext cx="320040" cy="502920"/>
          </a:xfrm>
          <a:prstGeom prst="rect">
            <a:avLst/>
          </a:prstGeom>
          <a:noFill/>
          <a:ln/>
        </p:spPr>
        <p:txBody>
          <a:bodyPr wrap="square" rtlCol="0" anchor="ctr"/>
          <a:lstStyle/>
          <a:p>
            <a:pPr marL="0" indent="0">
              <a:buNone/>
            </a:pPr>
            <a:r>
              <a:rPr lang="en-US" sz="1200" b="1" dirty="0">
                <a:solidFill>
                  <a:srgbClr val="00C2A8"/>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143000" y="3337560"/>
            <a:ext cx="4617720" cy="502920"/>
          </a:xfrm>
          <a:prstGeom prst="rect">
            <a:avLst/>
          </a:prstGeom>
          <a:noFill/>
          <a:ln/>
        </p:spPr>
        <p:txBody>
          <a:bodyPr wrap="square" rtlCol="0" anchor="ctr"/>
          <a:lstStyle/>
          <a:p>
            <a:pPr marL="0" indent="0">
              <a:lnSpc>
                <a:spcPts val="1400"/>
              </a:lnSpc>
              <a:buNone/>
            </a:pPr>
            <a:r>
              <a:rPr lang="en-US" sz="1100" dirty="0">
                <a:solidFill>
                  <a:srgbClr val="FFFFFF"/>
                </a:solidFill>
                <a:latin typeface="Calibri" pitchFamily="34" charset="0"/>
                <a:ea typeface="Calibri" pitchFamily="34" charset="-122"/>
                <a:cs typeface="Calibri" pitchFamily="34" charset="-120"/>
              </a:rPr>
              <a:t>Obtener secuencias de SARS-CoV-2 desde el portal NCBI.</a:t>
            </a:r>
            <a:endParaRPr lang="en-US" sz="1100" dirty="0"/>
          </a:p>
        </p:txBody>
      </p:sp>
      <p:sp>
        <p:nvSpPr>
          <p:cNvPr id="9" name="Text 7"/>
          <p:cNvSpPr/>
          <p:nvPr/>
        </p:nvSpPr>
        <p:spPr>
          <a:xfrm>
            <a:off x="822960" y="3931920"/>
            <a:ext cx="320040" cy="502920"/>
          </a:xfrm>
          <a:prstGeom prst="rect">
            <a:avLst/>
          </a:prstGeom>
          <a:noFill/>
          <a:ln/>
        </p:spPr>
        <p:txBody>
          <a:bodyPr wrap="square" rtlCol="0" anchor="ctr"/>
          <a:lstStyle/>
          <a:p>
            <a:pPr marL="0" indent="0">
              <a:buNone/>
            </a:pPr>
            <a:r>
              <a:rPr lang="en-US" sz="1200" b="1" dirty="0">
                <a:solidFill>
                  <a:srgbClr val="00C2A8"/>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143000" y="3931920"/>
            <a:ext cx="4617720" cy="502920"/>
          </a:xfrm>
          <a:prstGeom prst="rect">
            <a:avLst/>
          </a:prstGeom>
          <a:noFill/>
          <a:ln/>
        </p:spPr>
        <p:txBody>
          <a:bodyPr wrap="square" rtlCol="0" anchor="ctr"/>
          <a:lstStyle/>
          <a:p>
            <a:pPr marL="0" indent="0">
              <a:lnSpc>
                <a:spcPts val="1400"/>
              </a:lnSpc>
              <a:buNone/>
            </a:pPr>
            <a:r>
              <a:rPr lang="en-US" sz="1100" dirty="0">
                <a:solidFill>
                  <a:srgbClr val="FFFFFF"/>
                </a:solidFill>
                <a:latin typeface="Calibri" pitchFamily="34" charset="0"/>
                <a:ea typeface="Calibri" pitchFamily="34" charset="-122"/>
                <a:cs typeface="Calibri" pitchFamily="34" charset="-120"/>
              </a:rPr>
              <a:t>Seleccionar números de acceso (accession numbers) de interés.</a:t>
            </a:r>
            <a:endParaRPr lang="en-US" sz="1100" dirty="0"/>
          </a:p>
        </p:txBody>
      </p:sp>
      <p:sp>
        <p:nvSpPr>
          <p:cNvPr id="11" name="Text 9"/>
          <p:cNvSpPr/>
          <p:nvPr/>
        </p:nvSpPr>
        <p:spPr>
          <a:xfrm>
            <a:off x="822960" y="4526280"/>
            <a:ext cx="320040" cy="502920"/>
          </a:xfrm>
          <a:prstGeom prst="rect">
            <a:avLst/>
          </a:prstGeom>
          <a:noFill/>
          <a:ln/>
        </p:spPr>
        <p:txBody>
          <a:bodyPr wrap="square" rtlCol="0" anchor="ctr"/>
          <a:lstStyle/>
          <a:p>
            <a:pPr marL="0" indent="0">
              <a:buNone/>
            </a:pPr>
            <a:r>
              <a:rPr lang="en-US" sz="1200" b="1" dirty="0">
                <a:solidFill>
                  <a:srgbClr val="00C2A8"/>
                </a:solidFill>
                <a:latin typeface="Calibri" pitchFamily="34" charset="0"/>
                <a:ea typeface="Calibri" pitchFamily="34" charset="-122"/>
                <a:cs typeface="Calibri" pitchFamily="34" charset="-120"/>
              </a:rPr>
              <a:t>3.</a:t>
            </a:r>
            <a:endParaRPr lang="en-US" sz="1200" dirty="0"/>
          </a:p>
        </p:txBody>
      </p:sp>
      <p:sp>
        <p:nvSpPr>
          <p:cNvPr id="12" name="Text 10"/>
          <p:cNvSpPr/>
          <p:nvPr/>
        </p:nvSpPr>
        <p:spPr>
          <a:xfrm>
            <a:off x="1143000" y="4526280"/>
            <a:ext cx="4617720" cy="502920"/>
          </a:xfrm>
          <a:prstGeom prst="rect">
            <a:avLst/>
          </a:prstGeom>
          <a:noFill/>
          <a:ln/>
        </p:spPr>
        <p:txBody>
          <a:bodyPr wrap="square" rtlCol="0" anchor="ctr"/>
          <a:lstStyle/>
          <a:p>
            <a:pPr marL="0" indent="0">
              <a:lnSpc>
                <a:spcPts val="1400"/>
              </a:lnSpc>
              <a:buNone/>
            </a:pPr>
            <a:r>
              <a:rPr lang="en-US" sz="1100" dirty="0">
                <a:solidFill>
                  <a:srgbClr val="FFFFFF"/>
                </a:solidFill>
                <a:latin typeface="Calibri" pitchFamily="34" charset="0"/>
                <a:ea typeface="Calibri" pitchFamily="34" charset="-122"/>
                <a:cs typeface="Calibri" pitchFamily="34" charset="-120"/>
              </a:rPr>
              <a:t>Ejecutar Nucleotide BLAST (blast.ncbi.nlm.nih.gov) con los parámetros deseados.</a:t>
            </a:r>
            <a:endParaRPr lang="en-US" sz="1100" dirty="0"/>
          </a:p>
        </p:txBody>
      </p:sp>
      <p:sp>
        <p:nvSpPr>
          <p:cNvPr id="13" name="Text 11"/>
          <p:cNvSpPr/>
          <p:nvPr/>
        </p:nvSpPr>
        <p:spPr>
          <a:xfrm>
            <a:off x="822960" y="5120640"/>
            <a:ext cx="320040" cy="502920"/>
          </a:xfrm>
          <a:prstGeom prst="rect">
            <a:avLst/>
          </a:prstGeom>
          <a:noFill/>
          <a:ln/>
        </p:spPr>
        <p:txBody>
          <a:bodyPr wrap="square" rtlCol="0" anchor="ctr"/>
          <a:lstStyle/>
          <a:p>
            <a:pPr marL="0" indent="0">
              <a:buNone/>
            </a:pPr>
            <a:r>
              <a:rPr lang="en-US" sz="1200" b="1" dirty="0">
                <a:solidFill>
                  <a:srgbClr val="00C2A8"/>
                </a:solidFill>
                <a:latin typeface="Calibri" pitchFamily="34" charset="0"/>
                <a:ea typeface="Calibri" pitchFamily="34" charset="-122"/>
                <a:cs typeface="Calibri" pitchFamily="34" charset="-120"/>
              </a:rPr>
              <a:t>4.</a:t>
            </a:r>
            <a:endParaRPr lang="en-US" sz="1200" dirty="0"/>
          </a:p>
        </p:txBody>
      </p:sp>
      <p:sp>
        <p:nvSpPr>
          <p:cNvPr id="14" name="Text 12"/>
          <p:cNvSpPr/>
          <p:nvPr/>
        </p:nvSpPr>
        <p:spPr>
          <a:xfrm>
            <a:off x="1143000" y="5120640"/>
            <a:ext cx="4617720" cy="502920"/>
          </a:xfrm>
          <a:prstGeom prst="rect">
            <a:avLst/>
          </a:prstGeom>
          <a:noFill/>
          <a:ln/>
        </p:spPr>
        <p:txBody>
          <a:bodyPr wrap="square" rtlCol="0" anchor="ctr"/>
          <a:lstStyle/>
          <a:p>
            <a:pPr marL="0" indent="0">
              <a:lnSpc>
                <a:spcPts val="1400"/>
              </a:lnSpc>
              <a:buNone/>
            </a:pPr>
            <a:r>
              <a:rPr lang="en-US" sz="1100" dirty="0">
                <a:solidFill>
                  <a:srgbClr val="FFFFFF"/>
                </a:solidFill>
                <a:latin typeface="Calibri" pitchFamily="34" charset="0"/>
                <a:ea typeface="Calibri" pitchFamily="34" charset="-122"/>
                <a:cs typeface="Calibri" pitchFamily="34" charset="-120"/>
              </a:rPr>
              <a:t>Analizar identidad, cobertura y E-values en la página de resultados.</a:t>
            </a:r>
            <a:endParaRPr lang="en-US" sz="1100" dirty="0"/>
          </a:p>
        </p:txBody>
      </p:sp>
      <p:sp>
        <p:nvSpPr>
          <p:cNvPr id="15" name="Shape 13"/>
          <p:cNvSpPr/>
          <p:nvPr/>
        </p:nvSpPr>
        <p:spPr>
          <a:xfrm>
            <a:off x="6309360" y="2743200"/>
            <a:ext cx="5303520" cy="3291840"/>
          </a:xfrm>
          <a:prstGeom prst="roundRect">
            <a:avLst>
              <a:gd name="adj" fmla="val 2222"/>
            </a:avLst>
          </a:prstGeom>
          <a:solidFill>
            <a:srgbClr val="14919B"/>
          </a:solidFill>
          <a:ln/>
        </p:spPr>
        <p:txBody>
          <a:bodyPr/>
          <a:lstStyle/>
          <a:p>
            <a:endParaRPr lang="es-MX"/>
          </a:p>
        </p:txBody>
      </p:sp>
      <p:sp>
        <p:nvSpPr>
          <p:cNvPr id="16" name="Text 14"/>
          <p:cNvSpPr/>
          <p:nvPr/>
        </p:nvSpPr>
        <p:spPr>
          <a:xfrm>
            <a:off x="6583680" y="2926080"/>
            <a:ext cx="4754880" cy="36576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Hallazgo destacado</a:t>
            </a:r>
            <a:endParaRPr lang="en-US" sz="1350" dirty="0"/>
          </a:p>
        </p:txBody>
      </p:sp>
      <p:sp>
        <p:nvSpPr>
          <p:cNvPr id="17" name="Text 15"/>
          <p:cNvSpPr/>
          <p:nvPr/>
        </p:nvSpPr>
        <p:spPr>
          <a:xfrm>
            <a:off x="6583680" y="3383280"/>
            <a:ext cx="4754880" cy="2468880"/>
          </a:xfrm>
          <a:prstGeom prst="rect">
            <a:avLst/>
          </a:prstGeom>
          <a:noFill/>
          <a:ln/>
        </p:spPr>
        <p:txBody>
          <a:bodyPr wrap="square" rtlCol="0" anchor="ctr"/>
          <a:lstStyle/>
          <a:p>
            <a:pPr marL="0" indent="0">
              <a:lnSpc>
                <a:spcPts val="1800"/>
              </a:lnSpc>
              <a:buNone/>
            </a:pPr>
            <a:r>
              <a:rPr lang="en-US" sz="1250" dirty="0">
                <a:solidFill>
                  <a:srgbClr val="EAF4F4"/>
                </a:solidFill>
                <a:latin typeface="Calibri" pitchFamily="34" charset="0"/>
                <a:ea typeface="Calibri" pitchFamily="34" charset="-122"/>
                <a:cs typeface="Calibri" pitchFamily="34" charset="-120"/>
              </a:rPr>
              <a:t>Un BLAST entre la secuencia original de SARS-CoV-2 (Wuhan) y el genoma de MERS mostró un porcentaje de identidad significativo. Esto sugiere aprovechar la investigación previa sobre MERS para acelerar el desarrollo de vacunas y estrategias terapéuticas.</a:t>
            </a:r>
            <a:endParaRPr lang="en-US" sz="1250" dirty="0"/>
          </a:p>
        </p:txBody>
      </p:sp>
      <p:sp>
        <p:nvSpPr>
          <p:cNvPr id="18" name="Text 16"/>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7A85"/>
                </a:solidFill>
                <a:latin typeface="Calibri" pitchFamily="34" charset="0"/>
                <a:ea typeface="Calibri" pitchFamily="34" charset="-122"/>
                <a:cs typeface="Calibri" pitchFamily="34" charset="-120"/>
              </a:rPr>
              <a:t>BLAST y diseño de fármacos asistido por computadora</a:t>
            </a:r>
            <a:endParaRPr lang="en-US" sz="900" dirty="0"/>
          </a:p>
        </p:txBody>
      </p:sp>
      <p:sp>
        <p:nvSpPr>
          <p:cNvPr id="19" name="Text 17"/>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7A85"/>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4919B"/>
                </a:solidFill>
                <a:latin typeface="Calibri" pitchFamily="34" charset="0"/>
                <a:ea typeface="Calibri" pitchFamily="34" charset="-122"/>
                <a:cs typeface="Calibri" pitchFamily="34" charset="-120"/>
              </a:rPr>
              <a:t>14.9 · CONCLUSIONES</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buNone/>
            </a:pPr>
            <a:r>
              <a:rPr lang="en-US" sz="3200" b="1" dirty="0">
                <a:solidFill>
                  <a:srgbClr val="0B3D57"/>
                </a:solidFill>
                <a:latin typeface="Cambria" pitchFamily="34" charset="0"/>
                <a:ea typeface="Cambria" pitchFamily="34" charset="-122"/>
                <a:cs typeface="Cambria" pitchFamily="34" charset="-120"/>
              </a:rPr>
              <a:t>Ideas para llevarse</a:t>
            </a:r>
            <a:endParaRPr lang="en-US" sz="3200" dirty="0"/>
          </a:p>
        </p:txBody>
      </p:sp>
      <p:sp>
        <p:nvSpPr>
          <p:cNvPr id="4" name="Shape 2"/>
          <p:cNvSpPr/>
          <p:nvPr/>
        </p:nvSpPr>
        <p:spPr>
          <a:xfrm>
            <a:off x="548640" y="1737360"/>
            <a:ext cx="11064240" cy="960120"/>
          </a:xfrm>
          <a:prstGeom prst="roundRect">
            <a:avLst>
              <a:gd name="adj" fmla="val 7619"/>
            </a:avLst>
          </a:prstGeom>
          <a:solidFill>
            <a:srgbClr val="EAF4F4"/>
          </a:solidFill>
          <a:ln/>
        </p:spPr>
        <p:txBody>
          <a:bodyPr/>
          <a:lstStyle/>
          <a:p>
            <a:endParaRPr lang="es-MX"/>
          </a:p>
        </p:txBody>
      </p:sp>
      <p:sp>
        <p:nvSpPr>
          <p:cNvPr id="5" name="Shape 3"/>
          <p:cNvSpPr/>
          <p:nvPr/>
        </p:nvSpPr>
        <p:spPr>
          <a:xfrm>
            <a:off x="777240" y="1993392"/>
            <a:ext cx="457200" cy="457200"/>
          </a:xfrm>
          <a:prstGeom prst="ellipse">
            <a:avLst/>
          </a:prstGeom>
          <a:solidFill>
            <a:srgbClr val="0B3D57"/>
          </a:solidFill>
          <a:ln/>
        </p:spPr>
        <p:txBody>
          <a:bodyPr/>
          <a:lstStyle/>
          <a:p>
            <a:endParaRPr lang="es-MX"/>
          </a:p>
        </p:txBody>
      </p:sp>
      <p:sp>
        <p:nvSpPr>
          <p:cNvPr id="6" name="Text 4"/>
          <p:cNvSpPr/>
          <p:nvPr/>
        </p:nvSpPr>
        <p:spPr>
          <a:xfrm>
            <a:off x="777240" y="1993392"/>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463040" y="1737360"/>
            <a:ext cx="9966960" cy="960120"/>
          </a:xfrm>
          <a:prstGeom prst="rect">
            <a:avLst/>
          </a:prstGeom>
          <a:noFill/>
          <a:ln/>
        </p:spPr>
        <p:txBody>
          <a:bodyPr wrap="square" rtlCol="0" anchor="ctr"/>
          <a:lstStyle/>
          <a:p>
            <a:pPr marL="0" indent="0">
              <a:lnSpc>
                <a:spcPts val="1600"/>
              </a:lnSpc>
              <a:buNone/>
            </a:pPr>
            <a:r>
              <a:rPr lang="en-US" sz="1250" dirty="0">
                <a:solidFill>
                  <a:srgbClr val="17303B"/>
                </a:solidFill>
                <a:latin typeface="Calibri" pitchFamily="34" charset="0"/>
                <a:ea typeface="Calibri" pitchFamily="34" charset="-122"/>
                <a:cs typeface="Calibri" pitchFamily="34" charset="-120"/>
              </a:rPr>
              <a:t>BLAST es una herramienta heurística de búsqueda de similitud, optimizada para equilibrar sensibilidad, selectividad y velocidad.</a:t>
            </a:r>
            <a:endParaRPr lang="en-US" sz="1250" dirty="0"/>
          </a:p>
        </p:txBody>
      </p:sp>
      <p:sp>
        <p:nvSpPr>
          <p:cNvPr id="8" name="Shape 6"/>
          <p:cNvSpPr/>
          <p:nvPr/>
        </p:nvSpPr>
        <p:spPr>
          <a:xfrm>
            <a:off x="548640" y="2834640"/>
            <a:ext cx="11064240" cy="960120"/>
          </a:xfrm>
          <a:prstGeom prst="roundRect">
            <a:avLst>
              <a:gd name="adj" fmla="val 7619"/>
            </a:avLst>
          </a:prstGeom>
          <a:solidFill>
            <a:srgbClr val="FFFFFF"/>
          </a:solidFill>
          <a:ln w="12700">
            <a:solidFill>
              <a:srgbClr val="D6E7E7"/>
            </a:solidFill>
            <a:prstDash val="solid"/>
          </a:ln>
        </p:spPr>
        <p:txBody>
          <a:bodyPr/>
          <a:lstStyle/>
          <a:p>
            <a:endParaRPr lang="es-MX"/>
          </a:p>
        </p:txBody>
      </p:sp>
      <p:sp>
        <p:nvSpPr>
          <p:cNvPr id="9" name="Shape 7"/>
          <p:cNvSpPr/>
          <p:nvPr/>
        </p:nvSpPr>
        <p:spPr>
          <a:xfrm>
            <a:off x="777240" y="3090672"/>
            <a:ext cx="457200" cy="457200"/>
          </a:xfrm>
          <a:prstGeom prst="ellipse">
            <a:avLst/>
          </a:prstGeom>
          <a:solidFill>
            <a:srgbClr val="0B3D57"/>
          </a:solidFill>
          <a:ln/>
        </p:spPr>
        <p:txBody>
          <a:bodyPr/>
          <a:lstStyle/>
          <a:p>
            <a:endParaRPr lang="es-MX"/>
          </a:p>
        </p:txBody>
      </p:sp>
      <p:sp>
        <p:nvSpPr>
          <p:cNvPr id="10" name="Text 8"/>
          <p:cNvSpPr/>
          <p:nvPr/>
        </p:nvSpPr>
        <p:spPr>
          <a:xfrm>
            <a:off x="777240" y="3090672"/>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1" name="Text 9"/>
          <p:cNvSpPr/>
          <p:nvPr/>
        </p:nvSpPr>
        <p:spPr>
          <a:xfrm>
            <a:off x="1463040" y="2834640"/>
            <a:ext cx="9966960" cy="960120"/>
          </a:xfrm>
          <a:prstGeom prst="rect">
            <a:avLst/>
          </a:prstGeom>
          <a:noFill/>
          <a:ln/>
        </p:spPr>
        <p:txBody>
          <a:bodyPr wrap="square" rtlCol="0" anchor="ctr"/>
          <a:lstStyle/>
          <a:p>
            <a:pPr marL="0" indent="0">
              <a:lnSpc>
                <a:spcPts val="1600"/>
              </a:lnSpc>
              <a:buNone/>
            </a:pPr>
            <a:r>
              <a:rPr lang="en-US" sz="1250" dirty="0">
                <a:solidFill>
                  <a:srgbClr val="17303B"/>
                </a:solidFill>
                <a:latin typeface="Calibri" pitchFamily="34" charset="0"/>
                <a:ea typeface="Calibri" pitchFamily="34" charset="-122"/>
                <a:cs typeface="Calibri" pitchFamily="34" charset="-120"/>
              </a:rPr>
              <a:t>Homología, similitud e identidad son conceptos relacionados pero distintos: solo similitud e identidad se expresan en porcentaje.</a:t>
            </a:r>
            <a:endParaRPr lang="en-US" sz="1250" dirty="0"/>
          </a:p>
        </p:txBody>
      </p:sp>
      <p:sp>
        <p:nvSpPr>
          <p:cNvPr id="12" name="Shape 10"/>
          <p:cNvSpPr/>
          <p:nvPr/>
        </p:nvSpPr>
        <p:spPr>
          <a:xfrm>
            <a:off x="548640" y="3931920"/>
            <a:ext cx="11064240" cy="960120"/>
          </a:xfrm>
          <a:prstGeom prst="roundRect">
            <a:avLst>
              <a:gd name="adj" fmla="val 7619"/>
            </a:avLst>
          </a:prstGeom>
          <a:solidFill>
            <a:srgbClr val="EAF4F4"/>
          </a:solidFill>
          <a:ln/>
        </p:spPr>
        <p:txBody>
          <a:bodyPr/>
          <a:lstStyle/>
          <a:p>
            <a:endParaRPr lang="es-MX"/>
          </a:p>
        </p:txBody>
      </p:sp>
      <p:sp>
        <p:nvSpPr>
          <p:cNvPr id="13" name="Shape 11"/>
          <p:cNvSpPr/>
          <p:nvPr/>
        </p:nvSpPr>
        <p:spPr>
          <a:xfrm>
            <a:off x="777240" y="4187952"/>
            <a:ext cx="457200" cy="457200"/>
          </a:xfrm>
          <a:prstGeom prst="ellipse">
            <a:avLst/>
          </a:prstGeom>
          <a:solidFill>
            <a:srgbClr val="0B3D57"/>
          </a:solidFill>
          <a:ln/>
        </p:spPr>
        <p:txBody>
          <a:bodyPr/>
          <a:lstStyle/>
          <a:p>
            <a:endParaRPr lang="es-MX"/>
          </a:p>
        </p:txBody>
      </p:sp>
      <p:sp>
        <p:nvSpPr>
          <p:cNvPr id="14" name="Text 12"/>
          <p:cNvSpPr/>
          <p:nvPr/>
        </p:nvSpPr>
        <p:spPr>
          <a:xfrm>
            <a:off x="777240" y="4187952"/>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5" name="Text 13"/>
          <p:cNvSpPr/>
          <p:nvPr/>
        </p:nvSpPr>
        <p:spPr>
          <a:xfrm>
            <a:off x="1463040" y="3931920"/>
            <a:ext cx="9966960" cy="960120"/>
          </a:xfrm>
          <a:prstGeom prst="rect">
            <a:avLst/>
          </a:prstGeom>
          <a:noFill/>
          <a:ln/>
        </p:spPr>
        <p:txBody>
          <a:bodyPr wrap="square" rtlCol="0" anchor="ctr"/>
          <a:lstStyle/>
          <a:p>
            <a:pPr marL="0" indent="0">
              <a:lnSpc>
                <a:spcPts val="1600"/>
              </a:lnSpc>
              <a:buNone/>
            </a:pPr>
            <a:r>
              <a:rPr lang="en-US" sz="1250" dirty="0">
                <a:solidFill>
                  <a:srgbClr val="17303B"/>
                </a:solidFill>
                <a:latin typeface="Calibri" pitchFamily="34" charset="0"/>
                <a:ea typeface="Calibri" pitchFamily="34" charset="-122"/>
                <a:cs typeface="Calibri" pitchFamily="34" charset="-120"/>
              </a:rPr>
              <a:t>El flujo de BLAST — sembrado, extensión, HSP, P-value y E-value — traduce un puntaje bruto en significancia estadística interpretable.</a:t>
            </a:r>
            <a:endParaRPr lang="en-US" sz="1250" dirty="0"/>
          </a:p>
        </p:txBody>
      </p:sp>
      <p:sp>
        <p:nvSpPr>
          <p:cNvPr id="16" name="Shape 14"/>
          <p:cNvSpPr/>
          <p:nvPr/>
        </p:nvSpPr>
        <p:spPr>
          <a:xfrm>
            <a:off x="548640" y="5029200"/>
            <a:ext cx="11064240" cy="960120"/>
          </a:xfrm>
          <a:prstGeom prst="roundRect">
            <a:avLst>
              <a:gd name="adj" fmla="val 7619"/>
            </a:avLst>
          </a:prstGeom>
          <a:solidFill>
            <a:srgbClr val="FFFFFF"/>
          </a:solidFill>
          <a:ln w="12700">
            <a:solidFill>
              <a:srgbClr val="D6E7E7"/>
            </a:solidFill>
            <a:prstDash val="solid"/>
          </a:ln>
        </p:spPr>
        <p:txBody>
          <a:bodyPr/>
          <a:lstStyle/>
          <a:p>
            <a:endParaRPr lang="es-MX"/>
          </a:p>
        </p:txBody>
      </p:sp>
      <p:sp>
        <p:nvSpPr>
          <p:cNvPr id="17" name="Shape 15"/>
          <p:cNvSpPr/>
          <p:nvPr/>
        </p:nvSpPr>
        <p:spPr>
          <a:xfrm>
            <a:off x="777240" y="5285232"/>
            <a:ext cx="457200" cy="457200"/>
          </a:xfrm>
          <a:prstGeom prst="ellipse">
            <a:avLst/>
          </a:prstGeom>
          <a:solidFill>
            <a:srgbClr val="0B3D57"/>
          </a:solidFill>
          <a:ln/>
        </p:spPr>
        <p:txBody>
          <a:bodyPr/>
          <a:lstStyle/>
          <a:p>
            <a:endParaRPr lang="es-MX"/>
          </a:p>
        </p:txBody>
      </p:sp>
      <p:sp>
        <p:nvSpPr>
          <p:cNvPr id="18" name="Text 16"/>
          <p:cNvSpPr/>
          <p:nvPr/>
        </p:nvSpPr>
        <p:spPr>
          <a:xfrm>
            <a:off x="777240" y="5285232"/>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9" name="Text 17"/>
          <p:cNvSpPr/>
          <p:nvPr/>
        </p:nvSpPr>
        <p:spPr>
          <a:xfrm>
            <a:off x="1463040" y="5029200"/>
            <a:ext cx="9966960" cy="960120"/>
          </a:xfrm>
          <a:prstGeom prst="rect">
            <a:avLst/>
          </a:prstGeom>
          <a:noFill/>
          <a:ln/>
        </p:spPr>
        <p:txBody>
          <a:bodyPr wrap="square" rtlCol="0" anchor="ctr"/>
          <a:lstStyle/>
          <a:p>
            <a:pPr marL="0" indent="0">
              <a:lnSpc>
                <a:spcPts val="1600"/>
              </a:lnSpc>
              <a:buNone/>
            </a:pPr>
            <a:r>
              <a:rPr lang="en-US" sz="1250" dirty="0">
                <a:solidFill>
                  <a:srgbClr val="17303B"/>
                </a:solidFill>
                <a:latin typeface="Calibri" pitchFamily="34" charset="0"/>
                <a:ea typeface="Calibri" pitchFamily="34" charset="-122"/>
                <a:cs typeface="Calibri" pitchFamily="34" charset="-120"/>
              </a:rPr>
              <a:t>BLAST es un pilar de la CADD: ayuda a identificar y validar dianas farmacológicas y a construir modelos estructurales por homología.</a:t>
            </a:r>
            <a:endParaRPr lang="en-US" sz="1250" dirty="0"/>
          </a:p>
        </p:txBody>
      </p:sp>
      <p:sp>
        <p:nvSpPr>
          <p:cNvPr id="20" name="Text 18"/>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7A85"/>
                </a:solidFill>
                <a:latin typeface="Calibri" pitchFamily="34" charset="0"/>
                <a:ea typeface="Calibri" pitchFamily="34" charset="-122"/>
                <a:cs typeface="Calibri" pitchFamily="34" charset="-120"/>
              </a:rPr>
              <a:t>BLAST y diseño de fármacos asistido por computadora</a:t>
            </a:r>
            <a:endParaRPr lang="en-US" sz="900" dirty="0"/>
          </a:p>
        </p:txBody>
      </p:sp>
      <p:sp>
        <p:nvSpPr>
          <p:cNvPr id="21" name="Text 19"/>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7A85"/>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3D57"/>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4919B"/>
                </a:solidFill>
                <a:latin typeface="Calibri" pitchFamily="34" charset="0"/>
                <a:ea typeface="Calibri" pitchFamily="34" charset="-122"/>
                <a:cs typeface="Calibri" pitchFamily="34" charset="-120"/>
              </a:rPr>
              <a:t>REFERENCIAS</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Fuentes bibliográficas</a:t>
            </a:r>
            <a:endParaRPr lang="en-US" sz="3200" dirty="0"/>
          </a:p>
        </p:txBody>
      </p:sp>
      <p:sp>
        <p:nvSpPr>
          <p:cNvPr id="4" name="Shape 2"/>
          <p:cNvSpPr/>
          <p:nvPr/>
        </p:nvSpPr>
        <p:spPr>
          <a:xfrm>
            <a:off x="548640" y="1737360"/>
            <a:ext cx="11064240" cy="1737360"/>
          </a:xfrm>
          <a:prstGeom prst="roundRect">
            <a:avLst>
              <a:gd name="adj" fmla="val 4211"/>
            </a:avLst>
          </a:prstGeom>
          <a:solidFill>
            <a:srgbClr val="12496B"/>
          </a:solidFill>
          <a:ln/>
        </p:spPr>
        <p:txBody>
          <a:bodyPr/>
          <a:lstStyle/>
          <a:p>
            <a:endParaRPr lang="es-MX"/>
          </a:p>
        </p:txBody>
      </p:sp>
      <p:sp>
        <p:nvSpPr>
          <p:cNvPr id="5" name="Text 3"/>
          <p:cNvSpPr/>
          <p:nvPr/>
        </p:nvSpPr>
        <p:spPr>
          <a:xfrm>
            <a:off x="822960" y="1920240"/>
            <a:ext cx="10515600" cy="320040"/>
          </a:xfrm>
          <a:prstGeom prst="rect">
            <a:avLst/>
          </a:prstGeom>
          <a:noFill/>
          <a:ln/>
        </p:spPr>
        <p:txBody>
          <a:bodyPr wrap="square" rtlCol="0" anchor="ctr"/>
          <a:lstStyle/>
          <a:p>
            <a:pPr marL="0" indent="0">
              <a:buNone/>
            </a:pPr>
            <a:r>
              <a:rPr lang="en-US" sz="1250" b="1" dirty="0">
                <a:solidFill>
                  <a:srgbClr val="00C2A8"/>
                </a:solidFill>
                <a:latin typeface="Calibri" pitchFamily="34" charset="0"/>
                <a:ea typeface="Calibri" pitchFamily="34" charset="-122"/>
                <a:cs typeface="Calibri" pitchFamily="34" charset="-120"/>
              </a:rPr>
              <a:t>Fuente principal del contenido</a:t>
            </a:r>
            <a:endParaRPr lang="en-US" sz="1250" dirty="0"/>
          </a:p>
        </p:txBody>
      </p:sp>
      <p:sp>
        <p:nvSpPr>
          <p:cNvPr id="6" name="Text 4"/>
          <p:cNvSpPr/>
          <p:nvPr/>
        </p:nvSpPr>
        <p:spPr>
          <a:xfrm>
            <a:off x="822960" y="2286000"/>
            <a:ext cx="10515600" cy="1097280"/>
          </a:xfrm>
          <a:prstGeom prst="rect">
            <a:avLst/>
          </a:prstGeom>
          <a:noFill/>
          <a:ln/>
        </p:spPr>
        <p:txBody>
          <a:bodyPr wrap="square" rtlCol="0" anchor="ctr"/>
          <a:lstStyle/>
          <a:p>
            <a:pPr marL="0" indent="0">
              <a:lnSpc>
                <a:spcPts val="1800"/>
              </a:lnSpc>
              <a:buNone/>
            </a:pPr>
            <a:r>
              <a:rPr lang="en-US" sz="1250" dirty="0">
                <a:solidFill>
                  <a:srgbClr val="FFFFFF"/>
                </a:solidFill>
                <a:latin typeface="Calibri" pitchFamily="34" charset="0"/>
                <a:ea typeface="Calibri" pitchFamily="34" charset="-122"/>
                <a:cs typeface="Calibri" pitchFamily="34" charset="-120"/>
              </a:rPr>
              <a:t>Arora, T., &amp; Malik, A. A. (2021). An introduction to BLAST: applications for computer-aided drug design and development (Chapter 14). En Chemoinformatics and Bioinformatics in the Pharmaceutical Sciences. Elsevier. https://doi.org/10.1016/B978-0-12-821748-1.00015-4</a:t>
            </a:r>
            <a:endParaRPr lang="en-US" sz="1250" dirty="0"/>
          </a:p>
        </p:txBody>
      </p:sp>
      <p:sp>
        <p:nvSpPr>
          <p:cNvPr id="7" name="Shape 5"/>
          <p:cNvSpPr/>
          <p:nvPr/>
        </p:nvSpPr>
        <p:spPr>
          <a:xfrm>
            <a:off x="548640" y="3657600"/>
            <a:ext cx="11064240" cy="1234440"/>
          </a:xfrm>
          <a:prstGeom prst="roundRect">
            <a:avLst>
              <a:gd name="adj" fmla="val 5926"/>
            </a:avLst>
          </a:prstGeom>
          <a:solidFill>
            <a:srgbClr val="14919B"/>
          </a:solidFill>
          <a:ln/>
        </p:spPr>
        <p:txBody>
          <a:bodyPr/>
          <a:lstStyle/>
          <a:p>
            <a:endParaRPr lang="es-MX"/>
          </a:p>
        </p:txBody>
      </p:sp>
      <p:sp>
        <p:nvSpPr>
          <p:cNvPr id="8" name="Text 6"/>
          <p:cNvSpPr/>
          <p:nvPr/>
        </p:nvSpPr>
        <p:spPr>
          <a:xfrm>
            <a:off x="822960" y="3840480"/>
            <a:ext cx="10515600" cy="32004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Publicación original de BLAST (citada en el capítulo)</a:t>
            </a:r>
            <a:endParaRPr lang="en-US" sz="1250" dirty="0"/>
          </a:p>
        </p:txBody>
      </p:sp>
      <p:sp>
        <p:nvSpPr>
          <p:cNvPr id="9" name="Text 7"/>
          <p:cNvSpPr/>
          <p:nvPr/>
        </p:nvSpPr>
        <p:spPr>
          <a:xfrm>
            <a:off x="822960" y="4206240"/>
            <a:ext cx="10515600" cy="594360"/>
          </a:xfrm>
          <a:prstGeom prst="rect">
            <a:avLst/>
          </a:prstGeom>
          <a:noFill/>
          <a:ln/>
        </p:spPr>
        <p:txBody>
          <a:bodyPr wrap="square"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Altschul, S. F., Gish, W., Miller, W., Myers, E. W., &amp; Lipman, D. J. (1990). Basic local alignment search tool. Journal of Molecular Biology, 215, 403–410.</a:t>
            </a:r>
            <a:endParaRPr lang="en-US" sz="1250" dirty="0"/>
          </a:p>
        </p:txBody>
      </p:sp>
      <p:sp>
        <p:nvSpPr>
          <p:cNvPr id="10" name="Text 8"/>
          <p:cNvSpPr/>
          <p:nvPr/>
        </p:nvSpPr>
        <p:spPr>
          <a:xfrm>
            <a:off x="548640" y="5166360"/>
            <a:ext cx="11064240" cy="457200"/>
          </a:xfrm>
          <a:prstGeom prst="rect">
            <a:avLst/>
          </a:prstGeom>
          <a:noFill/>
          <a:ln/>
        </p:spPr>
        <p:txBody>
          <a:bodyPr wrap="square" rtlCol="0" anchor="ctr"/>
          <a:lstStyle/>
          <a:p>
            <a:pPr marL="0" indent="0">
              <a:buNone/>
            </a:pPr>
            <a:r>
              <a:rPr lang="en-US" sz="1100" i="1" dirty="0">
                <a:solidFill>
                  <a:srgbClr val="9FC7CF"/>
                </a:solidFill>
                <a:latin typeface="Calibri" pitchFamily="34" charset="0"/>
                <a:ea typeface="Calibri" pitchFamily="34" charset="-122"/>
                <a:cs typeface="Calibri" pitchFamily="34" charset="-120"/>
              </a:rPr>
              <a:t>Todas las figuras (14.1 – 14.12) proceden del capítulo original citado arriba y se reproducen con fines educativos.</a:t>
            </a:r>
            <a:endParaRPr lang="en-US" sz="1100" dirty="0"/>
          </a:p>
        </p:txBody>
      </p:sp>
      <p:sp>
        <p:nvSpPr>
          <p:cNvPr id="11" name="Text 9"/>
          <p:cNvSpPr/>
          <p:nvPr/>
        </p:nvSpPr>
        <p:spPr>
          <a:xfrm>
            <a:off x="548640" y="5806440"/>
            <a:ext cx="7315200" cy="731520"/>
          </a:xfrm>
          <a:prstGeom prst="rect">
            <a:avLst/>
          </a:prstGeom>
          <a:noFill/>
          <a:ln/>
        </p:spPr>
        <p:txBody>
          <a:bodyPr wrap="square" rtlCol="0" anchor="ctr"/>
          <a:lstStyle/>
          <a:p>
            <a:pPr marL="0" indent="0">
              <a:buNone/>
            </a:pPr>
            <a:r>
              <a:rPr lang="en-US" sz="2800" b="1" dirty="0">
                <a:solidFill>
                  <a:srgbClr val="00C2A8"/>
                </a:solidFill>
                <a:latin typeface="Cambria" pitchFamily="34" charset="0"/>
                <a:ea typeface="Cambria" pitchFamily="34" charset="-122"/>
                <a:cs typeface="Cambria" pitchFamily="34" charset="-120"/>
              </a:rPr>
              <a:t>Gracias</a:t>
            </a:r>
            <a:endParaRPr lang="en-US" sz="2800" dirty="0"/>
          </a:p>
        </p:txBody>
      </p:sp>
      <p:sp>
        <p:nvSpPr>
          <p:cNvPr id="12" name="Text 10"/>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7A85"/>
                </a:solidFill>
                <a:latin typeface="Calibri" pitchFamily="34" charset="0"/>
                <a:ea typeface="Calibri" pitchFamily="34" charset="-122"/>
                <a:cs typeface="Calibri" pitchFamily="34" charset="-120"/>
              </a:rPr>
              <a:t>BLAST y diseño de fármacos asistido por computadora</a:t>
            </a:r>
            <a:endParaRPr lang="en-US" sz="900" dirty="0"/>
          </a:p>
        </p:txBody>
      </p:sp>
      <p:sp>
        <p:nvSpPr>
          <p:cNvPr id="13" name="Text 11"/>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7A85"/>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3630</Words>
  <Application>Microsoft Office PowerPoint</Application>
  <PresentationFormat>Widescreen</PresentationFormat>
  <Paragraphs>408</Paragraphs>
  <Slides>27</Slides>
  <Notes>27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Aptos</vt:lpstr>
      <vt:lpstr>Arial</vt:lpstr>
      <vt:lpstr>Calibri</vt:lpstr>
      <vt:lpstr>Cambria</vt:lpstr>
      <vt:lpstr>Courier New</vt:lpstr>
      <vt:lpstr>Google Sans</vt:lpstr>
      <vt:lpstr>Google Sans Text</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LUIS GERMAN LOPEZ VALDEZ</cp:lastModifiedBy>
  <cp:revision>2</cp:revision>
  <dcterms:created xsi:type="dcterms:W3CDTF">2026-09-02T22:05:28Z</dcterms:created>
  <dcterms:modified xsi:type="dcterms:W3CDTF">2026-09-02T23:53:54Z</dcterms:modified>
</cp:coreProperties>
</file>