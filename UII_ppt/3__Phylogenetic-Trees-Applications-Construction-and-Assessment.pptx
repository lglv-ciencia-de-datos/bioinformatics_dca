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Raleway" pitchFamily="2" charset="0"/>
      <p:regular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Bold" panose="02000000000000000000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71" autoAdjust="0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39" y="5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213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5008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s-ES" sz="4000" dirty="0"/>
              <a:t>Árboles filogenéticos: aplicaciones, construcción y evaluación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30549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Chapter 10 —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Essentials of Bioinformatics, Volume III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770" y="353509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E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Introducción y aplicaciones de la filogenia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7154372" y="2001570"/>
            <a:ext cx="4339896" cy="983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spcAft>
                <a:spcPts val="650"/>
              </a:spcAft>
              <a:buNone/>
            </a:pPr>
            <a:r>
              <a:rPr lang="es-E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filogenia es el estudio de las relaciones entre individuos, grupos de organismos, especies o poblaciones basándose en señales evolutivas presentes en el material genético. Un árbol filogenético es una representación gráfica de la historia evolutiva.</a:t>
            </a:r>
          </a:p>
          <a:p>
            <a:pPr marL="0" indent="0" algn="l">
              <a:lnSpc>
                <a:spcPct val="113000"/>
              </a:lnSpc>
              <a:spcAft>
                <a:spcPts val="650"/>
              </a:spcAft>
              <a:buNone/>
            </a:pPr>
            <a:endParaRPr lang="es-ES" sz="12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ct val="113000"/>
              </a:lnSpc>
              <a:spcAft>
                <a:spcPts val="650"/>
              </a:spcAft>
              <a:buNone/>
            </a:pPr>
            <a:r>
              <a:rPr lang="es-MX" sz="1400" dirty="0"/>
              <a:t>Las aplicaciones clave incluyen: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154372" y="3705906"/>
            <a:ext cx="3594308" cy="1241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3000"/>
              </a:lnSpc>
              <a:buSzPct val="100000"/>
            </a:pPr>
            <a:r>
              <a:rPr lang="es-ES" sz="1400" dirty="0"/>
              <a:t>• Afiliar taxonomía a los organismos </a:t>
            </a:r>
          </a:p>
          <a:p>
            <a:pPr algn="l">
              <a:lnSpc>
                <a:spcPct val="113000"/>
              </a:lnSpc>
              <a:buSzPct val="100000"/>
            </a:pPr>
            <a:r>
              <a:rPr lang="es-ES" sz="1400" dirty="0"/>
              <a:t>• Estudiar la biología reproductiva </a:t>
            </a:r>
          </a:p>
          <a:p>
            <a:pPr algn="l">
              <a:lnSpc>
                <a:spcPct val="113000"/>
              </a:lnSpc>
              <a:buSzPct val="100000"/>
            </a:pPr>
            <a:r>
              <a:rPr lang="es-ES" sz="1400" dirty="0"/>
              <a:t>• Evaluar la especiación críptica </a:t>
            </a:r>
          </a:p>
          <a:p>
            <a:pPr algn="l">
              <a:lnSpc>
                <a:spcPct val="113000"/>
              </a:lnSpc>
              <a:buSzPct val="100000"/>
            </a:pPr>
            <a:r>
              <a:rPr lang="es-ES" sz="1400" dirty="0"/>
              <a:t>• Comprender la historia de vida </a:t>
            </a:r>
          </a:p>
          <a:p>
            <a:pPr algn="l">
              <a:lnSpc>
                <a:spcPct val="113000"/>
              </a:lnSpc>
              <a:buSzPct val="100000"/>
            </a:pPr>
            <a:r>
              <a:rPr lang="es-ES" sz="1400" dirty="0"/>
              <a:t>• Clasificar proteínas y genes en familias </a:t>
            </a:r>
          </a:p>
          <a:p>
            <a:pPr algn="l">
              <a:lnSpc>
                <a:spcPct val="113000"/>
              </a:lnSpc>
              <a:buSzPct val="100000"/>
            </a:pPr>
            <a:r>
              <a:rPr lang="es-ES" sz="1400" dirty="0"/>
              <a:t>• Estudiar la evolución de los patógenos</a:t>
            </a: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BB8905-EC1D-625B-0D1B-5508008E1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70" y="734767"/>
            <a:ext cx="5591558" cy="60866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9D6D8201-B8EB-BB47-43E8-DA99FC962508}"/>
              </a:ext>
            </a:extLst>
          </p:cNvPr>
          <p:cNvSpPr/>
          <p:nvPr/>
        </p:nvSpPr>
        <p:spPr>
          <a:xfrm>
            <a:off x="661475" y="559594"/>
            <a:ext cx="10868745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Afiliación Taxonómica de un Organismo</a:t>
            </a:r>
            <a:endParaRPr lang="en-US" sz="325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56F6F23E-55B8-8F75-0E41-2AA398392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541" y="2036862"/>
            <a:ext cx="6229393" cy="3530005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9FB69939-9226-2AB5-2B6E-454CEAB14EAC}"/>
              </a:ext>
            </a:extLst>
          </p:cNvPr>
          <p:cNvSpPr/>
          <p:nvPr/>
        </p:nvSpPr>
        <p:spPr>
          <a:xfrm>
            <a:off x="7998022" y="1438870"/>
            <a:ext cx="3538449" cy="1263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enfoques tradicionales —microscopía, morfología y pruebas bioquímicas— son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lentos y de precisión baja a moderada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La filogenia proporciona un método alternativo más robusto para la clasificación taxonómica.</a:t>
            </a:r>
            <a:endParaRPr lang="en-US" sz="13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2D1DFDE4-5DC8-BA72-4023-C797E026CBEE}"/>
              </a:ext>
            </a:extLst>
          </p:cNvPr>
          <p:cNvSpPr/>
          <p:nvPr/>
        </p:nvSpPr>
        <p:spPr>
          <a:xfrm>
            <a:off x="7998022" y="2868811"/>
            <a:ext cx="3538449" cy="1866106"/>
          </a:xfrm>
          <a:prstGeom prst="roundRect">
            <a:avLst>
              <a:gd name="adj" fmla="val 3769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586E3923-7580-79B9-18EE-8A587C59F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400" y="3090168"/>
            <a:ext cx="209247" cy="167382"/>
          </a:xfrm>
          <a:prstGeom prst="rect">
            <a:avLst/>
          </a:prstGeom>
        </p:spPr>
      </p:pic>
      <p:sp>
        <p:nvSpPr>
          <p:cNvPr id="14" name="Text 3">
            <a:extLst>
              <a:ext uri="{FF2B5EF4-FFF2-40B4-BE49-F238E27FC236}">
                <a16:creationId xmlns:a16="http://schemas.microsoft.com/office/drawing/2014/main" id="{0EC8F188-EBBE-6153-B4EB-82AEE3993C2A}"/>
              </a:ext>
            </a:extLst>
          </p:cNvPr>
          <p:cNvSpPr/>
          <p:nvPr/>
        </p:nvSpPr>
        <p:spPr>
          <a:xfrm>
            <a:off x="8542025" y="3044031"/>
            <a:ext cx="2827068" cy="1515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Caso de estudio: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Neelapu et al. (2009) utilizó análisis filogenético de hongos entomopatógenos para colocar especies asexuales en la familia </a:t>
            </a:r>
            <a:r>
              <a:rPr lang="en-US" sz="13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Clavicipitaceae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del orden </a:t>
            </a:r>
            <a:r>
              <a:rPr lang="en-US" sz="13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Hypocreales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3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Ascomycota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B6C9054-B05A-207C-77DF-81B825189FC7}"/>
              </a:ext>
            </a:extLst>
          </p:cNvPr>
          <p:cNvSpPr/>
          <p:nvPr/>
        </p:nvSpPr>
        <p:spPr>
          <a:xfrm>
            <a:off x="7998022" y="4901803"/>
            <a:ext cx="3538449" cy="1263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análisis filogenético colocó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todas las especies de hongos entomopatógenos asexuales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analizadas en la familia </a:t>
            </a: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Clavicipitaceae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del orden </a:t>
            </a: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Hypocreales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Ascomycota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7AC411-A3E0-7331-194A-CA10DA2FF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311" y="472593"/>
            <a:ext cx="4579236" cy="40700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16905E-0C9C-CCB6-287D-7758E7546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67" y="3277734"/>
            <a:ext cx="4877549" cy="3271101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B1FCB189-0E68-B6B2-4AD1-B3A570193F6B}"/>
              </a:ext>
            </a:extLst>
          </p:cNvPr>
          <p:cNvSpPr/>
          <p:nvPr/>
        </p:nvSpPr>
        <p:spPr>
          <a:xfrm>
            <a:off x="569863" y="72925"/>
            <a:ext cx="777088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Biología</a:t>
            </a: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295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Reproductiva</a:t>
            </a: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y Especiación Críptica</a:t>
            </a:r>
            <a:endParaRPr lang="en-US" sz="295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19EF2958-2D7B-621F-C277-001EA97579CA}"/>
              </a:ext>
            </a:extLst>
          </p:cNvPr>
          <p:cNvSpPr/>
          <p:nvPr/>
        </p:nvSpPr>
        <p:spPr>
          <a:xfrm>
            <a:off x="661475" y="856804"/>
            <a:ext cx="3564245" cy="23624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Biología Reproductiva</a:t>
            </a:r>
            <a:endParaRPr lang="en-US" sz="145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B717A366-EBD2-EEDB-12A2-048188932A81}"/>
              </a:ext>
            </a:extLst>
          </p:cNvPr>
          <p:cNvSpPr/>
          <p:nvPr/>
        </p:nvSpPr>
        <p:spPr>
          <a:xfrm>
            <a:off x="661475" y="1172486"/>
            <a:ext cx="3564245" cy="87074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la biología reproductiva en organismos sin órganos sexuales es un desafío. La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concordancia filogenética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las genealogías génicas ofrecen medios indirectos para identificar recombinación.</a:t>
            </a:r>
            <a:endParaRPr lang="en-US" sz="115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3CFDC359-4691-902C-776C-B1227EDCB376}"/>
              </a:ext>
            </a:extLst>
          </p:cNvPr>
          <p:cNvSpPr/>
          <p:nvPr/>
        </p:nvSpPr>
        <p:spPr>
          <a:xfrm>
            <a:off x="639449" y="2064213"/>
            <a:ext cx="3564245" cy="113334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Diferentes genes muestran diferentes genealogías dentro de una especie debido a la recombinación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Concordancia entre múltiples genealogías → especies recombinantes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Falta de concordancia → especies clonales</a:t>
            </a:r>
            <a:endParaRPr lang="en-US" sz="1150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860DFB18-DB06-9CF1-1C05-3CF95E92929F}"/>
              </a:ext>
            </a:extLst>
          </p:cNvPr>
          <p:cNvSpPr/>
          <p:nvPr/>
        </p:nvSpPr>
        <p:spPr>
          <a:xfrm>
            <a:off x="5642642" y="4951426"/>
            <a:ext cx="3247421" cy="1268107"/>
          </a:xfrm>
          <a:prstGeom prst="roundRect">
            <a:avLst>
              <a:gd name="adj" fmla="val 417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579AE03-893E-463E-1BBC-3B8E7D67A72B}"/>
              </a:ext>
            </a:extLst>
          </p:cNvPr>
          <p:cNvSpPr/>
          <p:nvPr/>
        </p:nvSpPr>
        <p:spPr>
          <a:xfrm>
            <a:off x="5688354" y="5009661"/>
            <a:ext cx="3201709" cy="23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Especiación Críptica (GCPSR)</a:t>
            </a:r>
            <a:endParaRPr lang="en-US" sz="145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014B27FB-D562-206B-7BFD-047C49332CE5}"/>
              </a:ext>
            </a:extLst>
          </p:cNvPr>
          <p:cNvSpPr/>
          <p:nvPr/>
        </p:nvSpPr>
        <p:spPr>
          <a:xfrm>
            <a:off x="5688354" y="5301073"/>
            <a:ext cx="3201709" cy="870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reconocimiento filogenético de especies por concordancia genealógica detecta grupos genéticamente aislados comparando árboles génicos en diferentes loci</a:t>
            </a:r>
            <a:endParaRPr lang="en-US" sz="115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EBF9031F-AC93-232A-03E3-27EC3C01592B}"/>
              </a:ext>
            </a:extLst>
          </p:cNvPr>
          <p:cNvSpPr/>
          <p:nvPr/>
        </p:nvSpPr>
        <p:spPr>
          <a:xfrm>
            <a:off x="9061503" y="4571742"/>
            <a:ext cx="3084171" cy="974303"/>
          </a:xfrm>
          <a:prstGeom prst="roundRect">
            <a:avLst>
              <a:gd name="adj" fmla="val 417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096F1C1-04E9-BD38-2A9D-53FDBC971FE5}"/>
              </a:ext>
            </a:extLst>
          </p:cNvPr>
          <p:cNvSpPr/>
          <p:nvPr/>
        </p:nvSpPr>
        <p:spPr>
          <a:xfrm>
            <a:off x="9231758" y="4742001"/>
            <a:ext cx="3201808" cy="23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Secuencias Homólogas</a:t>
            </a:r>
            <a:endParaRPr lang="en-US" sz="145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C0DF7374-9841-1107-18E0-37D47A240FB9}"/>
              </a:ext>
            </a:extLst>
          </p:cNvPr>
          <p:cNvSpPr/>
          <p:nvPr/>
        </p:nvSpPr>
        <p:spPr>
          <a:xfrm>
            <a:off x="9231758" y="5050770"/>
            <a:ext cx="3201808" cy="4353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Similares en estructura o función entre organismos</a:t>
            </a:r>
            <a:endParaRPr lang="en-US" sz="115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55580580-85E4-ED58-E506-0DE3E96AD19B}"/>
              </a:ext>
            </a:extLst>
          </p:cNvPr>
          <p:cNvSpPr/>
          <p:nvPr/>
        </p:nvSpPr>
        <p:spPr>
          <a:xfrm>
            <a:off x="9061602" y="5647825"/>
            <a:ext cx="3084072" cy="1130222"/>
          </a:xfrm>
          <a:prstGeom prst="roundRect">
            <a:avLst>
              <a:gd name="adj" fmla="val 417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FFC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76DE0172-B10F-F3AD-DC4B-91B6C12B5514}"/>
              </a:ext>
            </a:extLst>
          </p:cNvPr>
          <p:cNvSpPr/>
          <p:nvPr/>
        </p:nvSpPr>
        <p:spPr>
          <a:xfrm>
            <a:off x="9231857" y="5735133"/>
            <a:ext cx="3201808" cy="23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Ortólogas vs. Parálogas</a:t>
            </a:r>
            <a:endParaRPr lang="en-US" sz="145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82779A8C-7F81-EA45-0A40-4885C4D4541E}"/>
              </a:ext>
            </a:extLst>
          </p:cNvPr>
          <p:cNvSpPr/>
          <p:nvPr/>
        </p:nvSpPr>
        <p:spPr>
          <a:xfrm>
            <a:off x="9231857" y="6043902"/>
            <a:ext cx="3201808" cy="6530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Ortólogas: función similar en organismos distintos (especiación). Parálogas: mismo organismo (duplicación génica)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FFA8BAB-B1C4-A1F5-8276-9498D9CF3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213" y="902704"/>
            <a:ext cx="5497276" cy="5932064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9D8481F5-A9CE-1DC5-3DA4-F38BEB2738B0}"/>
              </a:ext>
            </a:extLst>
          </p:cNvPr>
          <p:cNvSpPr/>
          <p:nvPr/>
        </p:nvSpPr>
        <p:spPr>
          <a:xfrm>
            <a:off x="661627" y="292353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Evolución de Familias Génicas: Globina y V-PPasa</a:t>
            </a:r>
            <a:endParaRPr lang="en-US" sz="315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417AA0BF-E632-DA84-C80E-42AB14E2BE73}"/>
              </a:ext>
            </a:extLst>
          </p:cNvPr>
          <p:cNvSpPr/>
          <p:nvPr/>
        </p:nvSpPr>
        <p:spPr>
          <a:xfrm>
            <a:off x="693947" y="4160535"/>
            <a:ext cx="1770957" cy="251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Genes de Globina</a:t>
            </a:r>
            <a:endParaRPr lang="en-US" sz="155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F9F73A30-472B-2D4F-0D81-A3C991139411}"/>
              </a:ext>
            </a:extLst>
          </p:cNvPr>
          <p:cNvSpPr/>
          <p:nvPr/>
        </p:nvSpPr>
        <p:spPr>
          <a:xfrm>
            <a:off x="693947" y="4548083"/>
            <a:ext cx="4651776" cy="552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duplicación génica seguida de divergencia funcional explica la evolución de la familia de globinas:</a:t>
            </a:r>
            <a:endParaRPr lang="en-US" sz="125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10424EB-5171-3DA4-E9B1-56CD5373DE06}"/>
              </a:ext>
            </a:extLst>
          </p:cNvPr>
          <p:cNvSpPr/>
          <p:nvPr/>
        </p:nvSpPr>
        <p:spPr>
          <a:xfrm>
            <a:off x="693947" y="5276098"/>
            <a:ext cx="3549264" cy="13318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Hemoglobina: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transporte de oxígeno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Mioglobina: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metabolismo de oxígeno en músculo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Citoglobina: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donante de oxígeno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Neuroglobina: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reservorio de oxígeno</a:t>
            </a:r>
            <a:endParaRPr lang="en-US" sz="125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2E60995-C572-F86D-F295-7CBD7D134E7A}"/>
              </a:ext>
            </a:extLst>
          </p:cNvPr>
          <p:cNvSpPr/>
          <p:nvPr/>
        </p:nvSpPr>
        <p:spPr>
          <a:xfrm>
            <a:off x="6702498" y="1375327"/>
            <a:ext cx="1539065" cy="25102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V-PPasa</a:t>
            </a:r>
            <a:endParaRPr lang="en-US" sz="15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0C11F707-2CF1-480D-7745-DD4A835B1359}"/>
              </a:ext>
            </a:extLst>
          </p:cNvPr>
          <p:cNvSpPr/>
          <p:nvPr/>
        </p:nvSpPr>
        <p:spPr>
          <a:xfrm>
            <a:off x="6676598" y="1720544"/>
            <a:ext cx="2433325" cy="98858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Polipéptido único resistente al calor que coexiste con V-ATPasa en la membrana vacuolar de plantas. Las V-PPasas están </a:t>
            </a: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altamente conservadas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entre plantas terrestres y menos conservadas entre arqueas y bacterias.</a:t>
            </a:r>
            <a:endParaRPr lang="en-US" sz="12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A75608-FA8C-A6DE-B2B0-9A148F5D8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47" y="868660"/>
            <a:ext cx="4995154" cy="3203923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8954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s-ES" sz="4000" dirty="0"/>
              <a:t>Comprendiendo la historia de la vida y el reloj molecular</a:t>
            </a:r>
            <a:endParaRPr lang="en-US" sz="3700" dirty="0"/>
          </a:p>
        </p:txBody>
      </p:sp>
      <p:sp>
        <p:nvSpPr>
          <p:cNvPr id="5" name="Shape 1"/>
          <p:cNvSpPr/>
          <p:nvPr/>
        </p:nvSpPr>
        <p:spPr>
          <a:xfrm>
            <a:off x="661475" y="2360216"/>
            <a:ext cx="6296860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2"/>
          <p:cNvSpPr/>
          <p:nvPr/>
        </p:nvSpPr>
        <p:spPr>
          <a:xfrm>
            <a:off x="856832" y="255557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ES" sz="2000" dirty="0"/>
              <a:t>Filogenia a nivel de reino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56832" y="2964259"/>
            <a:ext cx="59061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s-E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Carl Woese estableció el árbol filogenético basado en secuencias moleculares utilizando secuencias de ARN ribosómico (ARNr), revelando tres dominios principales: </a:t>
            </a:r>
            <a:r>
              <a:rPr lang="es-E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Eucarya</a:t>
            </a:r>
            <a:r>
              <a:rPr lang="es-E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Bacteria y </a:t>
            </a:r>
            <a:r>
              <a:rPr lang="es-E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Archaea</a:t>
            </a:r>
            <a:r>
              <a:rPr lang="es-E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61475" y="4247951"/>
            <a:ext cx="6296860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9" name="Text 5"/>
          <p:cNvSpPr/>
          <p:nvPr/>
        </p:nvSpPr>
        <p:spPr>
          <a:xfrm>
            <a:off x="856832" y="445125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Reloj molecular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856832" y="4859933"/>
            <a:ext cx="59061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8F79804F-CF79-468F-B9BA-0A9D34520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870" y="4828471"/>
            <a:ext cx="604910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Hasegawa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 (1985) estimaron las fechas de divergencia desde los humanos: Ratón (92.3 ± 11.7 </a:t>
            </a:r>
            <a:r>
              <a:rPr kumimoji="0" lang="es-MX" altLang="es-MX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Mya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Gibón (13.3 ± 1.5 </a:t>
            </a:r>
            <a:r>
              <a:rPr kumimoji="0" lang="es-MX" altLang="es-MX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Mya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Orangután (10.9 ± 1.2 </a:t>
            </a:r>
            <a:r>
              <a:rPr kumimoji="0" lang="es-MX" altLang="es-MX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Mya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Gorila (3.7 ± 0.6 </a:t>
            </a:r>
            <a:r>
              <a:rPr kumimoji="0" lang="es-MX" altLang="es-MX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Mya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Chimpancé (2.7 ± 0.6 </a:t>
            </a:r>
            <a:r>
              <a:rPr kumimoji="0" lang="es-MX" altLang="es-MX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Mya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656373-3199-78D5-7A82-2A9EC4364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4877" y="89094"/>
            <a:ext cx="3901750" cy="53527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A60A12A-B436-4EE0-E0A8-EEA54A0FA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93" y="1995537"/>
            <a:ext cx="5031706" cy="45255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6A5799-4E0B-B42D-3E5B-DA296BC42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962" y="1995537"/>
            <a:ext cx="5903534" cy="452555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AA999BD0-501E-69B7-DF7B-6752A30E9141}"/>
              </a:ext>
            </a:extLst>
          </p:cNvPr>
          <p:cNvSpPr/>
          <p:nvPr/>
        </p:nvSpPr>
        <p:spPr>
          <a:xfrm>
            <a:off x="570035" y="36367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s-ES" sz="4000" dirty="0"/>
              <a:t>Comprendiendo la historia de la vida y el reloj molecular</a:t>
            </a:r>
            <a:endParaRPr lang="en-US" sz="37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15FC00F9-242A-D5F9-958A-DDDF09EEEB38}"/>
              </a:ext>
            </a:extLst>
          </p:cNvPr>
          <p:cNvSpPr/>
          <p:nvPr/>
        </p:nvSpPr>
        <p:spPr>
          <a:xfrm>
            <a:off x="6974840" y="417903"/>
            <a:ext cx="4885782" cy="1375338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ED852C61-281E-0C54-1A1A-60BC9FCD68E9}"/>
              </a:ext>
            </a:extLst>
          </p:cNvPr>
          <p:cNvSpPr/>
          <p:nvPr/>
        </p:nvSpPr>
        <p:spPr>
          <a:xfrm>
            <a:off x="7082641" y="386688"/>
            <a:ext cx="4582624" cy="299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Reloj molecular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endParaRPr lang="en-US" sz="18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D316E95-512A-06DE-7755-B49EEF98626C}"/>
              </a:ext>
            </a:extLst>
          </p:cNvPr>
          <p:cNvSpPr/>
          <p:nvPr/>
        </p:nvSpPr>
        <p:spPr>
          <a:xfrm>
            <a:off x="7082641" y="974150"/>
            <a:ext cx="4582624" cy="921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0061BB19-307C-6DE8-1F63-44813086F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1715" y="709290"/>
            <a:ext cx="4693549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Hasegawa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 (1985) estimaron las fechas de divergencia desde los humanos: Ratón (92.3 ± 11.7 </a:t>
            </a:r>
            <a:r>
              <a:rPr kumimoji="0" lang="es-MX" altLang="es-MX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Mya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Gibón (13.3 ± 1.5 </a:t>
            </a:r>
            <a:r>
              <a:rPr kumimoji="0" lang="es-MX" altLang="es-MX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Mya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Orangután (10.9 ± 1.2 </a:t>
            </a:r>
            <a:r>
              <a:rPr kumimoji="0" lang="es-MX" altLang="es-MX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Mya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Gorila (3.7 ± 0.6 </a:t>
            </a:r>
            <a:r>
              <a:rPr kumimoji="0" lang="es-MX" altLang="es-MX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Mya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Chimpancé (2.7 ± 0.6 </a:t>
            </a:r>
            <a:r>
              <a:rPr kumimoji="0" lang="es-MX" altLang="es-MX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Mya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406" y="296108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ES" sz="3200" dirty="0"/>
              <a:t>Evolución de los patógenos y </a:t>
            </a:r>
            <a:r>
              <a:rPr lang="es-ES" sz="3200" dirty="0" err="1"/>
              <a:t>filodinámica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8479538" y="1062453"/>
            <a:ext cx="3549264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just">
              <a:lnSpc>
                <a:spcPct val="123000"/>
              </a:lnSpc>
              <a:buNone/>
            </a:pPr>
            <a:r>
              <a:rPr lang="es-ES" sz="1400" dirty="0"/>
              <a:t>Los virus tienen altas tasas de mutación y se adaptan rápidamente a los cambios ambientales, dejando marcas significativas en el genoma. La evidencia filogenética muestra que el VIH-1 y el VIH-2 resultaron de varios eventos de transmisión </a:t>
            </a:r>
            <a:r>
              <a:rPr lang="es-ES" sz="1400" dirty="0" err="1"/>
              <a:t>interespecies</a:t>
            </a:r>
            <a:r>
              <a:rPr lang="es-ES" sz="1400" dirty="0"/>
              <a:t> de chimpancés a seres humanos.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479538" y="2809716"/>
            <a:ext cx="354926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s-MX" sz="1600" dirty="0" err="1"/>
              <a:t>Filodinámica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479538" y="3197265"/>
            <a:ext cx="354926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ct val="123000"/>
              </a:lnSpc>
            </a:pP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fusión de la </a:t>
            </a:r>
            <a:r>
              <a:rPr kumimoji="0" lang="es-MX" altLang="es-MX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inmunodinámica</a:t>
            </a:r>
            <a:r>
              <a:rPr kumimoji="0" lang="es-MX" altLang="es-MX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 epidemiología y la biología evolutiva para entender:</a:t>
            </a:r>
          </a:p>
          <a:p>
            <a:pPr marL="0" indent="0" algn="l">
              <a:lnSpc>
                <a:spcPct val="123000"/>
              </a:lnSpc>
              <a:buNone/>
            </a:pP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479538" y="3795554"/>
            <a:ext cx="3549264" cy="808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s-E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Dinámica de transmisión </a:t>
            </a:r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s-E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Dinámica poblacional </a:t>
            </a:r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s-E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Dinámica dentro del huésped</a:t>
            </a:r>
          </a:p>
        </p:txBody>
      </p:sp>
      <p:sp>
        <p:nvSpPr>
          <p:cNvPr id="8" name="Text 5"/>
          <p:cNvSpPr/>
          <p:nvPr/>
        </p:nvSpPr>
        <p:spPr>
          <a:xfrm>
            <a:off x="8479538" y="4727019"/>
            <a:ext cx="3549264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s-E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</a:t>
            </a:r>
            <a:r>
              <a:rPr lang="es-ES" sz="12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filodinámica</a:t>
            </a:r>
            <a:r>
              <a:rPr lang="es-E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 útil para monitorear programas de vigilancia y comprender la evolución de los virus en cuanto a su origen, tiempo de divergencia y evolución del patógeno.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6D3FC52-2256-9343-C607-6E5E13DE3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47" y="1996479"/>
            <a:ext cx="3894486" cy="32206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84E4A0-C830-9D4A-5787-A207BB56F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685" y="2096169"/>
            <a:ext cx="3657600" cy="31531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40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s-E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Construcción de árboles filogenéticos: datos y métodos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104727"/>
            <a:ext cx="5339820" cy="20093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89605" y="223321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288617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Sources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294856"/>
            <a:ext cx="491100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s-ES" sz="1600" dirty="0"/>
              <a:t>Datos binarios de RAPD, RFLP, AFLP, SSCP y datos de secuencia (nucleótido y proteína)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104727"/>
            <a:ext cx="5339919" cy="20093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8530" y="223321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04708" y="2886174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Distance Methods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04708" y="3294856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s-E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UPGMA, mínima evolución, unión de vecinos, Fitch-</a:t>
            </a:r>
            <a:r>
              <a:rPr lang="es-E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Margoliash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303117"/>
            <a:ext cx="5339820" cy="200937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89605" y="443160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75881" y="508456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Discrete Character Methods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75881" y="5493246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s-E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Máxima verosimilitud y máxima parsimonia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4303117"/>
            <a:ext cx="5339919" cy="200937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18530" y="4431605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6404708" y="5084564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Phylogenetic Packages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404708" y="5493246"/>
            <a:ext cx="4911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PHYLIP, PAUP, MEGA,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TreePuzzle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MrBayes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BEAST, IQ-TREE. MEGA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proporciona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edición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árboles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través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Tree Explorer.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13879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s-E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Evaluación de la confianza en árboles filogenéticos</a:t>
            </a:r>
            <a:endParaRPr lang="en-US" sz="2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1840210"/>
            <a:ext cx="378014" cy="3780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2369443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Bootstrapping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61475" y="2678212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Muestreo aleatorio con reemplazo de los datos; repetido de 100 a más de 1000 veces para reconstruir árboles y generar un árbol de consenso con valores </a:t>
            </a:r>
            <a:r>
              <a:rPr lang="es-ES" sz="11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bootstrap</a:t>
            </a:r>
            <a:r>
              <a:rPr lang="es-E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los nodos.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355479"/>
            <a:ext cx="378014" cy="3780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1475" y="3884712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Jackknifing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661475" y="4193480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mitad del conjunto de datos se elimina aleatoriamente para generar conjuntos de datos </a:t>
            </a:r>
            <a:r>
              <a:rPr lang="es-ES" sz="12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semi-originales</a:t>
            </a:r>
            <a:r>
              <a:rPr lang="es-E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 esto evalúa la confianza cuando las señales filogenéticas son débiles o fuertes.</a:t>
            </a:r>
            <a:endParaRPr lang="en-US" sz="11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870748"/>
            <a:ext cx="378014" cy="3780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475" y="5399980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Bayesian Method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661475" y="5708749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enfoque MCMC vuelve a muestrear los datos miles o millones de veces; las probabilidades posteriores miden los niveles de confianza de la topología del árbol.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676187C-6A6C-F287-915D-63FCAFAEF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66E5ABE-82A5-C0ED-C70B-310C61028E92}"/>
              </a:ext>
            </a:extLst>
          </p:cNvPr>
          <p:cNvSpPr/>
          <p:nvPr/>
        </p:nvSpPr>
        <p:spPr>
          <a:xfrm>
            <a:off x="5233360" y="685701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Conclusiones Clave</a:t>
            </a:r>
            <a:endParaRPr lang="en-US" sz="2600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C4C10790-7A65-82C3-DA4F-9250E856B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238052"/>
            <a:ext cx="330688" cy="330696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1ADDBED9-6F61-BBB0-ECBD-76BB231537B2}"/>
              </a:ext>
            </a:extLst>
          </p:cNvPr>
          <p:cNvSpPr/>
          <p:nvPr/>
        </p:nvSpPr>
        <p:spPr>
          <a:xfrm>
            <a:off x="5233360" y="1684437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Diversas</a:t>
            </a:r>
            <a:endParaRPr lang="en-US" sz="13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43AB0BC-DAFB-82A7-66D5-C3D4DEFD7CE2}"/>
              </a:ext>
            </a:extLst>
          </p:cNvPr>
          <p:cNvSpPr/>
          <p:nvPr/>
        </p:nvSpPr>
        <p:spPr>
          <a:xfrm>
            <a:off x="5233360" y="1946672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Desde taxonomía hasta epidemiología viral, la filogenia es una herramienta transversal en biología moderna</a:t>
            </a:r>
            <a:endParaRPr lang="en-US" sz="100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236254E6-94B4-D197-CD0B-17D15BDE3D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2491879"/>
            <a:ext cx="330688" cy="330696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6D64F7E2-6C44-6C32-6F17-092EC9F90048}"/>
              </a:ext>
            </a:extLst>
          </p:cNvPr>
          <p:cNvSpPr/>
          <p:nvPr/>
        </p:nvSpPr>
        <p:spPr>
          <a:xfrm>
            <a:off x="5233360" y="2938264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Métodos Complementarios</a:t>
            </a:r>
            <a:endParaRPr lang="en-US" sz="13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C665BA2-4E70-47AD-A63C-BBE3BF6194E2}"/>
              </a:ext>
            </a:extLst>
          </p:cNvPr>
          <p:cNvSpPr/>
          <p:nvPr/>
        </p:nvSpPr>
        <p:spPr>
          <a:xfrm>
            <a:off x="5233360" y="3200499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métodos de distancia y de caracteres discretos ofrecen perspectivas distintas sobre las relaciones evolutivas</a:t>
            </a:r>
            <a:endParaRPr lang="en-US" sz="1000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ED5C068C-1A8D-9092-1265-701510F2E7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3360" y="3745706"/>
            <a:ext cx="330688" cy="330696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2DDE782E-8FE8-4A44-F1CF-5661C4713285}"/>
              </a:ext>
            </a:extLst>
          </p:cNvPr>
          <p:cNvSpPr/>
          <p:nvPr/>
        </p:nvSpPr>
        <p:spPr>
          <a:xfrm>
            <a:off x="5233360" y="4192091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Evaluación Estadística</a:t>
            </a:r>
            <a:endParaRPr lang="en-US" sz="13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13F580C-68EC-D6B5-85CE-3A070B55F3D0}"/>
              </a:ext>
            </a:extLst>
          </p:cNvPr>
          <p:cNvSpPr/>
          <p:nvPr/>
        </p:nvSpPr>
        <p:spPr>
          <a:xfrm>
            <a:off x="5233360" y="4454327"/>
            <a:ext cx="629686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Bootstrap, jackknife y MCMC bayesiano garantizan la confiabilidad de las topologías inferidas</a:t>
            </a:r>
            <a:endParaRPr lang="en-US" sz="1000" dirty="0"/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3C528C57-13B3-2350-DAC0-BD36C13E17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3360" y="4819551"/>
            <a:ext cx="330688" cy="330696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E78A9FA4-02AB-130E-D54E-EFE28E96D9A8}"/>
              </a:ext>
            </a:extLst>
          </p:cNvPr>
          <p:cNvSpPr/>
          <p:nvPr/>
        </p:nvSpPr>
        <p:spPr>
          <a:xfrm>
            <a:off x="5233360" y="5265936"/>
            <a:ext cx="629686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Herramientas Bioinformáticas</a:t>
            </a:r>
            <a:endParaRPr lang="en-US" sz="13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3F780BDC-3774-4EF6-24E6-1564FD5548AA}"/>
              </a:ext>
            </a:extLst>
          </p:cNvPr>
          <p:cNvSpPr/>
          <p:nvPr/>
        </p:nvSpPr>
        <p:spPr>
          <a:xfrm>
            <a:off x="5233360" y="5528171"/>
            <a:ext cx="629686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MEGA, MrBayes, IQ-TREE y BEAST permiten análisis robustos con interfaces accesibles</a:t>
            </a:r>
            <a:endParaRPr lang="en-US" sz="10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16B93DF5-3D04-0FA0-DAEC-A5ECE66EA008}"/>
              </a:ext>
            </a:extLst>
          </p:cNvPr>
          <p:cNvSpPr/>
          <p:nvPr/>
        </p:nvSpPr>
        <p:spPr>
          <a:xfrm>
            <a:off x="5233360" y="5812334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Fuente principal: Capítulo 10, "Phylogenetic Trees: Applications, Construction, and Assessment" — Essentials of Bioinformatics, Volume III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75475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C10286-8839-42F9-A5CA-7D2470EA4343}"/>
              </a:ext>
            </a:extLst>
          </p:cNvPr>
          <p:cNvSpPr txBox="1"/>
          <p:nvPr/>
        </p:nvSpPr>
        <p:spPr>
          <a:xfrm>
            <a:off x="586153" y="382229"/>
            <a:ext cx="110525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/>
              <a:t>Bases de datos de </a:t>
            </a:r>
            <a:r>
              <a:rPr lang="es-MX" b="1" dirty="0" err="1"/>
              <a:t>agroalimentos</a:t>
            </a:r>
            <a:r>
              <a:rPr lang="es-MX" dirty="0"/>
              <a:t>: son bases de datos de secuencias de plantas cultivadas, frutas, cereales, hortalizas o microorganismos asociados a alimentos. Hay varias opciones muy útiles para construir árboles filogenéticos.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06D7BE-954E-D510-D34A-4BF0E95C5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987128"/>
              </p:ext>
            </p:extLst>
          </p:nvPr>
        </p:nvGraphicFramePr>
        <p:xfrm>
          <a:off x="586152" y="1727017"/>
          <a:ext cx="11052516" cy="4031360"/>
        </p:xfrm>
        <a:graphic>
          <a:graphicData uri="http://schemas.openxmlformats.org/drawingml/2006/table">
            <a:tbl>
              <a:tblPr/>
              <a:tblGrid>
                <a:gridCol w="3684172">
                  <a:extLst>
                    <a:ext uri="{9D8B030D-6E8A-4147-A177-3AD203B41FA5}">
                      <a16:colId xmlns:a16="http://schemas.microsoft.com/office/drawing/2014/main" val="1394117640"/>
                    </a:ext>
                  </a:extLst>
                </a:gridCol>
                <a:gridCol w="3684172">
                  <a:extLst>
                    <a:ext uri="{9D8B030D-6E8A-4147-A177-3AD203B41FA5}">
                      <a16:colId xmlns:a16="http://schemas.microsoft.com/office/drawing/2014/main" val="3402417874"/>
                    </a:ext>
                  </a:extLst>
                </a:gridCol>
                <a:gridCol w="3684172">
                  <a:extLst>
                    <a:ext uri="{9D8B030D-6E8A-4147-A177-3AD203B41FA5}">
                      <a16:colId xmlns:a16="http://schemas.microsoft.com/office/drawing/2014/main" val="404897826"/>
                    </a:ext>
                  </a:extLst>
                </a:gridCol>
              </a:tblGrid>
              <a:tr h="403136">
                <a:tc>
                  <a:txBody>
                    <a:bodyPr/>
                    <a:lstStyle/>
                    <a:p>
                      <a:r>
                        <a:rPr lang="es-MX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Base de datos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s-MX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Qué puedes obtener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s-MX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Ejemplo agroalimentario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19261713"/>
                  </a:ext>
                </a:extLst>
              </a:tr>
              <a:tr h="403136">
                <a:tc>
                  <a:txBody>
                    <a:bodyPr/>
                    <a:lstStyle/>
                    <a:p>
                      <a:r>
                        <a:rPr lang="es-MX" b="1" dirty="0" err="1"/>
                        <a:t>GenBank</a:t>
                      </a:r>
                      <a:r>
                        <a:rPr lang="es-MX" b="1" dirty="0"/>
                        <a:t> / NCBI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ADN, ARN y proteínas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maíz, trigo, arroz, tomate, chile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94883934"/>
                  </a:ext>
                </a:extLst>
              </a:tr>
              <a:tr h="705488">
                <a:tc>
                  <a:txBody>
                    <a:bodyPr/>
                    <a:lstStyle/>
                    <a:p>
                      <a:r>
                        <a:rPr lang="es-MX" b="1" dirty="0"/>
                        <a:t>SILVA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Secuencias de ARN ribosomal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bacterias asociadas a alimentos, microbiota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95671183"/>
                  </a:ext>
                </a:extLst>
              </a:tr>
              <a:tr h="403136">
                <a:tc>
                  <a:txBody>
                    <a:bodyPr/>
                    <a:lstStyle/>
                    <a:p>
                      <a:r>
                        <a:rPr lang="es-MX" b="1" dirty="0" err="1"/>
                        <a:t>Ensembl</a:t>
                      </a:r>
                      <a:r>
                        <a:rPr lang="es-MX" b="1" dirty="0"/>
                        <a:t> </a:t>
                      </a:r>
                      <a:r>
                        <a:rPr lang="es-MX" b="1" dirty="0" err="1"/>
                        <a:t>Plants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Genomas y genes de plantas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s-MX"/>
                        <a:t>arroz, trigo, maíz, soya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45635307"/>
                  </a:ext>
                </a:extLst>
              </a:tr>
              <a:tr h="705488">
                <a:tc>
                  <a:txBody>
                    <a:bodyPr/>
                    <a:lstStyle/>
                    <a:p>
                      <a:r>
                        <a:rPr lang="es-MX" b="1" dirty="0" err="1"/>
                        <a:t>Phytozome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Genomas y genes de plantas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s-ES"/>
                        <a:t>plantas cultivadas y sus parientes silvestres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94735957"/>
                  </a:ext>
                </a:extLst>
              </a:tr>
              <a:tr h="705488">
                <a:tc>
                  <a:txBody>
                    <a:bodyPr/>
                    <a:lstStyle/>
                    <a:p>
                      <a:r>
                        <a:rPr lang="es-MX" b="1"/>
                        <a:t>UniProt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Secuencias y anotaciones de proteínas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enzimas de plantas, hongos y bacterias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284918993"/>
                  </a:ext>
                </a:extLst>
              </a:tr>
              <a:tr h="705488">
                <a:tc>
                  <a:txBody>
                    <a:bodyPr/>
                    <a:lstStyle/>
                    <a:p>
                      <a:r>
                        <a:rPr lang="es-MX" b="1" dirty="0"/>
                        <a:t>BOLD </a:t>
                      </a:r>
                      <a:r>
                        <a:rPr lang="es-MX" b="1" dirty="0" err="1"/>
                        <a:t>Systems</a:t>
                      </a:r>
                      <a:endParaRPr lang="es-MX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Secuencias para identificación molecular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especies vegetales, insectos y otros organismos asociados a agricultura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0808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113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E787BC-2D07-7E08-347E-D0BAE19C7E77}"/>
              </a:ext>
            </a:extLst>
          </p:cNvPr>
          <p:cNvSpPr txBox="1"/>
          <p:nvPr/>
        </p:nvSpPr>
        <p:spPr>
          <a:xfrm>
            <a:off x="468922" y="177747"/>
            <a:ext cx="112963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Para </a:t>
            </a:r>
            <a:r>
              <a:rPr lang="es-ES" b="1" dirty="0"/>
              <a:t>MEGA</a:t>
            </a:r>
            <a:r>
              <a:rPr lang="es-ES" dirty="0"/>
              <a:t>, una opción particularmente sencilla es </a:t>
            </a:r>
            <a:r>
              <a:rPr lang="es-ES" b="1" dirty="0" err="1"/>
              <a:t>GenBank</a:t>
            </a:r>
            <a:r>
              <a:rPr lang="es-ES" b="1" dirty="0"/>
              <a:t>/NCBI</a:t>
            </a:r>
            <a:r>
              <a:rPr lang="es-ES" dirty="0"/>
              <a:t>: puedes buscar un gen concreto, descargar las secuencias homólogas de diferentes especies y después alinearlas para construir el árbol. La documentación de MEGA describe precisamente el flujo de obtener secuencias de bases de datos, buscar homólogos mediante BLAST y llevar las secuencias al </a:t>
            </a:r>
            <a:r>
              <a:rPr lang="es-ES" i="1" dirty="0" err="1"/>
              <a:t>Alignment</a:t>
            </a:r>
            <a:r>
              <a:rPr lang="es-ES" i="1" dirty="0"/>
              <a:t> Explorer</a:t>
            </a:r>
            <a:r>
              <a:rPr lang="es-ES" dirty="0"/>
              <a:t>. </a:t>
            </a:r>
            <a:endParaRPr lang="es-MX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5F8093-8619-7AC5-393F-4C2617EEBAC3}"/>
              </a:ext>
            </a:extLst>
          </p:cNvPr>
          <p:cNvSpPr txBox="1"/>
          <p:nvPr/>
        </p:nvSpPr>
        <p:spPr>
          <a:xfrm>
            <a:off x="447821" y="1660385"/>
            <a:ext cx="11296357" cy="50783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s-MX" b="1" dirty="0"/>
              <a:t>🌽 </a:t>
            </a:r>
            <a:r>
              <a:rPr lang="es-MX" b="1" dirty="0">
                <a:solidFill>
                  <a:schemeClr val="bg2">
                    <a:lumMod val="10000"/>
                  </a:schemeClr>
                </a:solidFill>
              </a:rPr>
              <a:t>Ejemplo concreto: maíz y cereales</a:t>
            </a:r>
          </a:p>
          <a:p>
            <a:endParaRPr lang="es-MX" b="1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Podrías estudiar la relación evolutiva entre:</a:t>
            </a:r>
          </a:p>
          <a:p>
            <a:endParaRPr lang="es-MX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i="1" dirty="0">
                <a:solidFill>
                  <a:schemeClr val="bg2">
                    <a:lumMod val="10000"/>
                  </a:schemeClr>
                </a:solidFill>
              </a:rPr>
              <a:t>Zea </a:t>
            </a:r>
            <a:r>
              <a:rPr lang="es-MX" i="1" dirty="0" err="1">
                <a:solidFill>
                  <a:schemeClr val="bg2">
                    <a:lumMod val="10000"/>
                  </a:schemeClr>
                </a:solidFill>
              </a:rPr>
              <a:t>mays</a:t>
            </a:r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 — maíz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i="1" dirty="0" err="1">
                <a:solidFill>
                  <a:schemeClr val="bg2">
                    <a:lumMod val="10000"/>
                  </a:schemeClr>
                </a:solidFill>
              </a:rPr>
              <a:t>Sorghum</a:t>
            </a:r>
            <a:r>
              <a:rPr lang="es-MX" i="1" dirty="0">
                <a:solidFill>
                  <a:schemeClr val="bg2">
                    <a:lumMod val="10000"/>
                  </a:schemeClr>
                </a:solidFill>
              </a:rPr>
              <a:t> bicolor</a:t>
            </a:r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 — sorgo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i="1" dirty="0" err="1">
                <a:solidFill>
                  <a:schemeClr val="bg2">
                    <a:lumMod val="10000"/>
                  </a:schemeClr>
                </a:solidFill>
              </a:rPr>
              <a:t>Oryza</a:t>
            </a:r>
            <a:r>
              <a:rPr lang="es-MX" i="1" dirty="0">
                <a:solidFill>
                  <a:schemeClr val="bg2">
                    <a:lumMod val="10000"/>
                  </a:schemeClr>
                </a:solidFill>
              </a:rPr>
              <a:t> sativa</a:t>
            </a:r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 — arroz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i="1" dirty="0">
                <a:solidFill>
                  <a:schemeClr val="bg2">
                    <a:lumMod val="10000"/>
                  </a:schemeClr>
                </a:solidFill>
              </a:rPr>
              <a:t>Triticum </a:t>
            </a:r>
            <a:r>
              <a:rPr lang="es-MX" i="1" dirty="0" err="1">
                <a:solidFill>
                  <a:schemeClr val="bg2">
                    <a:lumMod val="10000"/>
                  </a:schemeClr>
                </a:solidFill>
              </a:rPr>
              <a:t>aestivum</a:t>
            </a:r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 — trigo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i="1" dirty="0" err="1">
                <a:solidFill>
                  <a:schemeClr val="bg2">
                    <a:lumMod val="10000"/>
                  </a:schemeClr>
                </a:solidFill>
              </a:rPr>
              <a:t>Hordeum</a:t>
            </a:r>
            <a:r>
              <a:rPr lang="es-MX" i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s-MX" i="1" dirty="0" err="1">
                <a:solidFill>
                  <a:schemeClr val="bg2">
                    <a:lumMod val="10000"/>
                  </a:schemeClr>
                </a:solidFill>
              </a:rPr>
              <a:t>vulgare</a:t>
            </a:r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 — cebada </a:t>
            </a:r>
          </a:p>
          <a:p>
            <a:pPr>
              <a:buFont typeface="Arial" panose="020B0604020202020204" pitchFamily="34" charset="0"/>
              <a:buChar char="•"/>
            </a:pPr>
            <a:endParaRPr lang="es-MX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Y utilizar un gen conservado, por ejemplo </a:t>
            </a:r>
            <a:r>
              <a:rPr lang="es-MX" b="1" dirty="0" err="1">
                <a:solidFill>
                  <a:schemeClr val="bg2">
                    <a:lumMod val="10000"/>
                  </a:schemeClr>
                </a:solidFill>
              </a:rPr>
              <a:t>rbcL</a:t>
            </a:r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es-MX" b="1" dirty="0" err="1">
                <a:solidFill>
                  <a:schemeClr val="bg2">
                    <a:lumMod val="10000"/>
                  </a:schemeClr>
                </a:solidFill>
              </a:rPr>
              <a:t>matK</a:t>
            </a:r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es-MX" b="1" dirty="0">
                <a:solidFill>
                  <a:schemeClr val="bg2">
                    <a:lumMod val="10000"/>
                  </a:schemeClr>
                </a:solidFill>
              </a:rPr>
              <a:t>ITS</a:t>
            </a:r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 o algún gen nuclear apropiado.</a:t>
            </a: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El flujo sería:</a:t>
            </a:r>
          </a:p>
          <a:p>
            <a:endParaRPr lang="es-MX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s-MX" b="1" dirty="0">
                <a:solidFill>
                  <a:schemeClr val="bg2">
                    <a:lumMod val="10000"/>
                  </a:schemeClr>
                </a:solidFill>
              </a:rPr>
              <a:t>Base de datos → secuencias → alineamiento → modelo evolutivo → árbol filogenético</a:t>
            </a:r>
          </a:p>
          <a:p>
            <a:endParaRPr lang="es-MX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MEGA permite realizar el alineamiento y, posteriormente, inferir árboles filogenéticos mediante distintos métodos; las versiones modernas incluyen, entre otros, </a:t>
            </a:r>
            <a:r>
              <a:rPr lang="es-MX" b="1" dirty="0" err="1">
                <a:solidFill>
                  <a:schemeClr val="bg2">
                    <a:lumMod val="10000"/>
                  </a:schemeClr>
                </a:solidFill>
              </a:rPr>
              <a:t>Maximum</a:t>
            </a:r>
            <a:r>
              <a:rPr lang="es-MX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s-MX" b="1" dirty="0" err="1">
                <a:solidFill>
                  <a:schemeClr val="bg2">
                    <a:lumMod val="10000"/>
                  </a:schemeClr>
                </a:solidFill>
              </a:rPr>
              <a:t>Likelihood</a:t>
            </a:r>
            <a:r>
              <a:rPr lang="es-MX" b="1" dirty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es-MX" b="1" dirty="0" err="1">
                <a:solidFill>
                  <a:schemeClr val="bg2">
                    <a:lumMod val="10000"/>
                  </a:schemeClr>
                </a:solidFill>
              </a:rPr>
              <a:t>Maximum</a:t>
            </a:r>
            <a:r>
              <a:rPr lang="es-MX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s-MX" b="1" dirty="0" err="1">
                <a:solidFill>
                  <a:schemeClr val="bg2">
                    <a:lumMod val="10000"/>
                  </a:schemeClr>
                </a:solidFill>
              </a:rPr>
              <a:t>Parsimony</a:t>
            </a:r>
            <a:r>
              <a:rPr lang="es-MX" b="1" dirty="0">
                <a:solidFill>
                  <a:schemeClr val="bg2">
                    <a:lumMod val="10000"/>
                  </a:schemeClr>
                </a:solidFill>
              </a:rPr>
              <a:t> y métodos basados en distancia</a:t>
            </a:r>
            <a:r>
              <a:rPr lang="es-MX" dirty="0">
                <a:solidFill>
                  <a:schemeClr val="bg2">
                    <a:lumMod val="10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40746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C8E060-0461-021A-BC89-170EC84AB659}"/>
              </a:ext>
            </a:extLst>
          </p:cNvPr>
          <p:cNvSpPr txBox="1"/>
          <p:nvPr/>
        </p:nvSpPr>
        <p:spPr>
          <a:xfrm>
            <a:off x="628357" y="137386"/>
            <a:ext cx="11141612" cy="304698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s-MX" sz="1600" b="1" dirty="0"/>
              <a:t>🍅 Otro ejemplo: frutas y hortalizas</a:t>
            </a:r>
          </a:p>
          <a:p>
            <a:endParaRPr lang="es-MX" sz="1600" b="1" dirty="0"/>
          </a:p>
          <a:p>
            <a:r>
              <a:rPr lang="es-MX" sz="1600" dirty="0"/>
              <a:t>Podrías comparar especies de </a:t>
            </a:r>
            <a:r>
              <a:rPr lang="es-MX" sz="1600" b="1" dirty="0" err="1"/>
              <a:t>Solanaceae</a:t>
            </a:r>
            <a:r>
              <a:rPr lang="es-MX" sz="1600" dirty="0"/>
              <a:t>:</a:t>
            </a:r>
          </a:p>
          <a:p>
            <a:endParaRPr lang="es-MX" sz="1600" dirty="0"/>
          </a:p>
          <a:p>
            <a:r>
              <a:rPr lang="es-MX" sz="1600" i="1" dirty="0" err="1"/>
              <a:t>Solanum</a:t>
            </a:r>
            <a:r>
              <a:rPr lang="es-MX" sz="1600" i="1" dirty="0"/>
              <a:t> </a:t>
            </a:r>
            <a:r>
              <a:rPr lang="es-MX" sz="1600" i="1" dirty="0" err="1"/>
              <a:t>lycopersicum</a:t>
            </a:r>
            <a:r>
              <a:rPr lang="es-MX" sz="1600" dirty="0"/>
              <a:t> (tomate)</a:t>
            </a:r>
            <a:br>
              <a:rPr lang="es-MX" sz="1600" dirty="0"/>
            </a:br>
            <a:r>
              <a:rPr lang="es-MX" sz="1600" i="1" dirty="0" err="1"/>
              <a:t>Solanum</a:t>
            </a:r>
            <a:r>
              <a:rPr lang="es-MX" sz="1600" i="1" dirty="0"/>
              <a:t> </a:t>
            </a:r>
            <a:r>
              <a:rPr lang="es-MX" sz="1600" i="1" dirty="0" err="1"/>
              <a:t>tuberosum</a:t>
            </a:r>
            <a:r>
              <a:rPr lang="es-MX" sz="1600" dirty="0"/>
              <a:t> (papa)</a:t>
            </a:r>
            <a:br>
              <a:rPr lang="es-MX" sz="1600" dirty="0"/>
            </a:br>
            <a:r>
              <a:rPr lang="es-MX" sz="1600" i="1" dirty="0" err="1"/>
              <a:t>Capsicum</a:t>
            </a:r>
            <a:r>
              <a:rPr lang="es-MX" sz="1600" i="1" dirty="0"/>
              <a:t> </a:t>
            </a:r>
            <a:r>
              <a:rPr lang="es-MX" sz="1600" i="1" dirty="0" err="1"/>
              <a:t>annuum</a:t>
            </a:r>
            <a:r>
              <a:rPr lang="es-MX" sz="1600" dirty="0"/>
              <a:t> (chile)</a:t>
            </a:r>
            <a:br>
              <a:rPr lang="es-MX" sz="1600" dirty="0"/>
            </a:br>
            <a:r>
              <a:rPr lang="es-MX" sz="1600" i="1" dirty="0" err="1"/>
              <a:t>Capsicum</a:t>
            </a:r>
            <a:r>
              <a:rPr lang="es-MX" sz="1600" i="1" dirty="0"/>
              <a:t> </a:t>
            </a:r>
            <a:r>
              <a:rPr lang="es-MX" sz="1600" i="1" dirty="0" err="1"/>
              <a:t>baccatum</a:t>
            </a:r>
            <a:br>
              <a:rPr lang="es-MX" sz="1600" dirty="0"/>
            </a:br>
            <a:r>
              <a:rPr lang="es-MX" sz="1600" i="1" dirty="0" err="1"/>
              <a:t>Solanum</a:t>
            </a:r>
            <a:r>
              <a:rPr lang="es-MX" sz="1600" i="1" dirty="0"/>
              <a:t> </a:t>
            </a:r>
            <a:r>
              <a:rPr lang="es-MX" sz="1600" i="1" dirty="0" err="1"/>
              <a:t>melongena</a:t>
            </a:r>
            <a:r>
              <a:rPr lang="es-MX" sz="1600" dirty="0"/>
              <a:t> (berenjena)</a:t>
            </a:r>
          </a:p>
          <a:p>
            <a:endParaRPr lang="es-MX" sz="1600" dirty="0"/>
          </a:p>
          <a:p>
            <a:r>
              <a:rPr lang="es-MX" sz="1600" dirty="0"/>
              <a:t>Aquí puedes descargar las secuencias de un mismo gen de todas las especies y construir un árbol que muestre sus relaciones evolutivas.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D0A3B-CC8F-6819-F126-BB1D50E85E8F}"/>
              </a:ext>
            </a:extLst>
          </p:cNvPr>
          <p:cNvSpPr txBox="1"/>
          <p:nvPr/>
        </p:nvSpPr>
        <p:spPr>
          <a:xfrm>
            <a:off x="628357" y="3306491"/>
            <a:ext cx="11141612" cy="329320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r>
              <a:rPr lang="es-ES" sz="1600" b="1" dirty="0"/>
              <a:t>🦠 Si tu interés son microorganismos de alimentos</a:t>
            </a:r>
          </a:p>
          <a:p>
            <a:r>
              <a:rPr lang="es-ES" sz="1600" dirty="0"/>
              <a:t>También puedes hacer filogenias de bacterias relacionadas con </a:t>
            </a:r>
            <a:r>
              <a:rPr lang="es-ES" sz="1600" dirty="0" err="1"/>
              <a:t>agroalimentos</a:t>
            </a:r>
            <a:r>
              <a:rPr lang="es-ES" sz="1600" dirty="0"/>
              <a:t>. Por ejemplo:</a:t>
            </a:r>
          </a:p>
          <a:p>
            <a:endParaRPr lang="es-E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s-ES" sz="1600" i="1" dirty="0"/>
              <a:t>Lactobacillus/</a:t>
            </a:r>
            <a:r>
              <a:rPr lang="es-ES" sz="1600" i="1" dirty="0" err="1"/>
              <a:t>Lactiplantibacillus</a:t>
            </a:r>
            <a:r>
              <a:rPr lang="es-ES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i="1" dirty="0" err="1"/>
              <a:t>Bacillus</a:t>
            </a:r>
            <a:r>
              <a:rPr lang="es-ES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i="1" dirty="0"/>
              <a:t>Salmonella</a:t>
            </a:r>
            <a:r>
              <a:rPr lang="es-ES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i="1" dirty="0" err="1"/>
              <a:t>Escherichia</a:t>
            </a:r>
            <a:r>
              <a:rPr lang="es-ES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i="1" dirty="0"/>
              <a:t>Listeria</a:t>
            </a:r>
            <a:r>
              <a:rPr lang="es-ES" sz="16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dirty="0"/>
              <a:t>microorganismos de fermentación de alimentos </a:t>
            </a:r>
          </a:p>
          <a:p>
            <a:pPr>
              <a:buFont typeface="Arial" panose="020B0604020202020204" pitchFamily="34" charset="0"/>
              <a:buChar char="•"/>
            </a:pPr>
            <a:endParaRPr lang="es-ES" sz="1600" dirty="0"/>
          </a:p>
          <a:p>
            <a:r>
              <a:rPr lang="es-ES" sz="1600" dirty="0"/>
              <a:t>En este caso, </a:t>
            </a:r>
            <a:r>
              <a:rPr lang="es-ES" sz="1600" b="1" dirty="0"/>
              <a:t>16S </a:t>
            </a:r>
            <a:r>
              <a:rPr lang="es-ES" sz="1600" b="1" dirty="0" err="1"/>
              <a:t>rRNA</a:t>
            </a:r>
            <a:r>
              <a:rPr lang="es-ES" sz="1600" dirty="0"/>
              <a:t> es un marcador muy utilizado. Una base como </a:t>
            </a:r>
            <a:r>
              <a:rPr lang="es-ES" sz="1600" b="1" dirty="0"/>
              <a:t>SILVA</a:t>
            </a:r>
            <a:r>
              <a:rPr lang="es-ES" sz="1600" dirty="0"/>
              <a:t> resulta especialmente útil para obtener secuencias ribosomales. MEGA también ha utilizado conjuntos de secuencias de </a:t>
            </a:r>
            <a:r>
              <a:rPr lang="es-ES" sz="1600" b="1" dirty="0"/>
              <a:t>16S </a:t>
            </a:r>
            <a:r>
              <a:rPr lang="es-ES" sz="1600" b="1" dirty="0" err="1"/>
              <a:t>rRNA</a:t>
            </a:r>
            <a:r>
              <a:rPr lang="es-ES" sz="1600" b="1" dirty="0"/>
              <a:t> de SILVA</a:t>
            </a:r>
            <a:r>
              <a:rPr lang="es-ES" sz="1600" dirty="0"/>
              <a:t> como ejemplos para análisis de árboles con miles de secuencias.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5CF1A4-0687-D576-DB55-6B425D150B44}"/>
              </a:ext>
            </a:extLst>
          </p:cNvPr>
          <p:cNvCxnSpPr/>
          <p:nvPr/>
        </p:nvCxnSpPr>
        <p:spPr>
          <a:xfrm>
            <a:off x="297712" y="3253331"/>
            <a:ext cx="116639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245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1379</Words>
  <Application>Microsoft Office PowerPoint</Application>
  <PresentationFormat>Widescreen</PresentationFormat>
  <Paragraphs>150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Roboto</vt:lpstr>
      <vt:lpstr>Raleway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Luis Germán López Valdez</dc:creator>
  <cp:lastModifiedBy>LUIS GERMAN LOPEZ VALDEZ</cp:lastModifiedBy>
  <cp:revision>3</cp:revision>
  <dcterms:created xsi:type="dcterms:W3CDTF">2026-09-03T17:07:52Z</dcterms:created>
  <dcterms:modified xsi:type="dcterms:W3CDTF">2026-09-07T21:35:31Z</dcterms:modified>
</cp:coreProperties>
</file>