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10"/>
  </p:normalViewPr>
  <p:slideViewPr>
    <p:cSldViewPr snapToGrid="0" snapToObjects="1">
      <p:cViewPr>
        <p:scale>
          <a:sx n="97" d="100"/>
          <a:sy n="97" d="100"/>
        </p:scale>
        <p:origin x="63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D62"/>
                </a:solidFill>
                <a:latin typeface="Calibri"/>
              </a:defRPr>
            </a:pPr>
            <a:r>
              <a:rPr lang="es-ES" sz="1200" b="0" i="0" u="none" strike="noStrike">
                <a:solidFill>
                  <a:srgbClr val="0B3D62"/>
                </a:solidFill>
                <a:latin typeface="Calibri"/>
              </a:rPr>
              <a:t>Crecimiento histórico de secuencias en GenBank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Secuencias en GenBank (millones)</c:v>
                </c:pt>
              </c:strCache>
            </c:strRef>
          </c:tx>
          <c:spPr>
            <a:solidFill>
              <a:srgbClr val="14919B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1990</c:v>
                </c:pt>
                <c:pt idx="1">
                  <c:v>1995</c:v>
                </c:pt>
                <c:pt idx="2">
                  <c:v>2000</c:v>
                </c:pt>
                <c:pt idx="3">
                  <c:v>2005</c:v>
                </c:pt>
                <c:pt idx="4">
                  <c:v>2010</c:v>
                </c:pt>
                <c:pt idx="5">
                  <c:v>2015</c:v>
                </c:pt>
                <c:pt idx="6">
                  <c:v>2020</c:v>
                </c:pt>
                <c:pt idx="7">
                  <c:v>2024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0.05</c:v>
                </c:pt>
                <c:pt idx="1">
                  <c:v>0.5</c:v>
                </c:pt>
                <c:pt idx="2">
                  <c:v>8</c:v>
                </c:pt>
                <c:pt idx="3">
                  <c:v>52</c:v>
                </c:pt>
                <c:pt idx="4">
                  <c:v>135</c:v>
                </c:pt>
                <c:pt idx="5">
                  <c:v>190</c:v>
                </c:pt>
                <c:pt idx="6">
                  <c:v>220</c:v>
                </c:pt>
                <c:pt idx="7">
                  <c:v>260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E0-4B4D-81E6-CD264A9CF9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7"/>
                </a:solidFill>
                <a:latin typeface="Calibri"/>
              </a:defRPr>
            </a:pPr>
            <a:endParaRPr lang="es-MX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4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77"/>
                    </a:solidFill>
                    <a:latin typeface="Calibri"/>
                  </a:defRPr>
                </a:pPr>
                <a:r>
                  <a:rPr lang="es-MX" sz="1000" b="0" i="0" u="none" strike="noStrike">
                    <a:solidFill>
                      <a:srgbClr val="5B6B77"/>
                    </a:solidFill>
                    <a:latin typeface="Calibri"/>
                  </a:rPr>
                  <a:t>Millones de secuencias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7"/>
                </a:solidFill>
                <a:latin typeface="Calibri"/>
              </a:defRPr>
            </a:pPr>
            <a:endParaRPr lang="es-MX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20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60736" y="493776"/>
            <a:ext cx="292608" cy="292608"/>
          </a:xfrm>
          <a:prstGeom prst="ellipse">
            <a:avLst/>
          </a:prstGeom>
          <a:solidFill>
            <a:srgbClr val="14919B">
              <a:alpha val="4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1164824" y="1197864"/>
            <a:ext cx="164592" cy="164592"/>
          </a:xfrm>
          <a:prstGeom prst="ellipse">
            <a:avLst/>
          </a:prstGeom>
          <a:solidFill>
            <a:srgbClr val="14919B">
              <a:alpha val="4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0085832" y="1399032"/>
            <a:ext cx="128016" cy="128016"/>
          </a:xfrm>
          <a:prstGeom prst="ellipse">
            <a:avLst/>
          </a:prstGeom>
          <a:solidFill>
            <a:srgbClr val="14919B">
              <a:alpha val="4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12064" y="5632704"/>
            <a:ext cx="256032" cy="256032"/>
          </a:xfrm>
          <a:prstGeom prst="ellipse">
            <a:avLst/>
          </a:prstGeom>
          <a:solidFill>
            <a:srgbClr val="14919B">
              <a:alpha val="4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161288" y="6099048"/>
            <a:ext cx="146304" cy="146304"/>
          </a:xfrm>
          <a:prstGeom prst="ellipse">
            <a:avLst/>
          </a:prstGeom>
          <a:solidFill>
            <a:srgbClr val="14919B">
              <a:alpha val="4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10896" y="5157216"/>
            <a:ext cx="109728" cy="109728"/>
          </a:xfrm>
          <a:prstGeom prst="ellipse">
            <a:avLst/>
          </a:prstGeom>
          <a:solidFill>
            <a:srgbClr val="14919B">
              <a:alpha val="4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11430000" y="5760720"/>
            <a:ext cx="182880" cy="182880"/>
          </a:xfrm>
          <a:prstGeom prst="ellipse">
            <a:avLst/>
          </a:prstGeom>
          <a:solidFill>
            <a:srgbClr val="14919B">
              <a:alpha val="4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0826496" y="6254496"/>
            <a:ext cx="109728" cy="109728"/>
          </a:xfrm>
          <a:prstGeom prst="ellipse">
            <a:avLst/>
          </a:prstGeom>
          <a:solidFill>
            <a:srgbClr val="14919B">
              <a:alpha val="4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10149840" y="1463040"/>
            <a:ext cx="457200" cy="0"/>
          </a:xfrm>
          <a:prstGeom prst="line">
            <a:avLst/>
          </a:prstGeom>
          <a:noFill/>
          <a:ln w="12700">
            <a:solidFill>
              <a:srgbClr val="14919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10607040" y="640080"/>
            <a:ext cx="640080" cy="640080"/>
          </a:xfrm>
          <a:prstGeom prst="line">
            <a:avLst/>
          </a:prstGeom>
          <a:noFill/>
          <a:ln w="12700">
            <a:solidFill>
              <a:srgbClr val="14919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0" descr="ic_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841248"/>
            <a:ext cx="466344" cy="4663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2331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BIOINFORMÁTICA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4672" y="269748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y Evolución de la Bioinformática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822960" y="41605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primeras computadoras aplicadas a la biología hasta la inteligencia artificial y el aprendizaje automático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22960" y="5029200"/>
            <a:ext cx="292608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822960" y="5166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elaborada desde la perspectiva de la Bioinformática aplicada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LOS ORÍGENES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Primeras computadoras y análisis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información biológica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2203704"/>
            <a:ext cx="100584" cy="100584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896112" y="207568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Década de 1950-1960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96112" y="2368296"/>
            <a:ext cx="6355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primeras computadoras digitales comienzan a usarse para tareas científicas, incluido el manejo de datos biológicos incipientes.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3191256"/>
            <a:ext cx="100584" cy="100584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96112" y="3063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Margaret Dayhoff, pionera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96112" y="3355848"/>
            <a:ext cx="6355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Considerada la madre de la bioinformática; utilizó computadoras para comparar secuencias de proteínas y estudiar su evolución.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4178808"/>
            <a:ext cx="100584" cy="100584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96112" y="40507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of Protein Sequence (1965)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6112" y="4343400"/>
            <a:ext cx="6355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compilación sistemática de secuencias proteicas conocidas, organizada y analizada con apoyo computacional.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5166360"/>
            <a:ext cx="100584" cy="100584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96112" y="503834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 un nuevo campo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96112" y="5330952"/>
            <a:ext cx="6355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sientan las bases metodológicas para tratar la información biológica como datos susceptibles de cómputo y comparación.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52360" y="777240"/>
            <a:ext cx="4114800" cy="5394960"/>
          </a:xfrm>
          <a:prstGeom prst="roundRect">
            <a:avLst>
              <a:gd name="adj" fmla="val 2222"/>
            </a:avLst>
          </a:prstGeom>
          <a:solidFill>
            <a:srgbClr val="0B3D6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9281160" y="1234440"/>
            <a:ext cx="868680" cy="86868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8" name="Image 0" descr="ic_compu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3583" y="1416863"/>
            <a:ext cx="503834" cy="50383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726680" y="2331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1965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7818120" y="29718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del Atlas of</a:t>
            </a:r>
            <a:endParaRPr lang="en-US" sz="12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Sequence and Structure</a:t>
            </a:r>
            <a:endParaRPr lang="en-US" sz="12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Margaret Dayhoff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955280" y="4160520"/>
            <a:ext cx="3108960" cy="0"/>
          </a:xfrm>
          <a:prstGeom prst="line">
            <a:avLst/>
          </a:prstGeom>
          <a:noFill/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9"/>
          <p:cNvSpPr/>
          <p:nvPr/>
        </p:nvSpPr>
        <p:spPr>
          <a:xfrm>
            <a:off x="7818120" y="43891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primer puente entre la biología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ciencia computacional.”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Evolución de la Bioinformática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ORGANIZACIÓN DEL CONOCIMIENTO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las bases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datos biológicas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el crecimiento de secuencias disponibles, surge la necesidad de repositorios centralizados, curados y accesibles para toda la comunidad científica.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627632" y="2898648"/>
            <a:ext cx="566928" cy="566928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0" descr="ic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348" y="3006364"/>
            <a:ext cx="351495" cy="3514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6118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402336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GenBank (NCBI)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4572000"/>
            <a:ext cx="22128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pública de secuencias de ADN, referencia mundial en EE. UU.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38144" y="260604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4425696" y="2898648"/>
            <a:ext cx="566928" cy="566928"/>
          </a:xfrm>
          <a:prstGeom prst="ellipse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1" descr="ic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412" y="3006364"/>
            <a:ext cx="351495" cy="35149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38144" y="36118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3575304" y="402336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EMBL Data Library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602736" y="4572000"/>
            <a:ext cx="22128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europeo de secuencias de nucleótidos, hoy parte de EMBL-EBI.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36208" y="260604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7223760" y="2898648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9" name="Image 2" descr="ic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476" y="3006364"/>
            <a:ext cx="351495" cy="35149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36208" y="36118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1986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6373368" y="402336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Swiss-Prot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00800" y="4572000"/>
            <a:ext cx="22128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de proteínas curada manualmente, alta calidad de anotación.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034272" y="260604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10021824" y="2898648"/>
            <a:ext cx="566928" cy="566928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5" name="Image 3" descr="ic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9540" y="3006364"/>
            <a:ext cx="351495" cy="35149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34272" y="36118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1987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9171432" y="4023360"/>
            <a:ext cx="2267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DDBJ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198864" y="4572000"/>
            <a:ext cx="221284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datos de ADN de Japón, completa la tríada de bases internacionales.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Evolución de la Bioinformática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LEYENDO EL CÓDIGO DE LA VIDA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Secuenciación de proteínas y ADN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métodos experimentales para "leer" biomoléculas dieron origen a los primeros datos que la bioinformática tendría que analizar.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0515600" cy="0"/>
          </a:xfrm>
          <a:prstGeom prst="line">
            <a:avLst/>
          </a:prstGeom>
          <a:noFill/>
          <a:ln w="254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055114" y="4078224"/>
            <a:ext cx="164592" cy="164592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908810" y="2240280"/>
            <a:ext cx="457200" cy="45720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8" name="Image 0" descr="ic_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822" y="233629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3010" y="27523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40130" y="30632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Degradación de Edman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48690" y="33558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para secuenciar proteínas aminoácido por aminoácido, desarrollado por Pehr Edman.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37410" y="3931920"/>
            <a:ext cx="0" cy="228600"/>
          </a:xfrm>
          <a:prstGeom prst="line">
            <a:avLst/>
          </a:prstGeom>
          <a:noFill/>
          <a:ln w="12700">
            <a:solidFill>
              <a:srgbClr val="14919B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4684014" y="4078224"/>
            <a:ext cx="164592" cy="164592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4537710" y="4389120"/>
            <a:ext cx="457200" cy="45720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5" name="Image 1" descr="ic_d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22" y="4485132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51910" y="490118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1953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669030" y="52120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ADN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77590" y="55046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y Crick describen la doble hélice, base para entender la codificación genética.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766310" y="4160520"/>
            <a:ext cx="0" cy="228600"/>
          </a:xfrm>
          <a:prstGeom prst="line">
            <a:avLst/>
          </a:prstGeom>
          <a:noFill/>
          <a:ln w="12700">
            <a:solidFill>
              <a:srgbClr val="14919B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7312914" y="4078224"/>
            <a:ext cx="164592" cy="164592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7166610" y="2240280"/>
            <a:ext cx="457200" cy="45720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2" name="Image 2" descr="ic_microsco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2622" y="2336292"/>
            <a:ext cx="265176" cy="26517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80810" y="27523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1977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297930" y="30632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Sanger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06490" y="33558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Frederick Sanger desarrolla la secuenciación de ADN por terminación de cadena.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7395210" y="3931920"/>
            <a:ext cx="0" cy="228600"/>
          </a:xfrm>
          <a:prstGeom prst="line">
            <a:avLst/>
          </a:prstGeom>
          <a:noFill/>
          <a:ln w="12700">
            <a:solidFill>
              <a:srgbClr val="14919B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2"/>
          <p:cNvSpPr/>
          <p:nvPr/>
        </p:nvSpPr>
        <p:spPr>
          <a:xfrm>
            <a:off x="9941814" y="4078224"/>
            <a:ext cx="164592" cy="164592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3"/>
          <p:cNvSpPr/>
          <p:nvPr/>
        </p:nvSpPr>
        <p:spPr>
          <a:xfrm>
            <a:off x="9795510" y="4389120"/>
            <a:ext cx="457200" cy="45720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9" name="Image 3" descr="ic_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1522" y="4485132"/>
            <a:ext cx="265176" cy="26517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09710" y="490118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1977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8926830" y="52120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Maxam-Gilbert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8835390" y="55046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alternativa de secuenciación química de ADN, usada en paralelo al método Sanger.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10024110" y="4160520"/>
            <a:ext cx="0" cy="228600"/>
          </a:xfrm>
          <a:prstGeom prst="line">
            <a:avLst/>
          </a:prstGeom>
          <a:noFill/>
          <a:ln w="12700">
            <a:solidFill>
              <a:srgbClr val="14919B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Evolución de la Bioinformática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ESCALANDO LA LECTURA DEL GENOMA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de la secuenciación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masiva (NGS)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los años 2000, las tecnologías de "Next-Generation Sequencing" permitieron secuenciar millones de fragmentos de ADN en paralelo, reduciendo drásticamente el costo y el tiempo.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3474720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86968" y="33375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 — Roche 454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6968" y="357530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plataforma NGS comercial, basada en pirosecuenciación.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4096512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86968" y="395935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— Illumina/Solexa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86968" y="419709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Secuenciación por síntesis; se convierte en el estándar de la industria.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4718304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886968" y="45811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— Ion Torrent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86968" y="481888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cambios de pH para secuenciar sin marcado óptico.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5340096"/>
            <a:ext cx="91440" cy="9144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86968" y="520293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— Secuenciación de tercera generación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86968" y="54406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PacBio y Oxford Nanopore permiten lecturas largas en tiempo real.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86600" y="777240"/>
            <a:ext cx="4480560" cy="5394960"/>
          </a:xfrm>
          <a:prstGeom prst="roundRect">
            <a:avLst>
              <a:gd name="adj" fmla="val 2041"/>
            </a:avLst>
          </a:prstGeom>
          <a:solidFill>
            <a:srgbClr val="0B3D6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8915400" y="1188720"/>
            <a:ext cx="822960" cy="82296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9" name="Image 0" descr="ic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8222" y="1361542"/>
            <a:ext cx="477317" cy="47731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15200" y="22402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~99.99%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7360920" y="29260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costo de secuenciar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genoma humano completo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el año 2001 y la actualidad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498080" y="3977640"/>
            <a:ext cx="3657600" cy="0"/>
          </a:xfrm>
          <a:prstGeom prst="line">
            <a:avLst/>
          </a:prstGeom>
          <a:noFill/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7360920" y="41605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pasó de más de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 millones de USD (2001) a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$600 USD por genoma hoy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360920" y="5486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7E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National Human Genome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7E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Institute (NHGRI)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Evolución de la Bioinformática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UN HITO COLABORATIVO GLOBAL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Genoma Humano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 los mayores esfuerzos científicos colaborativos de la historia, y motor del desarrollo acelerado de la bioinformática moderna.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640080" y="2276856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935224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oficial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proyecto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50592" y="21488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450592" y="2276856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42032" y="2935224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 de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completa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61104" y="21488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261104" y="2276856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352544" y="2935224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Instituciones y países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71616" y="2148840"/>
            <a:ext cx="162763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071616" y="2276856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mil 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63056" y="2935224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de bases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secuenciados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Legado para la bioinformática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" y="4297680"/>
            <a:ext cx="91440" cy="9144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86968" y="413308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Impulsó el desarrollo de algoritmos de ensamblaje y alineamiento de secuencias a gran escala.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4864608"/>
            <a:ext cx="91440" cy="9144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886968" y="470001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Generó estándares para el almacenamiento, anotación y distribución de datos genómicos.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" y="5431536"/>
            <a:ext cx="91440" cy="9144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886968" y="526694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Consolidó la bioinformática como disciplina esencial e independiente dentro de las ciencias biológicas.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01000" y="214884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0B3D6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9464040" y="2697480"/>
            <a:ext cx="1051560" cy="105156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6" name="Image 0" descr="ic_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868" y="2918308"/>
            <a:ext cx="609905" cy="609905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229600" y="40233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“Leer el libro completo</a:t>
            </a:r>
            <a:endParaRPr lang="en-US" sz="15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instrucciones de</a:t>
            </a:r>
            <a:endParaRPr lang="en-US" sz="15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vida humana.”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366760" y="5166360"/>
            <a:ext cx="2834640" cy="0"/>
          </a:xfrm>
          <a:prstGeom prst="line">
            <a:avLst/>
          </a:prstGeom>
          <a:noFill/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6"/>
          <p:cNvSpPr/>
          <p:nvPr/>
        </p:nvSpPr>
        <p:spPr>
          <a:xfrm>
            <a:off x="8229600" y="53492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Human Genome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Consortium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Evolución de la Bioinformática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LA ERA DEL "BIG DATA" BIOLÓGICO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Explosión de datos biológicos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abaratamiento de la secuenciación provocó un crecimiento exponencial en el volumen de datos genómicos disponibles públicamente.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286000"/>
          <a:ext cx="68580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3093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E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NCBI GenBank — estadísticas de crecimiento (valores aproximados por período)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772400" y="2286000"/>
            <a:ext cx="3794760" cy="1417320"/>
          </a:xfrm>
          <a:prstGeom prst="roundRect">
            <a:avLst>
              <a:gd name="adj" fmla="val 5161"/>
            </a:avLst>
          </a:prstGeom>
          <a:solidFill>
            <a:srgbClr val="0B3D6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7973568" y="2487168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9" name="Image 0" descr="ic_mag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181" y="2592781"/>
            <a:ext cx="291694" cy="2916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13648" y="24505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Petabytes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613648" y="276148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 genómicos, proteómicos y clínicos generados cada año en todo el mundo.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772400" y="3886200"/>
            <a:ext cx="3794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9"/>
          <p:cNvSpPr/>
          <p:nvPr/>
        </p:nvSpPr>
        <p:spPr>
          <a:xfrm>
            <a:off x="7973568" y="4087368"/>
            <a:ext cx="502920" cy="50292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4" name="Image 1" descr="ic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9181" y="4192981"/>
            <a:ext cx="291694" cy="2916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13648" y="40507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Multi-ómicas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613648" y="4361688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genómica, transcriptómica, proteómica y metabolómica convergen en enormes volúmenes de datos.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772400" y="5486400"/>
            <a:ext cx="3794760" cy="685800"/>
          </a:xfrm>
          <a:prstGeom prst="roundRect">
            <a:avLst>
              <a:gd name="adj" fmla="val 10667"/>
            </a:avLst>
          </a:prstGeom>
          <a:solidFill>
            <a:srgbClr val="EDF2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3"/>
          <p:cNvSpPr/>
          <p:nvPr/>
        </p:nvSpPr>
        <p:spPr>
          <a:xfrm>
            <a:off x="7936992" y="5577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central: almacenar, integrar y analizar datos a gran escala de forma eficiente.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Evolución de la Bioinformática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CONSOLIDACIÓN DE LA DISCIPLINA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Bioinformática moderna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disciplina se transforma en un campo integrador, con herramientas robustas, infraestructura en la nube y enfoques multidisciplinarios.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63500" dist="25400" dir="5400000" algn="bl" rotWithShape="0">
              <a:srgbClr val="1B2A38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841248" y="2487168"/>
            <a:ext cx="457200" cy="45720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0" descr="ic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2574036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06324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multi-ómica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41248" y="3401568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de datos genómicos, transcriptómicos, proteómicos y metabolómicos para una visión sistémica.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97680" y="228600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63500" dist="25400" dir="5400000" algn="bl" rotWithShape="0">
              <a:srgbClr val="1B2A38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4498848" y="2487168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2" name="Image 1" descr="ic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716" y="2574036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98848" y="306324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Computación en la nube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498848" y="3401568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escalables (AWS, Google Cloud, Galaxy) que permiten análisis masivos sin infraestructura propia.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955280" y="228600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63500" dist="25400" dir="5400000" algn="bl" rotWithShape="0">
              <a:srgbClr val="1B2A38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8156448" y="248716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7" name="Image 2" descr="ic_nod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316" y="2574036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56448" y="3063240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Biología de sistemas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156448" y="3401568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redes biológicas complejas: interacción génica, metabólica y de señalización.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40080" y="4270248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63500" dist="25400" dir="5400000" algn="bl" rotWithShape="0">
              <a:srgbClr val="1B2A38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6"/>
          <p:cNvSpPr/>
          <p:nvPr/>
        </p:nvSpPr>
        <p:spPr>
          <a:xfrm>
            <a:off x="841248" y="4471416"/>
            <a:ext cx="457200" cy="45720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2" name="Image 3" descr="ic_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" y="4558284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" y="5047488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abierta y colaborativa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41248" y="5385816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y estándares compartidos globalmente que aceleran el descubrimiento científico.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297680" y="4270248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63500" dist="25400" dir="5400000" algn="bl" rotWithShape="0">
              <a:srgbClr val="1B2A38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0"/>
          <p:cNvSpPr/>
          <p:nvPr/>
        </p:nvSpPr>
        <p:spPr>
          <a:xfrm>
            <a:off x="4498848" y="4471416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7" name="Image 4" descr="ic_microscop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5716" y="4558284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98848" y="5047488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 de precisión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498848" y="5385816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clínica de datos genómicos individuales para diagnóstico y tratamientos personalizados.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955280" y="4270248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63500" dist="25400" dir="5400000" algn="bl" rotWithShape="0">
              <a:srgbClr val="1B2A38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4"/>
          <p:cNvSpPr/>
          <p:nvPr/>
        </p:nvSpPr>
        <p:spPr>
          <a:xfrm>
            <a:off x="8156448" y="447141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32" name="Image 5" descr="ic_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316" y="4558284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156448" y="5047488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especializadas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156448" y="5385816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BLAST, Bioconductor, Galaxy, UCSC Genome Browser y decenas de plataformas de análisis.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Evolución de la Bioinformática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EL PRESENTE Y EL FUTURO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 de la inteligencia artificial</a:t>
            </a:r>
            <a:endParaRPr lang="en-US" sz="28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el aprendizaje automático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aprendizaje profundo revoluciona la forma en que se predicen estructuras, se interpretan genomas y se descubren fármacos.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779776"/>
            <a:ext cx="100584" cy="100584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96112" y="265176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(2020-2021)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926080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resuelve el problema de predicción de estructura de proteínas con precisión casi experimental.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3584448"/>
            <a:ext cx="100584" cy="100584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96112" y="345643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lenguaje biológico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3730752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entrenadas en secuencias de ADN y proteínas (ESM, DNABERT) para tareas de anotación y diseño.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4389120"/>
            <a:ext cx="100584" cy="100584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896112" y="4261104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fármacos con 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4535424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generativos aceleran el descubrimiento y optimización de nuevas moléculas terapéuticas.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5193792"/>
            <a:ext cx="100584" cy="100584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96112" y="5065776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 genómica predictiva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5340096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aprendizaje automático estiman riesgo de enfermedades a partir de perfiles genómicos.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40880" y="777240"/>
            <a:ext cx="4572000" cy="5394960"/>
          </a:xfrm>
          <a:prstGeom prst="roundRect">
            <a:avLst>
              <a:gd name="adj" fmla="val 2000"/>
            </a:avLst>
          </a:prstGeom>
          <a:solidFill>
            <a:srgbClr val="0F4A7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8961120" y="1234440"/>
            <a:ext cx="868680" cy="86868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9" name="Image 0" descr="ic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543" y="1416863"/>
            <a:ext cx="503834" cy="50383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15200" y="2286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de AlphaFold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15200" y="260604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4600" dirty="0"/>
          </a:p>
        </p:txBody>
      </p:sp>
      <p:sp>
        <p:nvSpPr>
          <p:cNvPr id="22" name="Text 19"/>
          <p:cNvSpPr/>
          <p:nvPr/>
        </p:nvSpPr>
        <p:spPr>
          <a:xfrm>
            <a:off x="7452360" y="3383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predicciones alcanzan una precisión comparable a métodos experimentales (cristalografía de rayos X)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452360" y="4343400"/>
            <a:ext cx="3749040" cy="0"/>
          </a:xfrm>
          <a:prstGeom prst="line">
            <a:avLst/>
          </a:prstGeom>
          <a:noFill/>
          <a:ln w="1270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1"/>
          <p:cNvSpPr/>
          <p:nvPr/>
        </p:nvSpPr>
        <p:spPr>
          <a:xfrm>
            <a:off x="7452360" y="45262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 IA no reemplaza al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bioinformático: multiplica su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descubrimiento.”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Evolución de la Bioinformática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91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de tiempo de la bioinformática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3749040"/>
            <a:ext cx="10698480" cy="0"/>
          </a:xfrm>
          <a:prstGeom prst="line">
            <a:avLst/>
          </a:prstGeom>
          <a:noFill/>
          <a:ln w="31750">
            <a:solidFill>
              <a:srgbClr val="14919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404257" y="3657600"/>
            <a:ext cx="182880" cy="182880"/>
          </a:xfrm>
          <a:prstGeom prst="ellipse">
            <a:avLst/>
          </a:prstGeom>
          <a:solidFill>
            <a:srgbClr val="E4572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09897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7017" y="32461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de proteínas de Dayhoff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95697" y="3703320"/>
            <a:ext cx="0" cy="0"/>
          </a:xfrm>
          <a:prstGeom prst="line">
            <a:avLst/>
          </a:prstGeom>
          <a:noFill/>
          <a:ln w="12700">
            <a:solidFill>
              <a:srgbClr val="14919B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2932611" y="3657600"/>
            <a:ext cx="182880" cy="182880"/>
          </a:xfrm>
          <a:prstGeom prst="ellipse">
            <a:avLst/>
          </a:prstGeom>
          <a:solidFill>
            <a:srgbClr val="E4572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338251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1977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155371" y="43434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Secuenciación de ADN (Sanger)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24051" y="3794760"/>
            <a:ext cx="0" cy="137160"/>
          </a:xfrm>
          <a:prstGeom prst="line">
            <a:avLst/>
          </a:prstGeom>
          <a:noFill/>
          <a:ln w="12700">
            <a:solidFill>
              <a:srgbClr val="14919B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4460966" y="3657600"/>
            <a:ext cx="182880" cy="182880"/>
          </a:xfrm>
          <a:prstGeom prst="ellipse">
            <a:avLst/>
          </a:prstGeom>
          <a:solidFill>
            <a:srgbClr val="E4572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866606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83726" y="32461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GenBank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52406" y="3703320"/>
            <a:ext cx="0" cy="0"/>
          </a:xfrm>
          <a:prstGeom prst="line">
            <a:avLst/>
          </a:prstGeom>
          <a:noFill/>
          <a:ln w="12700">
            <a:solidFill>
              <a:srgbClr val="14919B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5989320" y="3657600"/>
            <a:ext cx="182880" cy="182880"/>
          </a:xfrm>
          <a:prstGeom prst="ellipse">
            <a:avLst/>
          </a:prstGeom>
          <a:solidFill>
            <a:srgbClr val="E4572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39496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12080" y="43434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del Proyecto Genoma Humano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3794760"/>
            <a:ext cx="0" cy="137160"/>
          </a:xfrm>
          <a:prstGeom prst="line">
            <a:avLst/>
          </a:prstGeom>
          <a:noFill/>
          <a:ln w="12700">
            <a:solidFill>
              <a:srgbClr val="14919B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7517674" y="3657600"/>
            <a:ext cx="182880" cy="182880"/>
          </a:xfrm>
          <a:prstGeom prst="ellipse">
            <a:avLst/>
          </a:prstGeom>
          <a:solidFill>
            <a:srgbClr val="E4572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923314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740434" y="32461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Genoma humano completo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09114" y="3703320"/>
            <a:ext cx="0" cy="0"/>
          </a:xfrm>
          <a:prstGeom prst="line">
            <a:avLst/>
          </a:prstGeom>
          <a:noFill/>
          <a:ln w="12700">
            <a:solidFill>
              <a:srgbClr val="14919B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9046029" y="3657600"/>
            <a:ext cx="182880" cy="182880"/>
          </a:xfrm>
          <a:prstGeom prst="ellipse">
            <a:avLst/>
          </a:prstGeom>
          <a:solidFill>
            <a:srgbClr val="E4572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8451669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268789" y="43434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Secuenciación masiva (NGS)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37469" y="3794760"/>
            <a:ext cx="0" cy="137160"/>
          </a:xfrm>
          <a:prstGeom prst="line">
            <a:avLst/>
          </a:prstGeom>
          <a:noFill/>
          <a:ln w="12700">
            <a:solidFill>
              <a:srgbClr val="14919B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10574383" y="3657600"/>
            <a:ext cx="182880" cy="182880"/>
          </a:xfrm>
          <a:prstGeom prst="ellipse">
            <a:avLst/>
          </a:prstGeom>
          <a:solidFill>
            <a:srgbClr val="E4572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9980023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797143" y="32461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9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e IA aplicada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665823" y="3703320"/>
            <a:ext cx="0" cy="0"/>
          </a:xfrm>
          <a:prstGeom prst="line">
            <a:avLst/>
          </a:prstGeom>
          <a:noFill/>
          <a:ln w="12700">
            <a:solidFill>
              <a:srgbClr val="14919B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B3D6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menos de 70 años, la bioinformática pasó de comparar unas cuantas secuencias de proteínas a entrenar modelos de inteligencia artificial capaces de predecir la estructura de la vida.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Evolución de la Bioinformática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9024" y="694944"/>
            <a:ext cx="256032" cy="256032"/>
          </a:xfrm>
          <a:prstGeom prst="ellipse">
            <a:avLst/>
          </a:prstGeom>
          <a:solidFill>
            <a:srgbClr val="14919B">
              <a:alpha val="4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1173968" y="1298448"/>
            <a:ext cx="146304" cy="146304"/>
          </a:xfrm>
          <a:prstGeom prst="ellipse">
            <a:avLst/>
          </a:prstGeom>
          <a:solidFill>
            <a:srgbClr val="14919B">
              <a:alpha val="4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30352" y="5559552"/>
            <a:ext cx="219456" cy="219456"/>
          </a:xfrm>
          <a:prstGeom prst="ellipse">
            <a:avLst/>
          </a:prstGeom>
          <a:solidFill>
            <a:srgbClr val="14919B">
              <a:alpha val="4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124712" y="6062472"/>
            <a:ext cx="128016" cy="128016"/>
          </a:xfrm>
          <a:prstGeom prst="ellipse">
            <a:avLst/>
          </a:prstGeom>
          <a:solidFill>
            <a:srgbClr val="14919B">
              <a:alpha val="4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637276" y="1280160"/>
            <a:ext cx="914400" cy="91440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0" descr="ic_d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1472184"/>
            <a:ext cx="530352" cy="5303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disciplina en constante evolución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828800" y="324612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tarjetas perforadas a las redes neuronales: la bioinformática seguirá transformándose junto con la biología y la tecnología.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31436" y="4160520"/>
            <a:ext cx="2926080" cy="0"/>
          </a:xfrm>
          <a:prstGeom prst="line">
            <a:avLst/>
          </a:prstGeom>
          <a:noFill/>
          <a:ln w="31750">
            <a:solidFill>
              <a:srgbClr val="E4572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atención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y Evolución de la Bioinformática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1666</TotalTime>
  <Words>1215</Words>
  <Application>Microsoft Office PowerPoint</Application>
  <PresentationFormat>Widescreen</PresentationFormat>
  <Paragraphs>192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LUIS GERMAN LOPEZ VALDEZ</cp:lastModifiedBy>
  <cp:revision>1</cp:revision>
  <dcterms:created xsi:type="dcterms:W3CDTF">2026-08-15T20:14:34Z</dcterms:created>
  <dcterms:modified xsi:type="dcterms:W3CDTF">2026-08-17T01:05:07Z</dcterms:modified>
</cp:coreProperties>
</file>