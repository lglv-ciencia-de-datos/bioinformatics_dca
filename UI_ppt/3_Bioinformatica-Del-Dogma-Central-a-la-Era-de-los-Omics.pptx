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00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Bioinformática: Del Dogma Central a la Era de los Omics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recorrido desde los fundamentos del dogma central de la biología molecular hasta las aplicaciones modernas de la genómica, transcriptómica, proteómica y metabolómica.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50478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Dogma Central de la Biología Molecular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661475" y="2007096"/>
            <a:ext cx="629686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Propuesto por Francis Crick en 1957, el dogma central describe el flujo de información genética. La investigación moderna ha demostrado que este flujo es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multidireccional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mucho más complejo de lo que se pensaba originalmente.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017838"/>
            <a:ext cx="886001" cy="10632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13564" y="3195042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DNA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1713564" y="3571577"/>
            <a:ext cx="52447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Contiene la información genética heredada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81066"/>
            <a:ext cx="886001" cy="10632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13565" y="4283860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RNA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1713564" y="4634805"/>
            <a:ext cx="52447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Transcribe y transporta la información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144294"/>
            <a:ext cx="886001" cy="10632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13564" y="5321498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Proteína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1713564" y="5698034"/>
            <a:ext cx="52447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 las funciones celulares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FBD557-87EE-C248-77E6-D3E02BDFDC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47" y="446649"/>
            <a:ext cx="3832564" cy="59647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62C374-89FD-35CC-688F-A48199C684AC}"/>
              </a:ext>
            </a:extLst>
          </p:cNvPr>
          <p:cNvSpPr txBox="1"/>
          <p:nvPr/>
        </p:nvSpPr>
        <p:spPr>
          <a:xfrm>
            <a:off x="3048000" y="642919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1" dirty="0"/>
              <a:t>Ann Allergy Asthma Immunol 123 (2019) 558-563</a:t>
            </a:r>
            <a:endParaRPr lang="es-MX" sz="1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26" y="39013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Conceptos Clave: Los Cuatro Omics Fundamentales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7244" y="1379438"/>
            <a:ext cx="3579227" cy="10460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94172" y="1540173"/>
            <a:ext cx="31815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Genoma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194172" y="1867892"/>
            <a:ext cx="31815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completo de DNA; contiene toda la información genética heredada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7244" y="2531765"/>
            <a:ext cx="3579227" cy="12445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94172" y="2692499"/>
            <a:ext cx="31815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Transcriptoma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8194172" y="3020219"/>
            <a:ext cx="318156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RNA (mRNA, miRNA, lncRNA) expresados en una célula en un momento específico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7244" y="3882529"/>
            <a:ext cx="3579227" cy="10460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94172" y="4043263"/>
            <a:ext cx="31815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Proteoma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194172" y="4370983"/>
            <a:ext cx="31815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completo de proteínas expresadas; incluye modificaciones post-traduccionales (PTM)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7244" y="5034855"/>
            <a:ext cx="3579227" cy="10460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94172" y="5195590"/>
            <a:ext cx="31815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Metaboloma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194172" y="5523309"/>
            <a:ext cx="31815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metabolitos (moléculas pequeñas) presentes en una célula, tejido u organismo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4BB293-DBAF-82EA-E5B2-AF76516456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386" y="1184724"/>
            <a:ext cx="5983125" cy="50158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2A6BAE-06E1-76CD-265F-6DD7D27CBEA9}"/>
              </a:ext>
            </a:extLst>
          </p:cNvPr>
          <p:cNvSpPr txBox="1"/>
          <p:nvPr/>
        </p:nvSpPr>
        <p:spPr>
          <a:xfrm>
            <a:off x="2893255" y="636873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Genomes, proteomes, and the central dogma. Circ Cardiovasc Genet. 2011 Oct; 4(5):576.</a:t>
            </a:r>
            <a:endParaRPr lang="es-MX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24458"/>
            <a:ext cx="581435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Genoma y Transcriptoma: Variantes y Expresión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4" y="904397"/>
            <a:ext cx="6973911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Genoma: Variantes Genéticas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70744" y="5616190"/>
            <a:ext cx="6831916" cy="748109"/>
          </a:xfrm>
          <a:prstGeom prst="rect">
            <a:avLst/>
          </a:prstGeom>
          <a:noFill/>
          <a:ln/>
        </p:spPr>
        <p:txBody>
          <a:bodyPr wrap="square" lIns="0" tIns="42529" rIns="0" bIns="0" rtlCol="0" anchor="t">
            <a:noAutofit/>
          </a:bodyPr>
          <a:lstStyle/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SNP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(Single Nucleotide Polymorphism): Variación de un único nucleótido; ~20 millones por individuo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CNV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(Copy Number Variation): Variación en el número de copias de segmentos de DNA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Indels: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Inserciones o deleciones de nucleótidos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GWAS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(Genome-Wide Association Study): Identifica variantes asociadas con enfermedades complejas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NGS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(Next Generation Sequencing): Secuenciación masiva paralela; genoma completo en horas por menos de $1,000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026149" y="327510"/>
            <a:ext cx="3635482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Transcriptoma: Expresión Génica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296444" y="4936953"/>
            <a:ext cx="3635482" cy="1412875"/>
          </a:xfrm>
          <a:prstGeom prst="rect">
            <a:avLst/>
          </a:prstGeom>
          <a:noFill/>
          <a:ln/>
        </p:spPr>
        <p:txBody>
          <a:bodyPr wrap="square" lIns="0" tIns="42529" rIns="0" bIns="0" rtlCol="0" anchor="t">
            <a:noAutofit/>
          </a:bodyPr>
          <a:lstStyle/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mRNA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(messenger RNA): Codifica proteínas; transporta información del DNA al ribosoma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miRNA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(microRNA): RNA pequeño que regula la expresión génica post-transcripcional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lncRNA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(long non-coding RNA): RNA largo con funciones regulatorias sin codificar proteínas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Splicing alternativo: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Combinación de exones para producir múltiples proteínas de un solo gen</a:t>
            </a:r>
            <a:endParaRPr lang="en-US" sz="10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RNA-seq: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Secuenciación de RNA para cuantificar expresión génica a nivel genómico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E6B581-E08D-55F1-B8B7-00D7B31E3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84" y="1139419"/>
            <a:ext cx="4458996" cy="44079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CFFC27-E7D2-5761-359D-56100C5948E7}"/>
              </a:ext>
            </a:extLst>
          </p:cNvPr>
          <p:cNvSpPr txBox="1"/>
          <p:nvPr/>
        </p:nvSpPr>
        <p:spPr>
          <a:xfrm>
            <a:off x="4278259" y="6558457"/>
            <a:ext cx="3635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/>
              <a:t>Briefings in </a:t>
            </a:r>
            <a:r>
              <a:rPr lang="es-MX" sz="1200" b="1" dirty="0" err="1"/>
              <a:t>Bioinformatics</a:t>
            </a:r>
            <a:r>
              <a:rPr lang="es-MX" sz="1200" b="1" dirty="0"/>
              <a:t>, 19(2), 2018, 286–302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BEC392-70D8-2366-AD54-76A270892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60" y="542460"/>
            <a:ext cx="3094893" cy="42269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0C8E6A-DB40-9969-10F6-22157333A6F8}"/>
              </a:ext>
            </a:extLst>
          </p:cNvPr>
          <p:cNvSpPr txBox="1"/>
          <p:nvPr/>
        </p:nvSpPr>
        <p:spPr>
          <a:xfrm>
            <a:off x="10412738" y="2641879"/>
            <a:ext cx="1611779" cy="1322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MX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Resumen de varias características relacionadas con la generación y análisis de datos mediante </a:t>
            </a:r>
            <a:r>
              <a:rPr lang="es-MX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microarrays</a:t>
            </a:r>
            <a:r>
              <a:rPr lang="es-MX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ARN o secuenciación de ARN.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B025D0-E61D-C4C4-9AFF-78545FEEB2EC}"/>
              </a:ext>
            </a:extLst>
          </p:cNvPr>
          <p:cNvSpPr txBox="1"/>
          <p:nvPr/>
        </p:nvSpPr>
        <p:spPr>
          <a:xfrm>
            <a:off x="5099539" y="2998113"/>
            <a:ext cx="17865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00" dirty="0"/>
              <a:t>Resumen de los tipos de variantes en el genoma, sus posibles consecuencias y los métodos/técnicas para analizarlas.</a:t>
            </a:r>
            <a:endParaRPr lang="es-MX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26" y="234105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Proteoma: Las Moléculas Funcionales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7971333" y="2510234"/>
            <a:ext cx="3565138" cy="108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proteoma es más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dinámico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el genoma: una célula puede expresar miles de proteínas distintas según el contexto biológico. Las proteínas funcionan como módulos interconectados, no como moléculas aisladas.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5212913"/>
            <a:ext cx="3542914" cy="1270695"/>
          </a:xfrm>
          <a:prstGeom prst="roundRect">
            <a:avLst>
              <a:gd name="adj" fmla="val 49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18435" y="5369877"/>
            <a:ext cx="32289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PTM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8435" y="5677157"/>
            <a:ext cx="322899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Post-Translational Modification: fosforilación, ubiquitinación y otras modificaciones químicas tras la síntesis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4341" y="5212913"/>
            <a:ext cx="3542914" cy="1270695"/>
          </a:xfrm>
          <a:prstGeom prst="roundRect">
            <a:avLst>
              <a:gd name="adj" fmla="val 49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4481301" y="5369877"/>
            <a:ext cx="32289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81301" y="5677157"/>
            <a:ext cx="322899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Espectrometría de Masas: técnica analítica para identificar y cuantificar proteínas y sus modificaciones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87207" y="5212913"/>
            <a:ext cx="3543013" cy="1270695"/>
          </a:xfrm>
          <a:prstGeom prst="roundRect">
            <a:avLst>
              <a:gd name="adj" fmla="val 49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144167" y="5369877"/>
            <a:ext cx="32290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SRM/MRM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44167" y="5677157"/>
            <a:ext cx="322909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Selected/Multiple Reaction Monitoring: método de MS dirigida para cuantificar proteínas específicas con alta precisión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85E317-1884-344A-7B10-ACEE1B48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73" y="704700"/>
            <a:ext cx="5751432" cy="38306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0AA0E-ED34-26D4-8084-7C3077124A78}"/>
              </a:ext>
            </a:extLst>
          </p:cNvPr>
          <p:cNvSpPr txBox="1"/>
          <p:nvPr/>
        </p:nvSpPr>
        <p:spPr>
          <a:xfrm>
            <a:off x="4278259" y="6558457"/>
            <a:ext cx="3635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/>
              <a:t>Briefings in </a:t>
            </a:r>
            <a:r>
              <a:rPr lang="es-MX" sz="1200" b="1" dirty="0" err="1"/>
              <a:t>Bioinformatics</a:t>
            </a:r>
            <a:r>
              <a:rPr lang="es-MX" sz="1200" b="1" dirty="0"/>
              <a:t>, 19(2), 2018, 286–302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567859-E945-DEA6-850E-229BB09E9B9D}"/>
              </a:ext>
            </a:extLst>
          </p:cNvPr>
          <p:cNvSpPr txBox="1"/>
          <p:nvPr/>
        </p:nvSpPr>
        <p:spPr>
          <a:xfrm>
            <a:off x="595532" y="4464069"/>
            <a:ext cx="7114762" cy="61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MX" sz="1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Resumen de las características estructurales de proteínas y métodos para generar y analizar datos proteómicos. La estructura cristalina de la cavidad de hemo de la hemoglobina de </a:t>
            </a:r>
            <a:r>
              <a:rPr lang="es-MX" sz="1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Pseudoalteromonas</a:t>
            </a:r>
            <a:r>
              <a:rPr lang="es-MX" sz="1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haloplanktis</a:t>
            </a:r>
            <a:r>
              <a:rPr lang="es-MX" sz="1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(4UUR [75]) fue descargada del PDB y visualizada con </a:t>
            </a:r>
            <a:r>
              <a:rPr lang="es-MX" sz="1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RasMol</a:t>
            </a:r>
            <a:r>
              <a:rPr lang="es-MX" sz="1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(http://www.openrasmol.org/Copyright.html#Copying).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4519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Metaboloma: Las Moléculas Pequeñas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978223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metabolitos son el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inicio y el final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flujo de información biológica. Pueden ser generados por la dieta, el microbioma o el metabolismo endógeno.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34370"/>
            <a:ext cx="450343" cy="4503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8308" y="2734370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Metaboloma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898308" y="3118842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de todos los metabolitos: aminoácidos, lípidos, carbohidratos y nucleótidos presentes en un sistema biológico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25205"/>
            <a:ext cx="450343" cy="4503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98308" y="4025205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NMR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898308" y="4409678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Nuclear Magnetic Resonance: técnica espectroscópica para identificar y cuantificar metabolitos de forma no destructiva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316041"/>
            <a:ext cx="450343" cy="4503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98308" y="5316041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TMAO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898308" y="5700514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Trimethylamine N-oxide: metabolito derivado de la dieta o del microbioma; asociado con enfermedades cardiovasculares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934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Conceptos Actualizados: Epigenoma y Microbioma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29616" y="1418134"/>
            <a:ext cx="5474754" cy="4859933"/>
          </a:xfrm>
          <a:prstGeom prst="roundRect">
            <a:avLst>
              <a:gd name="adj" fmla="val 2713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12670" y="1595438"/>
            <a:ext cx="510864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Epigenoma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2670" y="2058789"/>
            <a:ext cx="510864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de todas las modificaciones químicas del DNA y las histonas que alteran la expresión génica </a:t>
            </a: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cambiar la secuencia de DNA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2670" y="3083719"/>
            <a:ext cx="5108646" cy="3132336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Metilación del DNA: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Adición de grupos metilo al citosina; generalmente silencia genes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Modificaciones de histonas: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Cambios en proteínas histonas que afectan la accesibilidad del DNA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Cromatina: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Complejo de DNA e histonas; su estructura regula la expresión génica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epigenoma es </a:t>
            </a: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dinámico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modificado por factores ambientales, dieta y edad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modificaciones epigenéticas pueden ser heredadas (herencia epigenética)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5533" y="1595438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Microbioma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5533" y="2058789"/>
            <a:ext cx="521103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de todos los microorganismos (bacterias, virus, hongos) que habitan en un organismo. El microbioma humano contiene aproximadamente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 billones de microorganismos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5533" y="3083719"/>
            <a:ext cx="5211037" cy="2267049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Síntesis de metabolitos (TMAO, ácidos grasos de cadena corta)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 del sistema inmunológico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Metabolismo de xenobióticos y fármacos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Producción de vitaminas (K, B12)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disbiosis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(alteración del microbioma) se asocia con enfermedades metabólicas, inmunológicas y neurológicas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2B7FEC4-03AE-0806-AA4B-4DE1B9A83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" y="191358"/>
            <a:ext cx="6677102" cy="42038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2481" y="1498666"/>
            <a:ext cx="59179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Multi-Omics: Del Genoma al Fenotipo</a:t>
            </a:r>
            <a:endParaRPr lang="en-US" sz="1600" b="1" dirty="0"/>
          </a:p>
        </p:txBody>
      </p:sp>
      <p:sp>
        <p:nvSpPr>
          <p:cNvPr id="4" name="Text 1"/>
          <p:cNvSpPr/>
          <p:nvPr/>
        </p:nvSpPr>
        <p:spPr>
          <a:xfrm>
            <a:off x="6481763" y="1966856"/>
            <a:ext cx="6219413" cy="36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flujo de información biológica integra múltiples capas moleculares que 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interactúan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dinámicamente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determinar el fenotipo observable.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597820" y="2440848"/>
            <a:ext cx="12700" cy="302706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6" name="Shape 3"/>
          <p:cNvSpPr/>
          <p:nvPr/>
        </p:nvSpPr>
        <p:spPr>
          <a:xfrm>
            <a:off x="9427862" y="2540761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7" name="Shape 4"/>
          <p:cNvSpPr/>
          <p:nvPr/>
        </p:nvSpPr>
        <p:spPr>
          <a:xfrm>
            <a:off x="9568749" y="2511690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8" name="Text 5"/>
          <p:cNvSpPr/>
          <p:nvPr/>
        </p:nvSpPr>
        <p:spPr>
          <a:xfrm>
            <a:off x="7824171" y="2473292"/>
            <a:ext cx="140198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Genoma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76434" y="2614977"/>
            <a:ext cx="234972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Variantes genéticas: SNP, CNV, Indels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91470" y="3013241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11" name="Shape 8"/>
          <p:cNvSpPr/>
          <p:nvPr/>
        </p:nvSpPr>
        <p:spPr>
          <a:xfrm>
            <a:off x="9568749" y="2984170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12" name="Text 9"/>
          <p:cNvSpPr/>
          <p:nvPr/>
        </p:nvSpPr>
        <p:spPr>
          <a:xfrm>
            <a:off x="9982183" y="2945772"/>
            <a:ext cx="105747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Epigenoma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82183" y="3121687"/>
            <a:ext cx="2734477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Metilación del DNA,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modificaciones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histonas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427862" y="3454665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15" name="Shape 12"/>
          <p:cNvSpPr/>
          <p:nvPr/>
        </p:nvSpPr>
        <p:spPr>
          <a:xfrm>
            <a:off x="9568749" y="3425594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16" name="Text 13"/>
          <p:cNvSpPr/>
          <p:nvPr/>
        </p:nvSpPr>
        <p:spPr>
          <a:xfrm>
            <a:off x="8023786" y="3387196"/>
            <a:ext cx="120237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Transcriptoma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51059" y="3528881"/>
            <a:ext cx="217509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Expresión génica, splicing alternativo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591470" y="3896188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19" name="Shape 16"/>
          <p:cNvSpPr/>
          <p:nvPr/>
        </p:nvSpPr>
        <p:spPr>
          <a:xfrm>
            <a:off x="9568749" y="3867117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20" name="Text 17"/>
          <p:cNvSpPr/>
          <p:nvPr/>
        </p:nvSpPr>
        <p:spPr>
          <a:xfrm>
            <a:off x="9982183" y="3828720"/>
            <a:ext cx="152420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Proteoma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982183" y="3976952"/>
            <a:ext cx="2093313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Expresión proteica, PTM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427862" y="4337712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23" name="Shape 20"/>
          <p:cNvSpPr/>
          <p:nvPr/>
        </p:nvSpPr>
        <p:spPr>
          <a:xfrm>
            <a:off x="9568749" y="4308641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24" name="Text 21"/>
          <p:cNvSpPr/>
          <p:nvPr/>
        </p:nvSpPr>
        <p:spPr>
          <a:xfrm>
            <a:off x="7051059" y="4270243"/>
            <a:ext cx="217509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Metaboloma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32096" y="4417880"/>
            <a:ext cx="1494060" cy="14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Perfiles de metabolitos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91470" y="4779235"/>
            <a:ext cx="189007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27" name="Shape 24"/>
          <p:cNvSpPr/>
          <p:nvPr/>
        </p:nvSpPr>
        <p:spPr>
          <a:xfrm>
            <a:off x="9568749" y="4750164"/>
            <a:ext cx="70840" cy="7084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 sz="1000"/>
          </a:p>
        </p:txBody>
      </p:sp>
      <p:sp>
        <p:nvSpPr>
          <p:cNvPr id="28" name="Text 25"/>
          <p:cNvSpPr/>
          <p:nvPr/>
        </p:nvSpPr>
        <p:spPr>
          <a:xfrm>
            <a:off x="9982183" y="4711767"/>
            <a:ext cx="273447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Fenotipo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982183" y="4853451"/>
            <a:ext cx="27775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Características observables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enfermedades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396EC7-3542-C01F-DA52-42BAEA157B28}"/>
              </a:ext>
            </a:extLst>
          </p:cNvPr>
          <p:cNvSpPr txBox="1"/>
          <p:nvPr/>
        </p:nvSpPr>
        <p:spPr>
          <a:xfrm>
            <a:off x="75010" y="4447457"/>
            <a:ext cx="6581378" cy="185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Los sistemas biológicos multi-</a:t>
            </a:r>
            <a:r>
              <a:rPr lang="es-ES" sz="1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ómicos</a:t>
            </a:r>
            <a:r>
              <a:rPr lang="es-ES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desde el genoma, </a:t>
            </a:r>
            <a:r>
              <a:rPr lang="es-ES" sz="1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epigenoma</a:t>
            </a:r>
            <a:r>
              <a:rPr lang="es-ES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transcriptoma, proteoma y </a:t>
            </a:r>
            <a:r>
              <a:rPr lang="es-ES" sz="1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metaboloma</a:t>
            </a:r>
            <a:r>
              <a:rPr lang="es-ES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hasta el </a:t>
            </a:r>
            <a:r>
              <a:rPr lang="es-ES" sz="1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fenoma</a:t>
            </a:r>
            <a:r>
              <a:rPr lang="es-ES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Datos genómicos heterogéneos existen dentro y entre niveles, por ejemplo, polimorfismos de nucleótido simple (SNP), variaciones en el número de copias (CNV), pérdida de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heterocigosidad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(LOH) y reordenamientos genómicos, como translocaciones, a nivel del genoma; metilación del ADN, modificación de histonas, accesibilidad de la cromatina, unión de factores de transcripción (TF) y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microRNA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miRNA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a nivel del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epigenoma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 expresión génica y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splicing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alternativo a nivel del transcriptoma; expresión de proteínas y modificaciones postraduccionales a nivel del proteoma; y perfiles de metabolitos a nivel del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metaboloma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Las flechas indican el flujo de información genética desde el nivel del genoma hasta el del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metaboloma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y, finalmente, hasta el </a:t>
            </a:r>
            <a:r>
              <a:rPr lang="es-ES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fenoma</a:t>
            </a:r>
            <a:r>
              <a:rPr lang="es-ES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Las cruces rojas indican inactivación de la transcripción o traducción. LCR, líquido cefalorraquídeo; Me, metilación; sitios de unión de factores de transcripción (TFBS).</a:t>
            </a:r>
            <a:endParaRPr lang="es-MX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671779-47B7-2797-7AEB-5069913A8250}"/>
              </a:ext>
            </a:extLst>
          </p:cNvPr>
          <p:cNvSpPr txBox="1"/>
          <p:nvPr/>
        </p:nvSpPr>
        <p:spPr>
          <a:xfrm>
            <a:off x="75010" y="6353066"/>
            <a:ext cx="6506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Methods of integrating data to uncover genotype–phenotype interactions. </a:t>
            </a:r>
            <a:r>
              <a:rPr lang="en-US" sz="1200" b="1" i="1" dirty="0"/>
              <a:t>Nat Rev Genet</a:t>
            </a:r>
            <a:r>
              <a:rPr lang="en-US" sz="1200" b="1" dirty="0"/>
              <a:t> 16, 85–97 (2015). https://doi.org/10.1038/nrg3868</a:t>
            </a:r>
            <a:endParaRPr lang="es-MX" sz="1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65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Integrado de Datos Multi-Omics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844" y="2271316"/>
            <a:ext cx="5165993" cy="30661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34468" y="4502568"/>
            <a:ext cx="1284168" cy="494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genómicos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16066" y="4626260"/>
            <a:ext cx="1284167" cy="247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Multi-etapas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71275" y="4502568"/>
            <a:ext cx="1284168" cy="494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Meta-dimensional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99411" y="1427460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de Integración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999411" y="1859161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062463" y="1890663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528035" y="1917005"/>
            <a:ext cx="300843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Meta-dimensional analysis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528035" y="2329954"/>
            <a:ext cx="300843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Combinación simultánea de múltiples tipos de datos para crear modelos complejos que predicen fenotipos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99411" y="3393579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8062463" y="3425081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528035" y="3451423"/>
            <a:ext cx="300843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Multi-staged analysis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528035" y="3864372"/>
            <a:ext cx="300843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jerárquico que reduce el espacio de búsqueda a través de diferentes etapas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99411" y="4927997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8062463" y="4959499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8528035" y="4985841"/>
            <a:ext cx="300843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Systems genomics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528035" y="5398790"/>
            <a:ext cx="300843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Enfoque que modela variaciones complejas usando datos de múltiples omics simultáneamente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9877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 de la Integración Multi-Omics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3360" y="1109563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integración de datos de múltiples capas ómicas transforma nuestra capacidad de comprender y predecir la biología de los sistemas complejos.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529755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5363731" y="1660128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6023" y="1762423"/>
            <a:ext cx="167378" cy="167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3731" y="2113558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Interacciones Biológicas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63731" y="2356148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interacciones entre diferentes niveles biológicos que serían invisibles en análisis individuales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732187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5363731" y="2862560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6023" y="2964855"/>
            <a:ext cx="167378" cy="1673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3731" y="3315990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de Falsos Positivos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63731" y="3558580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validación cruzada entre capas ómicas aumenta la robustez estadística y reduce errores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934619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5363731" y="4064992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6023" y="4167287"/>
            <a:ext cx="167378" cy="1673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3731" y="4518422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Sistémica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63731" y="4761012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Proporciona una visión más completa de la biología del sistema en su totalidad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137051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5"/>
          <p:cNvSpPr/>
          <p:nvPr/>
        </p:nvSpPr>
        <p:spPr>
          <a:xfrm>
            <a:off x="5363731" y="5267424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6023" y="5369719"/>
            <a:ext cx="167378" cy="1673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3731" y="5720854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Medicina Personalizada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63731" y="5963444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la predicción de riesgo de enfermedad y la respuesta al tratamiento individualizado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69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de Abreviaturas Técnicas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58404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Referencia rápida de los términos técnicos clave utilizados en bioinformática y análisis multi-omics.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756966"/>
            <a:ext cx="10868745" cy="4529237"/>
          </a:xfrm>
          <a:prstGeom prst="roundRect">
            <a:avLst>
              <a:gd name="adj" fmla="val 150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61475" y="2188270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61475" y="2616398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61475" y="3044527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61475" y="3472656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61475" y="4142383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61475" y="4570512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61475" y="4998641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61475" y="5426770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61475" y="5854898"/>
            <a:ext cx="10868745" cy="101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30341" y="1853406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Abreviatura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4405" y="1853406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Definición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341" y="2281535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4405" y="2281535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Generation Sequencing — Secuenciación masiva paralela de genomas completos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0341" y="2709664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SNP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4405" y="2709664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Nucleotide Polymorphism — Variación de un único nucleótido en la secuencia de DNA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341" y="3137793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GWAS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4405" y="3137793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Genome-Wide Association Study — Estudio de asociación de variantes genéticas con enfermedades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0341" y="3565922"/>
            <a:ext cx="162923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mRNA / miRNA / lncRNA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4405" y="3565922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Messenger RNA / MicroRNA / Long non-coding RNA — Tipos de RNA con funciones distintas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0341" y="4235648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PTM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4405" y="4235648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Post-Translational Modification — Modificaciones químicas de proteínas tras su síntesis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0341" y="4663777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MS / SRM / MRM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84405" y="4663777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 Spectrometry / Selected Reaction Monitoring / Multiple Reaction Monitoring — Técnicas de análisis proteómico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0341" y="5091906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NMR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84405" y="5091906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Nuclear Magnetic Resonance — Espectroscopía para identificar metabolitos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0341" y="5520035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TMAO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84405" y="5520035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Trimethylamine N-oxide — Metabolito del microbioma asociado con riesgo cardiovascular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0341" y="5948164"/>
            <a:ext cx="223881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CNV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784405" y="5948164"/>
            <a:ext cx="918663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Copy Number Variation — Variación en el número de copias de segmentos de DNA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1382</Words>
  <Application>Microsoft Office PowerPoint</Application>
  <PresentationFormat>Widescreen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Raleway</vt:lpstr>
      <vt:lpstr>Roboto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Luis Germán López Valdez</dc:creator>
  <cp:lastModifiedBy>LUIS GERMAN LOPEZ VALDEZ</cp:lastModifiedBy>
  <cp:revision>2</cp:revision>
  <dcterms:created xsi:type="dcterms:W3CDTF">2026-08-19T22:48:57Z</dcterms:created>
  <dcterms:modified xsi:type="dcterms:W3CDTF">2026-08-19T23:59:19Z</dcterms:modified>
</cp:coreProperties>
</file>