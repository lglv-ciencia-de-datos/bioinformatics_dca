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382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niprot.org/" TargetMode="External"/><Relationship Id="rId13" Type="http://schemas.openxmlformats.org/officeDocument/2006/relationships/hyperlink" Target="https://www.ensembl.org/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hyperlink" Target="https://www.kegg.jp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csb.org/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s://www.ebi.ac.uk/ena/browser/home" TargetMode="External"/><Relationship Id="rId10" Type="http://schemas.openxmlformats.org/officeDocument/2006/relationships/hyperlink" Target="https://www.ebi.ac.uk/interpro/" TargetMode="External"/><Relationship Id="rId4" Type="http://schemas.openxmlformats.org/officeDocument/2006/relationships/hyperlink" Target="https://www.ncbi.nlm.nih.gov/genbank/" TargetMode="External"/><Relationship Id="rId9" Type="http://schemas.openxmlformats.org/officeDocument/2006/relationships/hyperlink" Target="https://www.uniprot.org/uniprotkb?query=reviewed:true" TargetMode="External"/><Relationship Id="rId14" Type="http://schemas.openxmlformats.org/officeDocument/2006/relationships/hyperlink" Target="https://www.hmdb.ca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nodes_white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8778240" y="-914400"/>
            <a:ext cx="4754880" cy="4754880"/>
          </a:xfrm>
          <a:prstGeom prst="rect">
            <a:avLst/>
          </a:prstGeom>
        </p:spPr>
      </p:pic>
      <p:pic>
        <p:nvPicPr>
          <p:cNvPr id="3" name="Image 1" descr="assets/dna_white.png"/>
          <p:cNvPicPr>
            <a:picLocks noChangeAspect="1"/>
          </p:cNvPicPr>
          <p:nvPr/>
        </p:nvPicPr>
        <p:blipFill>
          <a:blip r:embed="rId4">
            <a:alphaModFix amt="12000"/>
          </a:blip>
          <a:stretch>
            <a:fillRect/>
          </a:stretch>
        </p:blipFill>
        <p:spPr>
          <a:xfrm>
            <a:off x="-1005840" y="3657600"/>
            <a:ext cx="4023360" cy="4023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48640" y="2148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5" name="Image 2" descr="asset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286000"/>
            <a:ext cx="292608" cy="29260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66928" y="2788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BIOINFORMÁTICA · GUÍA PRÁCTICA</a:t>
            </a:r>
            <a:endParaRPr lang="en-US" sz="1300" dirty="0"/>
          </a:p>
        </p:txBody>
      </p:sp>
      <p:sp>
        <p:nvSpPr>
          <p:cNvPr id="7" name="Text 2"/>
          <p:cNvSpPr/>
          <p:nvPr/>
        </p:nvSpPr>
        <p:spPr>
          <a:xfrm>
            <a:off x="548640" y="3108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Datos Biológicas</a:t>
            </a:r>
            <a:endParaRPr lang="en-US" sz="4600" dirty="0"/>
          </a:p>
        </p:txBody>
      </p:sp>
      <p:sp>
        <p:nvSpPr>
          <p:cNvPr id="8" name="Text 3"/>
          <p:cNvSpPr/>
          <p:nvPr/>
        </p:nvSpPr>
        <p:spPr>
          <a:xfrm>
            <a:off x="566928" y="41605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Primarias, secundarias y especializadas — con ejemplos de uso paso a paso y bases de datos de metabolómica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566928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Luis Germán López </a:t>
            </a:r>
            <a:r>
              <a:rPr lang="en-US" sz="1100" dirty="0" err="1">
                <a:solidFill>
                  <a:srgbClr val="8FB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valdez</a:t>
            </a:r>
            <a:r>
              <a:rPr lang="en-US" sz="1100" dirty="0">
                <a:solidFill>
                  <a:srgbClr val="8FB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una base de datos biológica?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repositorio digital que almacena, organiza y pone a disposición datos generados por la investigación biológica: secuencias de ADN/ARN, proteínas, estructuras 3D, vías metabólicas, variantes genéticas y espectros de metabolitos, entre otros.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0" descr="assets/boo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7673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60273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Depositar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391363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Resguardan datos experimentales crudos generados en laboratorios de todo el mundo.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0" name="Image 1" descr="assets/lay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63600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44714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88720" y="47823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Añaden interpretación biológica: función, estructura, dominios y relaciones.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394960"/>
            <a:ext cx="457200" cy="457200"/>
          </a:xfrm>
          <a:prstGeom prst="ellipse">
            <a:avLst/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4" name="Image 2" descr="assets/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50468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534009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88720" y="56509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Permiten búsquedas cruzadas para diseñar experimentos y análisis in silico.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315200" y="1828800"/>
            <a:ext cx="4297680" cy="4206240"/>
          </a:xfrm>
          <a:prstGeom prst="roundRect">
            <a:avLst>
              <a:gd name="adj" fmla="val 2174"/>
            </a:avLst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3"/>
          <p:cNvSpPr/>
          <p:nvPr/>
        </p:nvSpPr>
        <p:spPr>
          <a:xfrm>
            <a:off x="768096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CLAVE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68096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FAIR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7680960" y="3154680"/>
            <a:ext cx="384048" cy="384048"/>
          </a:xfrm>
          <a:prstGeom prst="ellipse">
            <a:avLst/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6"/>
          <p:cNvSpPr/>
          <p:nvPr/>
        </p:nvSpPr>
        <p:spPr>
          <a:xfrm>
            <a:off x="768096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183880" y="31272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Findable — localizables mediante identificadores únicos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680960" y="3813048"/>
            <a:ext cx="384048" cy="384048"/>
          </a:xfrm>
          <a:prstGeom prst="ellipse">
            <a:avLst/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19"/>
          <p:cNvSpPr/>
          <p:nvPr/>
        </p:nvSpPr>
        <p:spPr>
          <a:xfrm>
            <a:off x="768096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8183880" y="37856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— accesibles vía web o API (</a:t>
            </a:r>
            <a:r>
              <a:rPr lang="es-ES" sz="1100" i="1" dirty="0">
                <a:solidFill>
                  <a:srgbClr val="FFFF00"/>
                </a:solidFill>
              </a:rPr>
              <a:t>Interfaz de Programación de Aplicaciones</a:t>
            </a: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abierta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680960" y="4471416"/>
            <a:ext cx="384048" cy="384048"/>
          </a:xfrm>
          <a:prstGeom prst="ellipse">
            <a:avLst/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2"/>
          <p:cNvSpPr/>
          <p:nvPr/>
        </p:nvSpPr>
        <p:spPr>
          <a:xfrm>
            <a:off x="7680960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183880" y="44439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Interoperable — formatos y vocabularios estándar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680960" y="5129784"/>
            <a:ext cx="384048" cy="384048"/>
          </a:xfrm>
          <a:prstGeom prst="ellipse">
            <a:avLst/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5"/>
          <p:cNvSpPr/>
          <p:nvPr/>
        </p:nvSpPr>
        <p:spPr>
          <a:xfrm>
            <a:off x="768096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8183880" y="51023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— con licencias y metadatos claros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grandes categorías de bases de datos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868680" y="23317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6" name="Image 0" descr="asset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4963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Primarias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68680" y="36576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experimentales originales, depositados directamente por investigadores.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5120640"/>
            <a:ext cx="2926080" cy="0"/>
          </a:xfrm>
          <a:prstGeom prst="line">
            <a:avLst/>
          </a:prstGeom>
          <a:noFill/>
          <a:ln w="15875">
            <a:solidFill>
              <a:srgbClr val="0D3B3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868680" y="5257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67862" y="5533292"/>
            <a:ext cx="3666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GenBank (</a:t>
            </a:r>
            <a:r>
              <a:rPr lang="es-MX" sz="1200" dirty="0">
                <a:hlinkClick r:id="rId4"/>
              </a:rPr>
              <a:t>ncbi.nlm.nih.gov/</a:t>
            </a:r>
            <a:r>
              <a:rPr lang="es-MX" sz="1200" dirty="0" err="1">
                <a:hlinkClick r:id="rId4"/>
              </a:rPr>
              <a:t>genbank</a:t>
            </a:r>
            <a:r>
              <a:rPr lang="es-MX" sz="1200" dirty="0"/>
              <a:t>)</a:t>
            </a: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 (</a:t>
            </a:r>
            <a:r>
              <a:rPr lang="es-MX" sz="1200" dirty="0">
                <a:hlinkClick r:id="rId5"/>
              </a:rPr>
              <a:t>https://www.ebi.ac.uk/ena/browser/home</a:t>
            </a: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·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(</a:t>
            </a:r>
            <a:r>
              <a:rPr lang="es-MX" sz="1200" dirty="0">
                <a:hlinkClick r:id="rId6"/>
              </a:rPr>
              <a:t>rcsb.org</a:t>
            </a: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·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196596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Shape 10"/>
          <p:cNvSpPr/>
          <p:nvPr/>
        </p:nvSpPr>
        <p:spPr>
          <a:xfrm>
            <a:off x="4754880" y="23317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4" name="Image 1" descr="assets/lay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249631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488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Secundarias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754880" y="36576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Derivan de las primarias; agregan curación, anotación y análisis experto.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754880" y="5120640"/>
            <a:ext cx="2926080" cy="0"/>
          </a:xfrm>
          <a:prstGeom prst="line">
            <a:avLst/>
          </a:prstGeom>
          <a:noFill/>
          <a:ln w="15875">
            <a:solidFill>
              <a:srgbClr val="3EB48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4"/>
          <p:cNvSpPr/>
          <p:nvPr/>
        </p:nvSpPr>
        <p:spPr>
          <a:xfrm>
            <a:off x="4754880" y="5257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434839" y="5532120"/>
            <a:ext cx="37150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</a:t>
            </a: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MX" sz="1200" dirty="0">
                <a:hlinkClick r:id="rId8"/>
              </a:rPr>
              <a:t>uniprot.org</a:t>
            </a: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·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Swiss-</a:t>
            </a:r>
            <a:r>
              <a:rPr lang="en-US" sz="1200" b="1" dirty="0" err="1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</a:t>
            </a: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dirty="0">
                <a:hlinkClick r:id="rId9"/>
              </a:rPr>
              <a:t>uniprot.org/</a:t>
            </a:r>
            <a:r>
              <a:rPr lang="en-US" sz="1200" dirty="0" err="1">
                <a:hlinkClick r:id="rId9"/>
              </a:rPr>
              <a:t>uniprotkb?query</a:t>
            </a:r>
            <a:r>
              <a:rPr lang="en-US" sz="1200" dirty="0">
                <a:hlinkClick r:id="rId9"/>
              </a:rPr>
              <a:t>=</a:t>
            </a:r>
            <a:r>
              <a:rPr lang="en-US" sz="1200" dirty="0" err="1">
                <a:hlinkClick r:id="rId9"/>
              </a:rPr>
              <a:t>reviewed:true</a:t>
            </a: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· </a:t>
            </a:r>
          </a:p>
          <a:p>
            <a:pPr marL="0" indent="0">
              <a:buNone/>
            </a:pPr>
            <a:r>
              <a:rPr lang="en-US" sz="1200" b="1" dirty="0" err="1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InterPro</a:t>
            </a: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MX" sz="1200" dirty="0">
                <a:hlinkClick r:id="rId10"/>
              </a:rPr>
              <a:t>ebi.ac.uk/</a:t>
            </a:r>
            <a:r>
              <a:rPr lang="es-MX" sz="1200" dirty="0" err="1">
                <a:hlinkClick r:id="rId10"/>
              </a:rPr>
              <a:t>interpro</a:t>
            </a: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·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321040" y="196596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 dirty="0"/>
          </a:p>
        </p:txBody>
      </p:sp>
      <p:sp>
        <p:nvSpPr>
          <p:cNvPr id="21" name="Shape 17"/>
          <p:cNvSpPr/>
          <p:nvPr/>
        </p:nvSpPr>
        <p:spPr>
          <a:xfrm>
            <a:off x="8641080" y="23317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2A6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2" name="Image 2" descr="assets/flask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05672" y="2496312"/>
            <a:ext cx="310896" cy="31089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4108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Especializadas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641080" y="36576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Enfocadas en un organismo, proceso o tipo de dato específico.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8641080" y="5120640"/>
            <a:ext cx="2926080" cy="0"/>
          </a:xfrm>
          <a:prstGeom prst="line">
            <a:avLst/>
          </a:prstGeom>
          <a:noFill/>
          <a:ln w="15875">
            <a:solidFill>
              <a:srgbClr val="F2A65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1"/>
          <p:cNvSpPr/>
          <p:nvPr/>
        </p:nvSpPr>
        <p:spPr>
          <a:xfrm>
            <a:off x="8641080" y="5257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641080" y="5532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(</a:t>
            </a:r>
            <a:r>
              <a:rPr lang="es-MX" sz="1200" dirty="0">
                <a:hlinkClick r:id="rId12"/>
              </a:rPr>
              <a:t>kegg.jp</a:t>
            </a: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)· </a:t>
            </a:r>
          </a:p>
          <a:p>
            <a:pPr marL="0" indent="0">
              <a:buNone/>
            </a:pPr>
            <a:r>
              <a:rPr lang="en-US" sz="1200" b="1" dirty="0" err="1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</a:t>
            </a: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MX" sz="1200" dirty="0">
                <a:hlinkClick r:id="rId13"/>
              </a:rPr>
              <a:t>https://www.ensembl.org/</a:t>
            </a:r>
            <a:r>
              <a:rPr lang="es-MX" sz="1200" dirty="0"/>
              <a:t>)</a:t>
            </a: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HMDB (</a:t>
            </a:r>
            <a:r>
              <a:rPr lang="es-MX" sz="1200" dirty="0">
                <a:hlinkClick r:id="rId14"/>
              </a:rPr>
              <a:t>hmdb.ca</a:t>
            </a:r>
            <a:r>
              <a:rPr lang="es-MX" sz="1200" dirty="0"/>
              <a:t> </a:t>
            </a:r>
            <a:r>
              <a:rPr lang="en-US" sz="12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·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datos primarias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Contienen datos experimentales originales, sin reinterpretar, enviados directamente por los grupos de investigación.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944118"/>
          </a:xfrm>
          <a:prstGeom prst="roundRect">
            <a:avLst>
              <a:gd name="adj" fmla="val 5811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77240" y="2584323"/>
            <a:ext cx="438912" cy="438912"/>
          </a:xfrm>
          <a:prstGeom prst="ellipse">
            <a:avLst/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0" descr="asset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694051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GenBank (NCBI)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91007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ncbi.nlm.nih.gov/genbank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54880" y="2331720"/>
            <a:ext cx="66751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Secuencias nucleotídicas de acceso público; forma parte del consorcio INSDC.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440430"/>
            <a:ext cx="11064240" cy="944118"/>
          </a:xfrm>
          <a:prstGeom prst="roundRect">
            <a:avLst>
              <a:gd name="adj" fmla="val 5811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777240" y="3693033"/>
            <a:ext cx="438912" cy="438912"/>
          </a:xfrm>
          <a:prstGeom prst="ellipse">
            <a:avLst/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1" descr="asset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802761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351358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 (EMBL-EBI)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17320" y="40187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ebi.ac.uk/ena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754880" y="3440430"/>
            <a:ext cx="66751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europeo de secuencias de nucleótidos, sincronizado con GenBank y DDBJ.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549140"/>
            <a:ext cx="11064240" cy="944118"/>
          </a:xfrm>
          <a:prstGeom prst="roundRect">
            <a:avLst>
              <a:gd name="adj" fmla="val 5811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777240" y="4801743"/>
            <a:ext cx="438912" cy="438912"/>
          </a:xfrm>
          <a:prstGeom prst="ellipse">
            <a:avLst/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2" descr="asset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911471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6222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DDBJ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417320" y="512749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ddbj.nig.ac.jp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754880" y="4549140"/>
            <a:ext cx="66751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datos de ADN de Japón; tercer nodo del consorcio internacional INSDC.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5657850"/>
            <a:ext cx="11064240" cy="944118"/>
          </a:xfrm>
          <a:prstGeom prst="roundRect">
            <a:avLst>
              <a:gd name="adj" fmla="val 5811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777240" y="5910453"/>
            <a:ext cx="438912" cy="438912"/>
          </a:xfrm>
          <a:prstGeom prst="ellipse">
            <a:avLst/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5" name="Image 3" descr="asset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6020181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17320" y="573100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417320" y="6236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rcsb.org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754880" y="5657850"/>
            <a:ext cx="66751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tridimensionales de proteínas y ácidos nucleicos resueltas experimentalmente.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 · PRIMARIAS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Búsqueda paso a paso en GenBank (NCBI)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5" name="Image 0" descr="assets/l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36776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087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ncbi.nlm.nih.gov/genbank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00100" y="2651760"/>
            <a:ext cx="0" cy="365760"/>
          </a:xfrm>
          <a:prstGeom prst="line">
            <a:avLst/>
          </a:prstGeom>
          <a:noFill/>
          <a:ln w="19050">
            <a:solidFill>
              <a:srgbClr val="C9DCD6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1234440" y="21305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al portal de GenBank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234440" y="24414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sitio del NCBI y localiza el buscador general "Entrez" en la parte superior.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00100" y="3520440"/>
            <a:ext cx="0" cy="365760"/>
          </a:xfrm>
          <a:prstGeom prst="line">
            <a:avLst/>
          </a:prstGeom>
          <a:noFill/>
          <a:ln w="19050">
            <a:solidFill>
              <a:srgbClr val="C9DCD6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1234440" y="29992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la base "Nucleotide"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234440" y="33101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menú desplegable junto a la barra de búsqueda, cambia de "All Databases" a "Nucleotide".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00100" y="4389120"/>
            <a:ext cx="0" cy="365760"/>
          </a:xfrm>
          <a:prstGeom prst="line">
            <a:avLst/>
          </a:prstGeom>
          <a:noFill/>
          <a:ln w="19050">
            <a:solidFill>
              <a:srgbClr val="C9DCD6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1234440" y="386791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tu término de búsqueda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234440" y="41788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ejemplo: BRCA1 Homo sapiens, o el número de acceso si ya lo conoces.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800100" y="5257800"/>
            <a:ext cx="0" cy="365760"/>
          </a:xfrm>
          <a:prstGeom prst="line">
            <a:avLst/>
          </a:prstGeom>
          <a:noFill/>
          <a:ln w="19050">
            <a:solidFill>
              <a:srgbClr val="C9DCD6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2"/>
          <p:cNvSpPr/>
          <p:nvPr/>
        </p:nvSpPr>
        <p:spPr>
          <a:xfrm>
            <a:off x="1234440" y="473659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los resultados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1234440" y="504748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los filtros laterales por organismo, tipo de molécula (ADN/ARN) o fuente del dato.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48640" y="5623560"/>
            <a:ext cx="502920" cy="502920"/>
          </a:xfrm>
          <a:prstGeom prst="ellipse">
            <a:avLst/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5"/>
          <p:cNvSpPr/>
          <p:nvPr/>
        </p:nvSpPr>
        <p:spPr>
          <a:xfrm>
            <a:off x="54864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1234440" y="560527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registro y exporta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1234440" y="59161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la secuencia en formato FASTA o GenBank (.gb) para su análisis posterior.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datos secundarias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construyen a partir de datos primarios, incorporando curación experta, anotación funcional y análisis comparativo.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944118"/>
          </a:xfrm>
          <a:prstGeom prst="roundRect">
            <a:avLst>
              <a:gd name="adj" fmla="val 5811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77240" y="2584323"/>
            <a:ext cx="438912" cy="438912"/>
          </a:xfrm>
          <a:prstGeom prst="ellipse">
            <a:avLst/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0" descr="asset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694051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UniProtKB / Swiss-Prot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91007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uniprot.org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54880" y="2331720"/>
            <a:ext cx="66751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Proteínas con anotación curada manualmente: función, estructura y variantes.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440430"/>
            <a:ext cx="11064240" cy="944118"/>
          </a:xfrm>
          <a:prstGeom prst="roundRect">
            <a:avLst>
              <a:gd name="adj" fmla="val 5811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777240" y="3693033"/>
            <a:ext cx="438912" cy="438912"/>
          </a:xfrm>
          <a:prstGeom prst="ellipse">
            <a:avLst/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1" descr="asset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802761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351358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17320" y="40187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ebi.ac.uk/interpro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754880" y="3440430"/>
            <a:ext cx="66751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proteínas en familias y predice dominios y sitios funcionales.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549140"/>
            <a:ext cx="11064240" cy="944118"/>
          </a:xfrm>
          <a:prstGeom prst="roundRect">
            <a:avLst>
              <a:gd name="adj" fmla="val 5811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777240" y="4801743"/>
            <a:ext cx="438912" cy="438912"/>
          </a:xfrm>
          <a:prstGeom prst="ellipse">
            <a:avLst/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2" descr="asset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911471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6222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Pfam (vía InterPro)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417320" y="512749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ebi.ac.uk/interpro/entry/pfam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754880" y="4549140"/>
            <a:ext cx="66751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de proteínas y dominios basados en modelos ocultos de Markov (HMM).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5657850"/>
            <a:ext cx="11064240" cy="944118"/>
          </a:xfrm>
          <a:prstGeom prst="roundRect">
            <a:avLst>
              <a:gd name="adj" fmla="val 5811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777240" y="5910453"/>
            <a:ext cx="438912" cy="438912"/>
          </a:xfrm>
          <a:prstGeom prst="ellipse">
            <a:avLst/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5" name="Image 3" descr="asset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6020181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17320" y="573100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PROSITE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417320" y="6236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prosite.expasy.org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754880" y="5657850"/>
            <a:ext cx="66751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y perfiles de secuencia asociados a funciones biológicas conocidas.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 · SECUNDARIAS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Búsqueda paso a paso en UniProt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5" name="Image 0" descr="assets/l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36776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087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uniprot.org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00100" y="2651760"/>
            <a:ext cx="0" cy="365760"/>
          </a:xfrm>
          <a:prstGeom prst="line">
            <a:avLst/>
          </a:prstGeom>
          <a:noFill/>
          <a:ln w="19050">
            <a:solidFill>
              <a:srgbClr val="C9DCD6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1234440" y="21305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al buscador de UniProt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234440" y="24414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página principal; la barra de búsqueda aparece en el centro de la pantalla.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00100" y="3520440"/>
            <a:ext cx="0" cy="365760"/>
          </a:xfrm>
          <a:prstGeom prst="line">
            <a:avLst/>
          </a:prstGeom>
          <a:noFill/>
          <a:ln w="19050">
            <a:solidFill>
              <a:srgbClr val="C9DCD6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1234440" y="29992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la proteína o el gen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234440" y="33101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ejemplo: insulin human, o el código de gen INS.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00100" y="4389120"/>
            <a:ext cx="0" cy="365760"/>
          </a:xfrm>
          <a:prstGeom prst="line">
            <a:avLst/>
          </a:prstGeom>
          <a:noFill/>
          <a:ln w="19050">
            <a:solidFill>
              <a:srgbClr val="C9DCD6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1234440" y="386791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"Reviewed (Swiss-Prot)"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234440" y="41788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obtienes solo entradas revisadas manualmente por curadores expertos.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800100" y="5257800"/>
            <a:ext cx="0" cy="365760"/>
          </a:xfrm>
          <a:prstGeom prst="line">
            <a:avLst/>
          </a:prstGeom>
          <a:noFill/>
          <a:ln w="19050">
            <a:solidFill>
              <a:srgbClr val="C9DCD6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2"/>
          <p:cNvSpPr/>
          <p:nvPr/>
        </p:nvSpPr>
        <p:spPr>
          <a:xfrm>
            <a:off x="1234440" y="473659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la entrada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1234440" y="504748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función, dominios, estructura 3D asociada, variantes e interacciones.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48640" y="5623560"/>
            <a:ext cx="502920" cy="502920"/>
          </a:xfrm>
          <a:prstGeom prst="ellipse">
            <a:avLst/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5"/>
          <p:cNvSpPr/>
          <p:nvPr/>
        </p:nvSpPr>
        <p:spPr>
          <a:xfrm>
            <a:off x="54864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1234440" y="560527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la anotación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1234440" y="59161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en formato FASTA, GFF o texto plano para integrarla en tu flujo de análisis.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datos especializadas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enfocan en un organismo, tipo de dato o proceso biológico concreto, ofreciendo herramientas de análisis dedicadas.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944118"/>
          </a:xfrm>
          <a:prstGeom prst="roundRect">
            <a:avLst>
              <a:gd name="adj" fmla="val 5811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77240" y="2584323"/>
            <a:ext cx="438912" cy="438912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0" descr="assets/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694051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91007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genome.jp/kegg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54880" y="2331720"/>
            <a:ext cx="66751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Vías metabólicas, de señalización y enfermedades, con mapas interactivos.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440430"/>
            <a:ext cx="11064240" cy="944118"/>
          </a:xfrm>
          <a:prstGeom prst="roundRect">
            <a:avLst>
              <a:gd name="adj" fmla="val 5811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777240" y="3693033"/>
            <a:ext cx="438912" cy="438912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1" descr="assets/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802761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351358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17320" y="40187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ensembl.org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754880" y="3440430"/>
            <a:ext cx="66751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Genomas anotados de múltiples especies y herramientas de genómica comparativa.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549140"/>
            <a:ext cx="11064240" cy="944118"/>
          </a:xfrm>
          <a:prstGeom prst="roundRect">
            <a:avLst>
              <a:gd name="adj" fmla="val 5811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777240" y="4801743"/>
            <a:ext cx="438912" cy="438912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2" descr="assets/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911471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6222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dbSNP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417320" y="512749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ncbi.nlm.nih.gov/snp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754880" y="4549140"/>
            <a:ext cx="66751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variantes genéticas (SNPs) y su relevancia clínica o poblacional.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5657850"/>
            <a:ext cx="11064240" cy="944118"/>
          </a:xfrm>
          <a:prstGeom prst="roundRect">
            <a:avLst>
              <a:gd name="adj" fmla="val 5811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777240" y="5910453"/>
            <a:ext cx="438912" cy="438912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5" name="Image 3" descr="assets/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6020181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17320" y="573100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417320" y="6236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string-db.org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754880" y="5657850"/>
            <a:ext cx="66751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interacción proteína-proteína, conocidas y predichas.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ESPECIAL · METABOLÓMICA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datos de metabolómica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Almacenan información sobre metabolitos: estructura química, espectros de MS/RMN, concentraciones biológicas y su relación con vías y enfermedades.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944118"/>
          </a:xfrm>
          <a:prstGeom prst="roundRect">
            <a:avLst>
              <a:gd name="adj" fmla="val 5811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777240" y="2584323"/>
            <a:ext cx="438912" cy="438912"/>
          </a:xfrm>
          <a:prstGeom prst="ellipse">
            <a:avLst/>
          </a:prstGeom>
          <a:solidFill>
            <a:srgbClr val="6FB88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7" name="Image 0" descr="assets/molecu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694051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HMDB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91007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hmdb.ca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54880" y="2331720"/>
            <a:ext cx="66751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Metaboloma humano: más de 200,000 metabolitos con datos clínicos y bioquímicos.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440430"/>
            <a:ext cx="11064240" cy="944118"/>
          </a:xfrm>
          <a:prstGeom prst="roundRect">
            <a:avLst>
              <a:gd name="adj" fmla="val 5811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777240" y="3693033"/>
            <a:ext cx="438912" cy="438912"/>
          </a:xfrm>
          <a:prstGeom prst="ellipse">
            <a:avLst/>
          </a:prstGeom>
          <a:solidFill>
            <a:srgbClr val="6FB88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3" name="Image 1" descr="assets/molecu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802761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351358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17320" y="40187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metlin.scripps.edu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754880" y="3440430"/>
            <a:ext cx="66751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espectros de masas (MS/MS) para identificación de metabolitos.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549140"/>
            <a:ext cx="11064240" cy="944118"/>
          </a:xfrm>
          <a:prstGeom prst="roundRect">
            <a:avLst>
              <a:gd name="adj" fmla="val 5811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Shape 14"/>
          <p:cNvSpPr/>
          <p:nvPr/>
        </p:nvSpPr>
        <p:spPr>
          <a:xfrm>
            <a:off x="777240" y="4801743"/>
            <a:ext cx="438912" cy="438912"/>
          </a:xfrm>
          <a:prstGeom prst="ellipse">
            <a:avLst/>
          </a:prstGeom>
          <a:solidFill>
            <a:srgbClr val="6FB88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19" name="Image 2" descr="assets/molecu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911471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6222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MetaboLights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417320" y="512749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ebi.ac.uk/metabolights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754880" y="4549140"/>
            <a:ext cx="66751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del EBI para estudios metabolómicos completos, con datos crudos.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5657850"/>
            <a:ext cx="11064240" cy="944118"/>
          </a:xfrm>
          <a:prstGeom prst="roundRect">
            <a:avLst>
              <a:gd name="adj" fmla="val 5811"/>
            </a:avLst>
          </a:prstGeom>
          <a:solidFill>
            <a:srgbClr val="F0F5F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Shape 19"/>
          <p:cNvSpPr/>
          <p:nvPr/>
        </p:nvSpPr>
        <p:spPr>
          <a:xfrm>
            <a:off x="777240" y="5910453"/>
            <a:ext cx="438912" cy="438912"/>
          </a:xfrm>
          <a:prstGeom prst="ellipse">
            <a:avLst/>
          </a:prstGeom>
          <a:solidFill>
            <a:srgbClr val="6FB88A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25" name="Image 3" descr="assets/molecu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6020181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17320" y="573100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(metabolitos)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417320" y="6236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B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genome.jp/kegg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4754880" y="5657850"/>
            <a:ext cx="6675120" cy="94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 cada metabolito dentro de sus vías metabólicas correspondientes.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PRÁCTICO · METABOLÓMICA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Búsqueda paso a paso en HMDB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D3B36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5" name="Image 0" descr="assets/lin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36776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087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hmdb.ca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6FB8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00100" y="2651760"/>
            <a:ext cx="0" cy="365760"/>
          </a:xfrm>
          <a:prstGeom prst="line">
            <a:avLst/>
          </a:prstGeom>
          <a:noFill/>
          <a:ln w="19050">
            <a:solidFill>
              <a:srgbClr val="C9DCD6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1234440" y="21305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 al Human Metabolome Database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234440" y="244144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sitio y localiza la opción "Search" en el menú principal.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6FB8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00100" y="3520440"/>
            <a:ext cx="0" cy="365760"/>
          </a:xfrm>
          <a:prstGeom prst="line">
            <a:avLst/>
          </a:prstGeom>
          <a:noFill/>
          <a:ln w="19050">
            <a:solidFill>
              <a:srgbClr val="C9DCD6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1234440" y="299923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"Metabolite Search"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234440" y="33101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la búsqueda simple por nombre, sinónimo o identificador HMDB.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6FB8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5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00100" y="4389120"/>
            <a:ext cx="0" cy="365760"/>
          </a:xfrm>
          <a:prstGeom prst="line">
            <a:avLst/>
          </a:prstGeom>
          <a:noFill/>
          <a:ln w="19050">
            <a:solidFill>
              <a:srgbClr val="C9DCD6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7"/>
          <p:cNvSpPr/>
          <p:nvPr/>
        </p:nvSpPr>
        <p:spPr>
          <a:xfrm>
            <a:off x="1234440" y="386791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el metabolito de interés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234440" y="41788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ejemplo: glucose, o directamente su ID (HMDB0000122).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6FB8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/>
          <p:nvPr/>
        </p:nvSpPr>
        <p:spPr>
          <a:xfrm>
            <a:off x="54864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800100" y="5257800"/>
            <a:ext cx="0" cy="365760"/>
          </a:xfrm>
          <a:prstGeom prst="line">
            <a:avLst/>
          </a:prstGeom>
          <a:noFill/>
          <a:ln w="19050">
            <a:solidFill>
              <a:srgbClr val="C9DCD6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2"/>
          <p:cNvSpPr/>
          <p:nvPr/>
        </p:nvSpPr>
        <p:spPr>
          <a:xfrm>
            <a:off x="1234440" y="473659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la ficha completa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1234440" y="504748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estructura química, vías asociadas y concentraciones normales o en enfermedad.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48640" y="5623560"/>
            <a:ext cx="502920" cy="502920"/>
          </a:xfrm>
          <a:prstGeom prst="ellipse">
            <a:avLst/>
          </a:prstGeom>
          <a:solidFill>
            <a:srgbClr val="6FB88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5"/>
          <p:cNvSpPr/>
          <p:nvPr/>
        </p:nvSpPr>
        <p:spPr>
          <a:xfrm>
            <a:off x="54864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9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1234440" y="560527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los datos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1234440" y="59161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Obtén espectros MS/RMN y la información en formato SDF o XML para tu análisis.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general de las categorías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Origen de los datos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principal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D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experimentales originales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GenBank · ENA · PDB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Depósito y consulta de datos crudos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EB4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Secundarias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curados y anotados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UniProt/Swiss-Prot · InterPro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Interpretación biológica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2A6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Especializadas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Enfocados en un dominio u organismo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KEGG · Ensembl · dbSNP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específico y dirigido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FB8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Metabolómica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Metabolitos, espectros y vías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HMDB · METLIN · MetaboLights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Estudio del metaboloma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2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3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nodes_white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7863840" y="3017520"/>
            <a:ext cx="5120640" cy="5120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22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Distintas bases, un mismo ecosistema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219456" cy="219456"/>
          </a:xfrm>
          <a:prstGeom prst="ellipse">
            <a:avLst/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960120" y="180136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bases primarias resguardan el dato crudo; las secundarias lo interpretan y curan; las especializadas profundizan en un dominio concreto.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219456" cy="219456"/>
          </a:xfrm>
          <a:prstGeom prst="ellipse">
            <a:avLst/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960120" y="25786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metabolómica añade una capa funcional al genoma y al proteoma, conectando genes, proteínas y fenotipo bioquímico.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219456" cy="219456"/>
          </a:xfrm>
          <a:prstGeom prst="ellipse">
            <a:avLst/>
          </a:prstGeom>
          <a:solidFill>
            <a:srgbClr val="3EB48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960120" y="335584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varias bases de datos —y sus enlaces cruzados— mejora la calidad de cualquier análisis bioinformático.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0" y="1828800"/>
            <a:ext cx="4297680" cy="4114800"/>
          </a:xfrm>
          <a:prstGeom prst="roundRect">
            <a:avLst>
              <a:gd name="adj" fmla="val 2222"/>
            </a:avLst>
          </a:prstGeom>
          <a:solidFill>
            <a:srgbClr val="092A2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76352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PRINCIPALES</a:t>
            </a:r>
            <a:endParaRPr lang="en-US" sz="1100" dirty="0"/>
          </a:p>
        </p:txBody>
      </p:sp>
      <p:pic>
        <p:nvPicPr>
          <p:cNvPr id="13" name="Image 1" descr="assets/arrow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450592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909560" y="2423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GenBank — ncbi.nlm.nih.gov/genbank</a:t>
            </a:r>
            <a:endParaRPr lang="en-US" sz="1100" dirty="0"/>
          </a:p>
        </p:txBody>
      </p:sp>
      <p:pic>
        <p:nvPicPr>
          <p:cNvPr id="15" name="Image 2" descr="assets/arrow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862072"/>
            <a:ext cx="146304" cy="1463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0956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 — ebi.ac.uk/ena</a:t>
            </a:r>
            <a:endParaRPr lang="en-US" sz="1100" dirty="0"/>
          </a:p>
        </p:txBody>
      </p:sp>
      <p:pic>
        <p:nvPicPr>
          <p:cNvPr id="17" name="Image 3" descr="assets/arrow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273552"/>
            <a:ext cx="146304" cy="1463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0956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UniProt — uniprot.org</a:t>
            </a:r>
            <a:endParaRPr lang="en-US" sz="1100" dirty="0"/>
          </a:p>
        </p:txBody>
      </p:sp>
      <p:pic>
        <p:nvPicPr>
          <p:cNvPr id="19" name="Image 4" descr="assets/arrow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685032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90956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InterPro — ebi.ac.uk/interpro</a:t>
            </a:r>
            <a:endParaRPr lang="en-US" sz="1100" dirty="0"/>
          </a:p>
        </p:txBody>
      </p:sp>
      <p:pic>
        <p:nvPicPr>
          <p:cNvPr id="21" name="Image 5" descr="assets/arrow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096512"/>
            <a:ext cx="146304" cy="14630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909560" y="4069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KEGG — genome.jp/kegg</a:t>
            </a:r>
            <a:endParaRPr lang="en-US" sz="1100" dirty="0"/>
          </a:p>
        </p:txBody>
      </p:sp>
      <p:pic>
        <p:nvPicPr>
          <p:cNvPr id="23" name="Image 6" descr="assets/arrow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507992"/>
            <a:ext cx="146304" cy="14630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909560" y="4480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 — ensembl.org</a:t>
            </a:r>
            <a:endParaRPr lang="en-US" sz="1100" dirty="0"/>
          </a:p>
        </p:txBody>
      </p:sp>
      <p:pic>
        <p:nvPicPr>
          <p:cNvPr id="25" name="Image 7" descr="assets/arrow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919472"/>
            <a:ext cx="146304" cy="14630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909560" y="4892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HMDB — hmdb.ca</a:t>
            </a:r>
            <a:endParaRPr lang="en-US" sz="1100" dirty="0"/>
          </a:p>
        </p:txBody>
      </p:sp>
      <p:pic>
        <p:nvPicPr>
          <p:cNvPr id="27" name="Image 8" descr="assets/arrow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5330952"/>
            <a:ext cx="146304" cy="14630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909560" y="5303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MetaboLights — ebi.ac.uk/metabolights</a:t>
            </a:r>
            <a:endParaRPr lang="en-US" sz="1100" dirty="0"/>
          </a:p>
        </p:txBody>
      </p:sp>
      <p:sp>
        <p:nvSpPr>
          <p:cNvPr id="29" name="Text 1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F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1351</Words>
  <Application>Microsoft Office PowerPoint</Application>
  <PresentationFormat>Widescreen</PresentationFormat>
  <Paragraphs>216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LUIS GERMAN LOPEZ VALDEZ</cp:lastModifiedBy>
  <cp:revision>4</cp:revision>
  <dcterms:created xsi:type="dcterms:W3CDTF">2026-08-23T22:27:32Z</dcterms:created>
  <dcterms:modified xsi:type="dcterms:W3CDTF">2026-08-24T19:01:41Z</dcterms:modified>
</cp:coreProperties>
</file>