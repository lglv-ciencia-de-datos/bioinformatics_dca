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Consolas" panose="020B0609020204030204" pitchFamily="49" charset="0"/>
      <p:regular r:id="rId15"/>
      <p:bold r:id="rId16"/>
      <p:italic r:id="rId17"/>
      <p:boldItalic r:id="rId18"/>
    </p:embeddedFont>
    <p:embeddedFont>
      <p:font typeface="Raleway" pitchFamily="2" charset="0"/>
      <p:regular r:id="rId19"/>
      <p:italic r:id="rId20"/>
    </p:embeddedFont>
    <p:embeddedFont>
      <p:font typeface="Raleway Light" pitchFamily="2" charset="0"/>
      <p:regular r:id="rId21"/>
    </p:embeddedFont>
    <p:embeddedFont>
      <p:font typeface="Roboto" panose="02000000000000000000" pitchFamily="2" charset="0"/>
      <p:regular r:id="rId22"/>
      <p:italic r:id="rId23"/>
    </p:embeddedFont>
    <p:embeddedFont>
      <p:font typeface="Roboto Bold" panose="02000000000000000000" charset="0"/>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93"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946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sp>
      <p:sp>
        <p:nvSpPr>
          <p:cNvPr id="3" name="Shape 1"/>
          <p:cNvSpPr/>
          <p:nvPr/>
        </p:nvSpPr>
        <p:spPr>
          <a:xfrm>
            <a:off x="0" y="0"/>
            <a:ext cx="12191695"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2164854"/>
            <a:ext cx="10868745" cy="516731"/>
          </a:xfrm>
          <a:prstGeom prst="rect">
            <a:avLst/>
          </a:prstGeom>
          <a:noFill/>
          <a:ln/>
        </p:spPr>
        <p:txBody>
          <a:bodyPr wrap="none" lIns="0" tIns="0" rIns="0" bIns="0" rtlCol="0" anchor="t"/>
          <a:lstStyle/>
          <a:p>
            <a:pPr marL="0" indent="0" algn="ctr">
              <a:lnSpc>
                <a:spcPct val="104000"/>
              </a:lnSpc>
              <a:buNone/>
            </a:pPr>
            <a:r>
              <a:rPr lang="en-US" sz="3250" dirty="0">
                <a:solidFill>
                  <a:srgbClr val="1B1B27"/>
                </a:solidFill>
                <a:latin typeface="Raleway" pitchFamily="34" charset="0"/>
                <a:ea typeface="Raleway" pitchFamily="34" charset="-122"/>
                <a:cs typeface="Raleway" pitchFamily="34" charset="-120"/>
              </a:rPr>
              <a:t>Tipos de Archivos Usados en Análisis Bioinformáticos</a:t>
            </a:r>
            <a:endParaRPr lang="en-US" sz="3250" dirty="0"/>
          </a:p>
        </p:txBody>
      </p:sp>
      <p:sp>
        <p:nvSpPr>
          <p:cNvPr id="3" name="Text 1"/>
          <p:cNvSpPr/>
          <p:nvPr/>
        </p:nvSpPr>
        <p:spPr>
          <a:xfrm>
            <a:off x="356682" y="3012281"/>
            <a:ext cx="11478330" cy="264616"/>
          </a:xfrm>
          <a:prstGeom prst="rect">
            <a:avLst/>
          </a:prstGeom>
          <a:noFill/>
          <a:ln/>
        </p:spPr>
        <p:txBody>
          <a:bodyPr wrap="none" lIns="0" tIns="0" rIns="0" bIns="0" rtlCol="0" anchor="t"/>
          <a:lstStyle/>
          <a:p>
            <a:pPr marL="0" indent="0" algn="ctr">
              <a:lnSpc>
                <a:spcPct val="133000"/>
              </a:lnSpc>
              <a:buNone/>
            </a:pPr>
            <a:r>
              <a:rPr lang="en-US" sz="1300" dirty="0">
                <a:solidFill>
                  <a:srgbClr val="3C3939"/>
                </a:solidFill>
                <a:latin typeface="Roboto" pitchFamily="34" charset="0"/>
                <a:ea typeface="Roboto" pitchFamily="34" charset="-122"/>
                <a:cs typeface="Roboto" pitchFamily="34" charset="-120"/>
              </a:rPr>
              <a:t>Formatos, estructuras y herramientas de conversión para el manejo de secuencias moleculares</a:t>
            </a:r>
            <a:endParaRPr lang="en-US" sz="1300" dirty="0"/>
          </a:p>
        </p:txBody>
      </p:sp>
      <p:sp>
        <p:nvSpPr>
          <p:cNvPr id="4" name="Shape 2"/>
          <p:cNvSpPr/>
          <p:nvPr/>
        </p:nvSpPr>
        <p:spPr>
          <a:xfrm>
            <a:off x="661475" y="3462933"/>
            <a:ext cx="3512653" cy="1230213"/>
          </a:xfrm>
          <a:prstGeom prst="roundRect">
            <a:avLst>
              <a:gd name="adj" fmla="val 5647"/>
            </a:avLst>
          </a:prstGeom>
          <a:solidFill>
            <a:srgbClr val="E1E1EA"/>
          </a:solidFill>
          <a:ln w="6350">
            <a:solidFill>
              <a:srgbClr val="C7C7D0"/>
            </a:solidFill>
            <a:prstDash val="solid"/>
          </a:ln>
        </p:spPr>
        <p:txBody>
          <a:bodyPr/>
          <a:lstStyle/>
          <a:p>
            <a:endParaRPr lang="es-MX"/>
          </a:p>
        </p:txBody>
      </p:sp>
      <p:sp>
        <p:nvSpPr>
          <p:cNvPr id="5" name="Text 3"/>
          <p:cNvSpPr/>
          <p:nvPr/>
        </p:nvSpPr>
        <p:spPr>
          <a:xfrm>
            <a:off x="833119" y="3634581"/>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5 Formatos Clave</a:t>
            </a:r>
            <a:endParaRPr lang="en-US" sz="1600" dirty="0"/>
          </a:p>
        </p:txBody>
      </p:sp>
      <p:sp>
        <p:nvSpPr>
          <p:cNvPr id="6" name="Text 4"/>
          <p:cNvSpPr/>
          <p:nvPr/>
        </p:nvSpPr>
        <p:spPr>
          <a:xfrm>
            <a:off x="833119" y="3992265"/>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GenBank, FASTA, CLUSTAL W, PHYLIP y NEXUS</a:t>
            </a:r>
            <a:endParaRPr lang="en-US" sz="1300" dirty="0"/>
          </a:p>
        </p:txBody>
      </p:sp>
      <p:sp>
        <p:nvSpPr>
          <p:cNvPr id="7" name="Shape 5"/>
          <p:cNvSpPr/>
          <p:nvPr/>
        </p:nvSpPr>
        <p:spPr>
          <a:xfrm>
            <a:off x="4339422" y="3462933"/>
            <a:ext cx="3512752" cy="1230213"/>
          </a:xfrm>
          <a:prstGeom prst="roundRect">
            <a:avLst>
              <a:gd name="adj" fmla="val 5647"/>
            </a:avLst>
          </a:prstGeom>
          <a:solidFill>
            <a:srgbClr val="E1E1EA"/>
          </a:solidFill>
          <a:ln w="6350">
            <a:solidFill>
              <a:srgbClr val="C7C7D0"/>
            </a:solidFill>
            <a:prstDash val="solid"/>
          </a:ln>
        </p:spPr>
        <p:txBody>
          <a:bodyPr/>
          <a:lstStyle/>
          <a:p>
            <a:endParaRPr lang="es-MX"/>
          </a:p>
        </p:txBody>
      </p:sp>
      <p:sp>
        <p:nvSpPr>
          <p:cNvPr id="8" name="Text 6"/>
          <p:cNvSpPr/>
          <p:nvPr/>
        </p:nvSpPr>
        <p:spPr>
          <a:xfrm>
            <a:off x="4511066" y="3634581"/>
            <a:ext cx="31694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Fuente Principal</a:t>
            </a:r>
            <a:endParaRPr lang="en-US" sz="1600" dirty="0"/>
          </a:p>
        </p:txBody>
      </p:sp>
      <p:sp>
        <p:nvSpPr>
          <p:cNvPr id="9" name="Text 7"/>
          <p:cNvSpPr/>
          <p:nvPr/>
        </p:nvSpPr>
        <p:spPr>
          <a:xfrm>
            <a:off x="4511066" y="3992265"/>
            <a:ext cx="31694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NCBI — National Center for Biotechnology Information</a:t>
            </a:r>
            <a:endParaRPr lang="en-US" sz="1300" dirty="0"/>
          </a:p>
        </p:txBody>
      </p:sp>
      <p:sp>
        <p:nvSpPr>
          <p:cNvPr id="10" name="Shape 8"/>
          <p:cNvSpPr/>
          <p:nvPr/>
        </p:nvSpPr>
        <p:spPr>
          <a:xfrm>
            <a:off x="8017468" y="3462933"/>
            <a:ext cx="3512653" cy="1230213"/>
          </a:xfrm>
          <a:prstGeom prst="roundRect">
            <a:avLst>
              <a:gd name="adj" fmla="val 5647"/>
            </a:avLst>
          </a:prstGeom>
          <a:solidFill>
            <a:srgbClr val="E1E1EA"/>
          </a:solidFill>
          <a:ln w="6350">
            <a:solidFill>
              <a:srgbClr val="C7C7D0"/>
            </a:solidFill>
            <a:prstDash val="solid"/>
          </a:ln>
        </p:spPr>
        <p:txBody>
          <a:bodyPr/>
          <a:lstStyle/>
          <a:p>
            <a:endParaRPr lang="es-MX"/>
          </a:p>
        </p:txBody>
      </p:sp>
      <p:sp>
        <p:nvSpPr>
          <p:cNvPr id="11" name="Text 9"/>
          <p:cNvSpPr/>
          <p:nvPr/>
        </p:nvSpPr>
        <p:spPr>
          <a:xfrm>
            <a:off x="8189112" y="3634581"/>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Aplicación</a:t>
            </a:r>
            <a:endParaRPr lang="en-US" sz="1600" dirty="0"/>
          </a:p>
        </p:txBody>
      </p:sp>
      <p:sp>
        <p:nvSpPr>
          <p:cNvPr id="12" name="Text 10"/>
          <p:cNvSpPr/>
          <p:nvPr/>
        </p:nvSpPr>
        <p:spPr>
          <a:xfrm>
            <a:off x="8189112" y="3992265"/>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Filogenia, alineamiento y análisis de secuencias moleculares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778794"/>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Objetivo</a:t>
            </a:r>
            <a:endParaRPr lang="en-US" sz="3250" dirty="0"/>
          </a:p>
        </p:txBody>
      </p:sp>
      <p:sp>
        <p:nvSpPr>
          <p:cNvPr id="3" name="Text 1"/>
          <p:cNvSpPr/>
          <p:nvPr/>
        </p:nvSpPr>
        <p:spPr>
          <a:xfrm>
            <a:off x="661475" y="2626221"/>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Conocer los diferentes tipos de archivos que se manejan en los análisis bioinformáticos, así como utilizar recursos para su transformación entre formatos.</a:t>
            </a:r>
            <a:endParaRPr lang="en-US" sz="1300" dirty="0"/>
          </a:p>
        </p:txBody>
      </p:sp>
      <p:sp>
        <p:nvSpPr>
          <p:cNvPr id="4" name="Shape 2"/>
          <p:cNvSpPr/>
          <p:nvPr/>
        </p:nvSpPr>
        <p:spPr>
          <a:xfrm>
            <a:off x="661475" y="3341489"/>
            <a:ext cx="372061" cy="372070"/>
          </a:xfrm>
          <a:prstGeom prst="roundRect">
            <a:avLst>
              <a:gd name="adj" fmla="val 18670"/>
            </a:avLst>
          </a:prstGeom>
          <a:solidFill>
            <a:srgbClr val="E1E1EA"/>
          </a:solidFill>
          <a:ln w="6350">
            <a:solidFill>
              <a:srgbClr val="C7C7D0"/>
            </a:solidFill>
            <a:prstDash val="solid"/>
          </a:ln>
        </p:spPr>
        <p:txBody>
          <a:bodyPr/>
          <a:lstStyle/>
          <a:p>
            <a:endParaRPr lang="es-MX"/>
          </a:p>
        </p:txBody>
      </p:sp>
      <p:sp>
        <p:nvSpPr>
          <p:cNvPr id="5" name="Text 3"/>
          <p:cNvSpPr/>
          <p:nvPr/>
        </p:nvSpPr>
        <p:spPr>
          <a:xfrm>
            <a:off x="723485" y="3372495"/>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3C3939"/>
                </a:solidFill>
                <a:latin typeface="Raleway" pitchFamily="34" charset="0"/>
                <a:ea typeface="Raleway" pitchFamily="34" charset="-122"/>
                <a:cs typeface="Raleway" pitchFamily="34" charset="-120"/>
              </a:rPr>
              <a:t>1</a:t>
            </a:r>
            <a:endParaRPr lang="en-US" sz="1950" dirty="0"/>
          </a:p>
        </p:txBody>
      </p:sp>
      <p:sp>
        <p:nvSpPr>
          <p:cNvPr id="6" name="Text 4"/>
          <p:cNvSpPr/>
          <p:nvPr/>
        </p:nvSpPr>
        <p:spPr>
          <a:xfrm>
            <a:off x="1198830" y="3398341"/>
            <a:ext cx="2947715"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Identificar formatos</a:t>
            </a:r>
            <a:endParaRPr lang="en-US" sz="1600" dirty="0"/>
          </a:p>
        </p:txBody>
      </p:sp>
      <p:sp>
        <p:nvSpPr>
          <p:cNvPr id="7" name="Text 5"/>
          <p:cNvSpPr/>
          <p:nvPr/>
        </p:nvSpPr>
        <p:spPr>
          <a:xfrm>
            <a:off x="1198830" y="3756025"/>
            <a:ext cx="2947715"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Reconocer las características estructurales y funcionales de cada tipo de archivo utilizado en bioinformática: GenBank, FASTA, CLUSTAL W, PHYLIP y NEXUS.</a:t>
            </a:r>
            <a:endParaRPr lang="en-US" sz="1300" dirty="0"/>
          </a:p>
        </p:txBody>
      </p:sp>
      <p:sp>
        <p:nvSpPr>
          <p:cNvPr id="8" name="Shape 6"/>
          <p:cNvSpPr/>
          <p:nvPr/>
        </p:nvSpPr>
        <p:spPr>
          <a:xfrm>
            <a:off x="4353213" y="3341489"/>
            <a:ext cx="372061" cy="372070"/>
          </a:xfrm>
          <a:prstGeom prst="roundRect">
            <a:avLst>
              <a:gd name="adj" fmla="val 18670"/>
            </a:avLst>
          </a:prstGeom>
          <a:solidFill>
            <a:srgbClr val="E1E1EA"/>
          </a:solidFill>
          <a:ln w="6350">
            <a:solidFill>
              <a:srgbClr val="C7C7D0"/>
            </a:solidFill>
            <a:prstDash val="solid"/>
          </a:ln>
        </p:spPr>
        <p:txBody>
          <a:bodyPr/>
          <a:lstStyle/>
          <a:p>
            <a:endParaRPr lang="es-MX"/>
          </a:p>
        </p:txBody>
      </p:sp>
      <p:sp>
        <p:nvSpPr>
          <p:cNvPr id="9" name="Text 7"/>
          <p:cNvSpPr/>
          <p:nvPr/>
        </p:nvSpPr>
        <p:spPr>
          <a:xfrm>
            <a:off x="4415223" y="3372495"/>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3C3939"/>
                </a:solidFill>
                <a:latin typeface="Raleway" pitchFamily="34" charset="0"/>
                <a:ea typeface="Raleway" pitchFamily="34" charset="-122"/>
                <a:cs typeface="Raleway" pitchFamily="34" charset="-120"/>
              </a:rPr>
              <a:t>2</a:t>
            </a:r>
            <a:endParaRPr lang="en-US" sz="1950" dirty="0"/>
          </a:p>
        </p:txBody>
      </p:sp>
      <p:sp>
        <p:nvSpPr>
          <p:cNvPr id="10" name="Text 8"/>
          <p:cNvSpPr/>
          <p:nvPr/>
        </p:nvSpPr>
        <p:spPr>
          <a:xfrm>
            <a:off x="4890568" y="3398341"/>
            <a:ext cx="2947815"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Comprender su uso</a:t>
            </a:r>
            <a:endParaRPr lang="en-US" sz="1600" dirty="0"/>
          </a:p>
        </p:txBody>
      </p:sp>
      <p:sp>
        <p:nvSpPr>
          <p:cNvPr id="11" name="Text 9"/>
          <p:cNvSpPr/>
          <p:nvPr/>
        </p:nvSpPr>
        <p:spPr>
          <a:xfrm>
            <a:off x="4890568" y="3756025"/>
            <a:ext cx="2947815"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Entender qué programas y análisis requieren cada formato, y cuándo es necesario convertir entre ellos para garantizar compatibilidad.</a:t>
            </a:r>
            <a:endParaRPr lang="en-US" sz="1300" dirty="0"/>
          </a:p>
        </p:txBody>
      </p:sp>
      <p:sp>
        <p:nvSpPr>
          <p:cNvPr id="12" name="Shape 10"/>
          <p:cNvSpPr/>
          <p:nvPr/>
        </p:nvSpPr>
        <p:spPr>
          <a:xfrm>
            <a:off x="8045050" y="3341489"/>
            <a:ext cx="372061" cy="372070"/>
          </a:xfrm>
          <a:prstGeom prst="roundRect">
            <a:avLst>
              <a:gd name="adj" fmla="val 18670"/>
            </a:avLst>
          </a:prstGeom>
          <a:solidFill>
            <a:srgbClr val="E1E1EA"/>
          </a:solidFill>
          <a:ln w="6350">
            <a:solidFill>
              <a:srgbClr val="C7C7D0"/>
            </a:solidFill>
            <a:prstDash val="solid"/>
          </a:ln>
        </p:spPr>
        <p:txBody>
          <a:bodyPr/>
          <a:lstStyle/>
          <a:p>
            <a:endParaRPr lang="es-MX"/>
          </a:p>
        </p:txBody>
      </p:sp>
      <p:sp>
        <p:nvSpPr>
          <p:cNvPr id="13" name="Text 11"/>
          <p:cNvSpPr/>
          <p:nvPr/>
        </p:nvSpPr>
        <p:spPr>
          <a:xfrm>
            <a:off x="8107060" y="3372495"/>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3C3939"/>
                </a:solidFill>
                <a:latin typeface="Raleway" pitchFamily="34" charset="0"/>
                <a:ea typeface="Raleway" pitchFamily="34" charset="-122"/>
                <a:cs typeface="Raleway" pitchFamily="34" charset="-120"/>
              </a:rPr>
              <a:t>3</a:t>
            </a:r>
            <a:endParaRPr lang="en-US" sz="1950" dirty="0"/>
          </a:p>
        </p:txBody>
      </p:sp>
      <p:sp>
        <p:nvSpPr>
          <p:cNvPr id="14" name="Text 12"/>
          <p:cNvSpPr/>
          <p:nvPr/>
        </p:nvSpPr>
        <p:spPr>
          <a:xfrm>
            <a:off x="8582406" y="3398341"/>
            <a:ext cx="2947815"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Aplicar herramientas de conversión</a:t>
            </a:r>
            <a:endParaRPr lang="en-US" sz="1600" dirty="0"/>
          </a:p>
        </p:txBody>
      </p:sp>
      <p:sp>
        <p:nvSpPr>
          <p:cNvPr id="15" name="Text 13"/>
          <p:cNvSpPr/>
          <p:nvPr/>
        </p:nvSpPr>
        <p:spPr>
          <a:xfrm>
            <a:off x="8582406" y="4014490"/>
            <a:ext cx="2947815"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Utilizar recursos en línea de acceso libre para transformar matrices entre formatos, respetando los requisitos de alineación y edición de nombres.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32222"/>
            <a:ext cx="10868745"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El Centro Nacional para la Información Biotecnológica (NCBI)</a:t>
            </a:r>
            <a:endParaRPr lang="en-US" sz="3250" dirty="0"/>
          </a:p>
        </p:txBody>
      </p:sp>
      <p:sp>
        <p:nvSpPr>
          <p:cNvPr id="3" name="Shape 1"/>
          <p:cNvSpPr/>
          <p:nvPr/>
        </p:nvSpPr>
        <p:spPr>
          <a:xfrm>
            <a:off x="542415" y="1913731"/>
            <a:ext cx="5470785" cy="4311948"/>
          </a:xfrm>
          <a:prstGeom prst="roundRect">
            <a:avLst>
              <a:gd name="adj" fmla="val 2762"/>
            </a:avLst>
          </a:prstGeom>
          <a:solidFill>
            <a:srgbClr val="1B1B27">
              <a:alpha val="95000"/>
            </a:srgbClr>
          </a:solidFill>
          <a:ln/>
        </p:spPr>
        <p:txBody>
          <a:bodyPr/>
          <a:lstStyle/>
          <a:p>
            <a:endParaRPr lang="es-MX"/>
          </a:p>
        </p:txBody>
      </p:sp>
      <p:sp>
        <p:nvSpPr>
          <p:cNvPr id="4" name="Text 2"/>
          <p:cNvSpPr/>
          <p:nvPr/>
        </p:nvSpPr>
        <p:spPr>
          <a:xfrm>
            <a:off x="707710" y="2079030"/>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¿Qué es el NCBI?</a:t>
            </a:r>
            <a:endParaRPr lang="en-US" sz="1600" dirty="0"/>
          </a:p>
        </p:txBody>
      </p:sp>
      <p:sp>
        <p:nvSpPr>
          <p:cNvPr id="5" name="Text 3"/>
          <p:cNvSpPr/>
          <p:nvPr/>
        </p:nvSpPr>
        <p:spPr>
          <a:xfrm>
            <a:off x="707710" y="2502793"/>
            <a:ext cx="5140196"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El Centro Nacional para la Información Biotecnológica (National Center for Biotechnology Information — NCBI) es un gestor de bases de datos relacionado con información sobre biología molecular. Constituye la principal fuente de acceso a secuencias genéticas a nivel mundial.</a:t>
            </a:r>
            <a:endParaRPr lang="en-US" sz="1300" dirty="0"/>
          </a:p>
        </p:txBody>
      </p:sp>
      <p:sp>
        <p:nvSpPr>
          <p:cNvPr id="6" name="Text 4"/>
          <p:cNvSpPr/>
          <p:nvPr/>
        </p:nvSpPr>
        <p:spPr>
          <a:xfrm>
            <a:off x="707710" y="3991173"/>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Acceso a datos originales</a:t>
            </a:r>
            <a:endParaRPr lang="en-US" sz="1600" dirty="0"/>
          </a:p>
        </p:txBody>
      </p:sp>
      <p:sp>
        <p:nvSpPr>
          <p:cNvPr id="7" name="Text 5"/>
          <p:cNvSpPr/>
          <p:nvPr/>
        </p:nvSpPr>
        <p:spPr>
          <a:xfrm>
            <a:off x="707710" y="4414937"/>
            <a:ext cx="514019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El NCBI ofrece acceso libre a datos originales, lo que permite a investigadores y docentes repetir análisis publicados, aumentar muestras existentes o utilizar los recursos con fines educativos.</a:t>
            </a:r>
            <a:endParaRPr lang="en-US" sz="1300" dirty="0"/>
          </a:p>
        </p:txBody>
      </p:sp>
      <p:sp>
        <p:nvSpPr>
          <p:cNvPr id="8" name="Text 6"/>
          <p:cNvSpPr/>
          <p:nvPr/>
        </p:nvSpPr>
        <p:spPr>
          <a:xfrm>
            <a:off x="6303904" y="2079030"/>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GenBank</a:t>
            </a:r>
            <a:endParaRPr lang="en-US" sz="1600" dirty="0"/>
          </a:p>
        </p:txBody>
      </p:sp>
      <p:sp>
        <p:nvSpPr>
          <p:cNvPr id="9" name="Text 7"/>
          <p:cNvSpPr/>
          <p:nvPr/>
        </p:nvSpPr>
        <p:spPr>
          <a:xfrm>
            <a:off x="6303904" y="2502793"/>
            <a:ext cx="52326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banco de genes del NCBI alberga secuencias de </a:t>
            </a:r>
            <a:r>
              <a:rPr lang="en-US" sz="1300" b="1" dirty="0">
                <a:solidFill>
                  <a:srgbClr val="3C3939"/>
                </a:solidFill>
                <a:latin typeface="Roboto Bold" pitchFamily="34" charset="0"/>
                <a:ea typeface="Roboto Bold" pitchFamily="34" charset="-122"/>
                <a:cs typeface="Roboto Bold" pitchFamily="34" charset="-120"/>
              </a:rPr>
              <a:t>DNA</a:t>
            </a:r>
            <a:r>
              <a:rPr lang="en-US" sz="1300" dirty="0">
                <a:solidFill>
                  <a:srgbClr val="3C3939"/>
                </a:solidFill>
                <a:latin typeface="Roboto" pitchFamily="34" charset="0"/>
                <a:ea typeface="Roboto" pitchFamily="34" charset="-122"/>
                <a:cs typeface="Roboto" pitchFamily="34" charset="-120"/>
              </a:rPr>
              <a:t>, </a:t>
            </a:r>
            <a:r>
              <a:rPr lang="en-US" sz="1300" b="1" dirty="0">
                <a:solidFill>
                  <a:srgbClr val="3C3939"/>
                </a:solidFill>
                <a:latin typeface="Roboto Bold" pitchFamily="34" charset="0"/>
                <a:ea typeface="Roboto Bold" pitchFamily="34" charset="-122"/>
                <a:cs typeface="Roboto Bold" pitchFamily="34" charset="-120"/>
              </a:rPr>
              <a:t>RNA ribosomal</a:t>
            </a:r>
            <a:r>
              <a:rPr lang="en-US" sz="1300" dirty="0">
                <a:solidFill>
                  <a:srgbClr val="3C3939"/>
                </a:solidFill>
                <a:latin typeface="Roboto" pitchFamily="34" charset="0"/>
                <a:ea typeface="Roboto" pitchFamily="34" charset="-122"/>
                <a:cs typeface="Roboto" pitchFamily="34" charset="-120"/>
              </a:rPr>
              <a:t>, </a:t>
            </a:r>
            <a:r>
              <a:rPr lang="en-US" sz="1300" b="1" dirty="0">
                <a:solidFill>
                  <a:srgbClr val="3C3939"/>
                </a:solidFill>
                <a:latin typeface="Roboto Bold" pitchFamily="34" charset="0"/>
                <a:ea typeface="Roboto Bold" pitchFamily="34" charset="-122"/>
                <a:cs typeface="Roboto Bold" pitchFamily="34" charset="-120"/>
              </a:rPr>
              <a:t>RNA de transferencia</a:t>
            </a:r>
            <a:r>
              <a:rPr lang="en-US" sz="1300" dirty="0">
                <a:solidFill>
                  <a:srgbClr val="3C3939"/>
                </a:solidFill>
                <a:latin typeface="Roboto" pitchFamily="34" charset="0"/>
                <a:ea typeface="Roboto" pitchFamily="34" charset="-122"/>
                <a:cs typeface="Roboto" pitchFamily="34" charset="-120"/>
              </a:rPr>
              <a:t> y </a:t>
            </a:r>
            <a:r>
              <a:rPr lang="en-US" sz="1300" b="1" dirty="0">
                <a:solidFill>
                  <a:srgbClr val="3C3939"/>
                </a:solidFill>
                <a:latin typeface="Roboto Bold" pitchFamily="34" charset="0"/>
                <a:ea typeface="Roboto Bold" pitchFamily="34" charset="-122"/>
                <a:cs typeface="Roboto Bold" pitchFamily="34" charset="-120"/>
              </a:rPr>
              <a:t>genomas completos</a:t>
            </a:r>
            <a:r>
              <a:rPr lang="en-US" sz="1300" dirty="0">
                <a:solidFill>
                  <a:srgbClr val="3C3939"/>
                </a:solidFill>
                <a:latin typeface="Roboto" pitchFamily="34" charset="0"/>
                <a:ea typeface="Roboto" pitchFamily="34" charset="-122"/>
                <a:cs typeface="Roboto" pitchFamily="34" charset="-120"/>
              </a:rPr>
              <a:t>. Es el repositorio de referencia para el depósito y consulta de secuencias moleculares.</a:t>
            </a:r>
            <a:endParaRPr lang="en-US" sz="1300" dirty="0"/>
          </a:p>
        </p:txBody>
      </p:sp>
      <p:sp>
        <p:nvSpPr>
          <p:cNvPr id="10" name="Text 8"/>
          <p:cNvSpPr/>
          <p:nvPr/>
        </p:nvSpPr>
        <p:spPr>
          <a:xfrm>
            <a:off x="6303904" y="3726557"/>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Interfaz Entrez Gene</a:t>
            </a:r>
            <a:endParaRPr lang="en-US" sz="1600" dirty="0"/>
          </a:p>
        </p:txBody>
      </p:sp>
      <p:sp>
        <p:nvSpPr>
          <p:cNvPr id="11" name="Text 9"/>
          <p:cNvSpPr/>
          <p:nvPr/>
        </p:nvSpPr>
        <p:spPr>
          <a:xfrm>
            <a:off x="6303904" y="4150320"/>
            <a:ext cx="523266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La interfaz Entrez Gene permite buscar y obtener información detallada de las secuencias depositadas en la base de datos, facilitando la recuperación de registros en múltiples formatos de descarga.</a:t>
            </a:r>
            <a:endParaRPr lang="en-US" sz="1300" dirty="0"/>
          </a:p>
        </p:txBody>
      </p:sp>
      <p:sp>
        <p:nvSpPr>
          <p:cNvPr id="12" name="Shape 10"/>
          <p:cNvSpPr/>
          <p:nvPr/>
        </p:nvSpPr>
        <p:spPr>
          <a:xfrm>
            <a:off x="6303904" y="5130205"/>
            <a:ext cx="5232666" cy="909439"/>
          </a:xfrm>
          <a:prstGeom prst="roundRect">
            <a:avLst>
              <a:gd name="adj" fmla="val 7638"/>
            </a:avLst>
          </a:prstGeom>
          <a:solidFill>
            <a:srgbClr val="E1E1EA"/>
          </a:solidFill>
          <a:ln/>
        </p:spPr>
        <p:txBody>
          <a:bodyPr/>
          <a:lstStyle/>
          <a:p>
            <a:endParaRPr lang="es-MX"/>
          </a:p>
        </p:txBody>
      </p:sp>
      <p:pic>
        <p:nvPicPr>
          <p:cNvPr id="13" name="Image 0" descr="preencoded.png"/>
          <p:cNvPicPr>
            <a:picLocks noChangeAspect="1"/>
          </p:cNvPicPr>
          <p:nvPr/>
        </p:nvPicPr>
        <p:blipFill>
          <a:blip r:embed="rId3"/>
          <a:stretch>
            <a:fillRect/>
          </a:stretch>
        </p:blipFill>
        <p:spPr>
          <a:xfrm>
            <a:off x="6469198" y="5376267"/>
            <a:ext cx="206667" cy="165298"/>
          </a:xfrm>
          <a:prstGeom prst="rect">
            <a:avLst/>
          </a:prstGeom>
        </p:spPr>
      </p:pic>
      <p:sp>
        <p:nvSpPr>
          <p:cNvPr id="14" name="Text 11"/>
          <p:cNvSpPr/>
          <p:nvPr/>
        </p:nvSpPr>
        <p:spPr>
          <a:xfrm>
            <a:off x="6841160" y="5320308"/>
            <a:ext cx="453011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Roboto" pitchFamily="34" charset="0"/>
                <a:ea typeface="Roboto" pitchFamily="34" charset="-122"/>
                <a:cs typeface="Roboto" pitchFamily="34" charset="-120"/>
              </a:rPr>
              <a:t>El acceso libre a los datos del NCBI es fundamental para la reproducibilidad científica y el uso docente en bioinformática.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22921"/>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Formatos de Secuencias: Características Generales</a:t>
            </a:r>
            <a:endParaRPr lang="en-US" sz="3250" dirty="0"/>
          </a:p>
        </p:txBody>
      </p:sp>
      <p:sp>
        <p:nvSpPr>
          <p:cNvPr id="3" name="Text 1"/>
          <p:cNvSpPr/>
          <p:nvPr/>
        </p:nvSpPr>
        <p:spPr>
          <a:xfrm>
            <a:off x="661475" y="2470348"/>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Los archivos de secuencias bioinformáticas pueden visualizarse en procesadores de texto estándar como </a:t>
            </a:r>
            <a:r>
              <a:rPr lang="en-US" sz="1300" b="1" dirty="0">
                <a:solidFill>
                  <a:srgbClr val="3C3939"/>
                </a:solidFill>
                <a:latin typeface="Roboto Bold" pitchFamily="34" charset="0"/>
                <a:ea typeface="Roboto Bold" pitchFamily="34" charset="-122"/>
                <a:cs typeface="Roboto Bold" pitchFamily="34" charset="-120"/>
              </a:rPr>
              <a:t>NotePad</a:t>
            </a:r>
            <a:r>
              <a:rPr lang="en-US" sz="1300" dirty="0">
                <a:solidFill>
                  <a:srgbClr val="3C3939"/>
                </a:solidFill>
                <a:latin typeface="Roboto" pitchFamily="34" charset="0"/>
                <a:ea typeface="Roboto" pitchFamily="34" charset="-122"/>
                <a:cs typeface="Roboto" pitchFamily="34" charset="-120"/>
              </a:rPr>
              <a:t>, </a:t>
            </a:r>
            <a:r>
              <a:rPr lang="en-US" sz="1300" b="1" dirty="0">
                <a:solidFill>
                  <a:srgbClr val="3C3939"/>
                </a:solidFill>
                <a:latin typeface="Roboto Bold" pitchFamily="34" charset="0"/>
                <a:ea typeface="Roboto Bold" pitchFamily="34" charset="-122"/>
                <a:cs typeface="Roboto Bold" pitchFamily="34" charset="-120"/>
              </a:rPr>
              <a:t>NotePad++</a:t>
            </a:r>
            <a:r>
              <a:rPr lang="en-US" sz="1300" dirty="0">
                <a:solidFill>
                  <a:srgbClr val="3C3939"/>
                </a:solidFill>
                <a:latin typeface="Roboto" pitchFamily="34" charset="0"/>
                <a:ea typeface="Roboto" pitchFamily="34" charset="-122"/>
                <a:cs typeface="Roboto" pitchFamily="34" charset="-120"/>
              </a:rPr>
              <a:t> o </a:t>
            </a:r>
            <a:r>
              <a:rPr lang="en-US" sz="1300" b="1" dirty="0">
                <a:solidFill>
                  <a:srgbClr val="3C3939"/>
                </a:solidFill>
                <a:latin typeface="Roboto Bold" pitchFamily="34" charset="0"/>
                <a:ea typeface="Roboto Bold" pitchFamily="34" charset="-122"/>
                <a:cs typeface="Roboto Bold" pitchFamily="34" charset="-120"/>
              </a:rPr>
              <a:t>TextEdit</a:t>
            </a:r>
            <a:r>
              <a:rPr lang="en-US" sz="1300" dirty="0">
                <a:solidFill>
                  <a:srgbClr val="3C3939"/>
                </a:solidFill>
                <a:latin typeface="Roboto" pitchFamily="34" charset="0"/>
                <a:ea typeface="Roboto" pitchFamily="34" charset="-122"/>
                <a:cs typeface="Roboto" pitchFamily="34" charset="-120"/>
              </a:rPr>
              <a:t>. Cada formato tiene características propias que determinan su compatibilidad con distintos programas de análisis.</a:t>
            </a:r>
            <a:endParaRPr lang="en-US" sz="13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185616"/>
            <a:ext cx="3512653" cy="2049463"/>
          </a:xfrm>
          <a:prstGeom prst="rect">
            <a:avLst/>
          </a:prstGeom>
        </p:spPr>
      </p:pic>
      <p:sp>
        <p:nvSpPr>
          <p:cNvPr id="5" name="Text 2"/>
          <p:cNvSpPr/>
          <p:nvPr/>
        </p:nvSpPr>
        <p:spPr>
          <a:xfrm>
            <a:off x="922017" y="3369965"/>
            <a:ext cx="3067767"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Especificidad vs. universalidad</a:t>
            </a:r>
            <a:endParaRPr lang="en-US" sz="1600" dirty="0"/>
          </a:p>
        </p:txBody>
      </p:sp>
      <p:sp>
        <p:nvSpPr>
          <p:cNvPr id="6" name="Text 3"/>
          <p:cNvSpPr/>
          <p:nvPr/>
        </p:nvSpPr>
        <p:spPr>
          <a:xfrm>
            <a:off x="922017" y="3727648"/>
            <a:ext cx="3067767"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Algunos formatos contienen información específica del programa que los generó, mientras que otros son más universales y aceptados por múltiples plataformas de análisis.</a:t>
            </a:r>
            <a:endParaRPr lang="en-US" sz="13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3185616"/>
            <a:ext cx="3512752" cy="2049463"/>
          </a:xfrm>
          <a:prstGeom prst="rect">
            <a:avLst/>
          </a:prstGeom>
        </p:spPr>
      </p:pic>
      <p:sp>
        <p:nvSpPr>
          <p:cNvPr id="8" name="Text 4"/>
          <p:cNvSpPr/>
          <p:nvPr/>
        </p:nvSpPr>
        <p:spPr>
          <a:xfrm>
            <a:off x="4599964" y="3369965"/>
            <a:ext cx="3067866"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Conversión de matrices</a:t>
            </a:r>
            <a:endParaRPr lang="en-US" sz="1600" dirty="0"/>
          </a:p>
        </p:txBody>
      </p:sp>
      <p:sp>
        <p:nvSpPr>
          <p:cNvPr id="9" name="Text 5"/>
          <p:cNvSpPr/>
          <p:nvPr/>
        </p:nvSpPr>
        <p:spPr>
          <a:xfrm>
            <a:off x="4599964" y="3727648"/>
            <a:ext cx="3067866"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La transformación entre formatos se realiza mediante páginas de internet de acceso libre o programas particulares. Es un paso frecuente en flujos de trabajo bioinformáticos.</a:t>
            </a:r>
            <a:endParaRPr lang="en-US" sz="130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17468" y="3185616"/>
            <a:ext cx="3512653" cy="2049463"/>
          </a:xfrm>
          <a:prstGeom prst="rect">
            <a:avLst/>
          </a:prstGeom>
        </p:spPr>
      </p:pic>
      <p:sp>
        <p:nvSpPr>
          <p:cNvPr id="11" name="Text 6"/>
          <p:cNvSpPr/>
          <p:nvPr/>
        </p:nvSpPr>
        <p:spPr>
          <a:xfrm>
            <a:off x="8278010" y="3369965"/>
            <a:ext cx="3067767"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Requisitos de edición</a:t>
            </a:r>
            <a:endParaRPr lang="en-US" sz="1600" dirty="0"/>
          </a:p>
        </p:txBody>
      </p:sp>
      <p:sp>
        <p:nvSpPr>
          <p:cNvPr id="12" name="Text 7"/>
          <p:cNvSpPr/>
          <p:nvPr/>
        </p:nvSpPr>
        <p:spPr>
          <a:xfrm>
            <a:off x="8278010" y="3727648"/>
            <a:ext cx="3067767"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Las secuencias deben estar </a:t>
            </a:r>
            <a:r>
              <a:rPr lang="en-US" sz="1300" b="1" dirty="0">
                <a:solidFill>
                  <a:srgbClr val="3C3939"/>
                </a:solidFill>
                <a:latin typeface="Roboto Bold" pitchFamily="34" charset="0"/>
                <a:ea typeface="Roboto Bold" pitchFamily="34" charset="-122"/>
                <a:cs typeface="Roboto Bold" pitchFamily="34" charset="-120"/>
              </a:rPr>
              <a:t>alineadas</a:t>
            </a:r>
            <a:r>
              <a:rPr lang="en-US" sz="1300" dirty="0">
                <a:solidFill>
                  <a:srgbClr val="3C3939"/>
                </a:solidFill>
                <a:latin typeface="Roboto" pitchFamily="34" charset="0"/>
                <a:ea typeface="Roboto" pitchFamily="34" charset="-122"/>
                <a:cs typeface="Roboto" pitchFamily="34" charset="-120"/>
              </a:rPr>
              <a:t> antes de la conversión. Los nombres deben editarse para que los primeros </a:t>
            </a:r>
            <a:r>
              <a:rPr lang="en-US" sz="1300" b="1" dirty="0">
                <a:solidFill>
                  <a:srgbClr val="3C3939"/>
                </a:solidFill>
                <a:latin typeface="Roboto Bold" pitchFamily="34" charset="0"/>
                <a:ea typeface="Roboto Bold" pitchFamily="34" charset="-122"/>
                <a:cs typeface="Roboto Bold" pitchFamily="34" charset="-120"/>
              </a:rPr>
              <a:t>8 a 16 caracteres</a:t>
            </a:r>
            <a:r>
              <a:rPr lang="en-US" sz="1300" dirty="0">
                <a:solidFill>
                  <a:srgbClr val="3C3939"/>
                </a:solidFill>
                <a:latin typeface="Roboto" pitchFamily="34" charset="0"/>
                <a:ea typeface="Roboto" pitchFamily="34" charset="-122"/>
                <a:cs typeface="Roboto" pitchFamily="34" charset="-120"/>
              </a:rPr>
              <a:t> sean diferentes en cada secuencia, según el programa destino.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65857"/>
            <a:ext cx="10868745" cy="451941"/>
          </a:xfrm>
          <a:prstGeom prst="rect">
            <a:avLst/>
          </a:prstGeom>
          <a:noFill/>
          <a:ln/>
        </p:spPr>
        <p:txBody>
          <a:bodyPr wrap="none" lIns="0" tIns="0" rIns="0" bIns="0" rtlCol="0" anchor="t"/>
          <a:lstStyle/>
          <a:p>
            <a:pPr marL="0" indent="0" algn="l">
              <a:lnSpc>
                <a:spcPct val="104000"/>
              </a:lnSpc>
              <a:buNone/>
            </a:pPr>
            <a:r>
              <a:rPr lang="en-US" sz="2750" dirty="0">
                <a:solidFill>
                  <a:srgbClr val="1B1B27"/>
                </a:solidFill>
                <a:latin typeface="Raleway" pitchFamily="34" charset="0"/>
                <a:ea typeface="Raleway" pitchFamily="34" charset="-122"/>
                <a:cs typeface="Raleway" pitchFamily="34" charset="-120"/>
              </a:rPr>
              <a:t>Formato GenBank </a:t>
            </a:r>
            <a:r>
              <a:rPr lang="en-US" sz="2750" dirty="0">
                <a:solidFill>
                  <a:srgbClr val="3C3939"/>
                </a:solidFill>
                <a:highlight>
                  <a:srgbClr val="F2F2F2"/>
                </a:highlight>
                <a:latin typeface="Consolas" pitchFamily="34" charset="0"/>
                <a:ea typeface="Consolas" pitchFamily="34" charset="-122"/>
                <a:cs typeface="Consolas" pitchFamily="34" charset="-120"/>
              </a:rPr>
              <a:t>(*.gbk)</a:t>
            </a:r>
            <a:endParaRPr lang="en-US" sz="2750" dirty="0"/>
          </a:p>
        </p:txBody>
      </p:sp>
      <p:sp>
        <p:nvSpPr>
          <p:cNvPr id="3" name="Text 1"/>
          <p:cNvSpPr/>
          <p:nvPr/>
        </p:nvSpPr>
        <p:spPr>
          <a:xfrm>
            <a:off x="661475" y="1416447"/>
            <a:ext cx="5823499" cy="219571"/>
          </a:xfrm>
          <a:prstGeom prst="rect">
            <a:avLst/>
          </a:prstGeom>
          <a:noFill/>
          <a:ln/>
        </p:spPr>
        <p:txBody>
          <a:bodyPr wrap="none" lIns="0" tIns="0" rIns="0" bIns="0" rtlCol="0" anchor="t"/>
          <a:lstStyle/>
          <a:p>
            <a:pPr marL="0" indent="0" algn="l">
              <a:lnSpc>
                <a:spcPct val="104000"/>
              </a:lnSpc>
              <a:buNone/>
            </a:pPr>
            <a:r>
              <a:rPr lang="en-US" sz="1350" dirty="0">
                <a:solidFill>
                  <a:srgbClr val="1B1B27"/>
                </a:solidFill>
                <a:latin typeface="Raleway" pitchFamily="34" charset="0"/>
                <a:ea typeface="Raleway" pitchFamily="34" charset="-122"/>
                <a:cs typeface="Raleway" pitchFamily="34" charset="-120"/>
              </a:rPr>
              <a:t>Descripción</a:t>
            </a:r>
            <a:endParaRPr lang="en-US" sz="1350" dirty="0"/>
          </a:p>
        </p:txBody>
      </p:sp>
      <p:sp>
        <p:nvSpPr>
          <p:cNvPr id="4" name="Text 2"/>
          <p:cNvSpPr/>
          <p:nvPr/>
        </p:nvSpPr>
        <p:spPr>
          <a:xfrm>
            <a:off x="661475" y="1755477"/>
            <a:ext cx="5823499" cy="624185"/>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3C3939"/>
                </a:solidFill>
                <a:latin typeface="Roboto" pitchFamily="34" charset="0"/>
                <a:ea typeface="Roboto" pitchFamily="34" charset="-122"/>
                <a:cs typeface="Roboto" pitchFamily="34" charset="-120"/>
              </a:rPr>
              <a:t>El formato GenBank se usa en los informes de secuencias tanto de nucleótidos como de aminoácidos almacenados en el GenBank. Suministra al usuario la mayor información posible, proporcionada por los depositadores, sobre la secuencia registrada.</a:t>
            </a:r>
            <a:endParaRPr lang="en-US" sz="1100" dirty="0"/>
          </a:p>
        </p:txBody>
      </p:sp>
      <p:sp>
        <p:nvSpPr>
          <p:cNvPr id="5" name="Text 3"/>
          <p:cNvSpPr/>
          <p:nvPr/>
        </p:nvSpPr>
        <p:spPr>
          <a:xfrm>
            <a:off x="661475" y="2499122"/>
            <a:ext cx="5823499" cy="219571"/>
          </a:xfrm>
          <a:prstGeom prst="rect">
            <a:avLst/>
          </a:prstGeom>
          <a:noFill/>
          <a:ln/>
        </p:spPr>
        <p:txBody>
          <a:bodyPr wrap="none" lIns="0" tIns="0" rIns="0" bIns="0" rtlCol="0" anchor="t"/>
          <a:lstStyle/>
          <a:p>
            <a:pPr marL="0" indent="0" algn="l">
              <a:lnSpc>
                <a:spcPct val="104000"/>
              </a:lnSpc>
              <a:buNone/>
            </a:pPr>
            <a:r>
              <a:rPr lang="en-US" sz="1350" dirty="0">
                <a:solidFill>
                  <a:srgbClr val="1B1B27"/>
                </a:solidFill>
                <a:latin typeface="Raleway" pitchFamily="34" charset="0"/>
                <a:ea typeface="Raleway" pitchFamily="34" charset="-122"/>
                <a:cs typeface="Raleway" pitchFamily="34" charset="-120"/>
              </a:rPr>
              <a:t>Contenido del registro</a:t>
            </a:r>
            <a:endParaRPr lang="en-US" sz="1350" dirty="0"/>
          </a:p>
        </p:txBody>
      </p:sp>
      <p:sp>
        <p:nvSpPr>
          <p:cNvPr id="6" name="Text 4"/>
          <p:cNvSpPr/>
          <p:nvPr/>
        </p:nvSpPr>
        <p:spPr>
          <a:xfrm>
            <a:off x="661475" y="2838152"/>
            <a:ext cx="5823499" cy="624185"/>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3C3939"/>
                </a:solidFill>
                <a:latin typeface="Roboto" pitchFamily="34" charset="0"/>
                <a:ea typeface="Roboto" pitchFamily="34" charset="-122"/>
                <a:cs typeface="Roboto" pitchFamily="34" charset="-120"/>
              </a:rPr>
              <a:t>Un archivo GenBank típico incluye metadatos extensos: identificador de acceso, organismo fuente, autores, publicación asociada, anotaciones funcionales y la secuencia completa al final del registro. Es el formato más informativo de todos los disponibles.</a:t>
            </a:r>
            <a:endParaRPr lang="en-US" sz="1100" dirty="0"/>
          </a:p>
        </p:txBody>
      </p:sp>
      <p:sp>
        <p:nvSpPr>
          <p:cNvPr id="7" name="Text 5"/>
          <p:cNvSpPr/>
          <p:nvPr/>
        </p:nvSpPr>
        <p:spPr>
          <a:xfrm>
            <a:off x="661475" y="3581797"/>
            <a:ext cx="5823499" cy="219571"/>
          </a:xfrm>
          <a:prstGeom prst="rect">
            <a:avLst/>
          </a:prstGeom>
          <a:noFill/>
          <a:ln/>
        </p:spPr>
        <p:txBody>
          <a:bodyPr wrap="none" lIns="0" tIns="0" rIns="0" bIns="0" rtlCol="0" anchor="t"/>
          <a:lstStyle/>
          <a:p>
            <a:pPr marL="0" indent="0" algn="l">
              <a:lnSpc>
                <a:spcPct val="104000"/>
              </a:lnSpc>
              <a:buNone/>
            </a:pPr>
            <a:r>
              <a:rPr lang="en-US" sz="1350" dirty="0">
                <a:solidFill>
                  <a:srgbClr val="1B1B27"/>
                </a:solidFill>
                <a:latin typeface="Raleway" pitchFamily="34" charset="0"/>
                <a:ea typeface="Raleway" pitchFamily="34" charset="-122"/>
                <a:cs typeface="Raleway" pitchFamily="34" charset="-120"/>
              </a:rPr>
              <a:t>Transformación a FASTA</a:t>
            </a:r>
            <a:endParaRPr lang="en-US" sz="1350" dirty="0"/>
          </a:p>
        </p:txBody>
      </p:sp>
      <p:sp>
        <p:nvSpPr>
          <p:cNvPr id="8" name="Text 6"/>
          <p:cNvSpPr/>
          <p:nvPr/>
        </p:nvSpPr>
        <p:spPr>
          <a:xfrm>
            <a:off x="661475" y="3920827"/>
            <a:ext cx="5823499"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3C3939"/>
                </a:solidFill>
                <a:latin typeface="Roboto" pitchFamily="34" charset="0"/>
                <a:ea typeface="Roboto" pitchFamily="34" charset="-122"/>
                <a:cs typeface="Roboto" pitchFamily="34" charset="-120"/>
              </a:rPr>
              <a:t>Dado su nivel de detalle, el formato GenBank puede transformarse a formato FASTA para una lectura más sencilla y para su uso en programas que no requieren los metadatos adicionales.</a:t>
            </a:r>
            <a:endParaRPr lang="en-US" sz="1100" dirty="0"/>
          </a:p>
        </p:txBody>
      </p:sp>
      <p:sp>
        <p:nvSpPr>
          <p:cNvPr id="9" name="Shape 7"/>
          <p:cNvSpPr/>
          <p:nvPr/>
        </p:nvSpPr>
        <p:spPr>
          <a:xfrm>
            <a:off x="6733014" y="1296988"/>
            <a:ext cx="4904657" cy="4895155"/>
          </a:xfrm>
          <a:prstGeom prst="roundRect">
            <a:avLst>
              <a:gd name="adj" fmla="val 2068"/>
            </a:avLst>
          </a:prstGeom>
          <a:solidFill>
            <a:srgbClr val="1B1B27">
              <a:alpha val="95000"/>
            </a:srgbClr>
          </a:solidFill>
          <a:ln/>
        </p:spPr>
        <p:txBody>
          <a:bodyPr/>
          <a:lstStyle/>
          <a:p>
            <a:endParaRPr lang="es-MX"/>
          </a:p>
        </p:txBody>
      </p:sp>
      <p:sp>
        <p:nvSpPr>
          <p:cNvPr id="10" name="Text 8"/>
          <p:cNvSpPr/>
          <p:nvPr/>
        </p:nvSpPr>
        <p:spPr>
          <a:xfrm>
            <a:off x="6873505" y="1416447"/>
            <a:ext cx="4623677" cy="219571"/>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aleway" pitchFamily="34" charset="0"/>
                <a:ea typeface="Raleway" pitchFamily="34" charset="-122"/>
                <a:cs typeface="Raleway" pitchFamily="34" charset="-120"/>
              </a:rPr>
              <a:t>Características clave</a:t>
            </a:r>
            <a:endParaRPr lang="en-US" sz="1350" dirty="0"/>
          </a:p>
        </p:txBody>
      </p:sp>
      <p:sp>
        <p:nvSpPr>
          <p:cNvPr id="11" name="Text 9"/>
          <p:cNvSpPr/>
          <p:nvPr/>
        </p:nvSpPr>
        <p:spPr>
          <a:xfrm>
            <a:off x="6873505" y="1770360"/>
            <a:ext cx="281080" cy="175716"/>
          </a:xfrm>
          <a:prstGeom prst="rect">
            <a:avLst/>
          </a:prstGeom>
          <a:noFill/>
          <a:ln/>
        </p:spPr>
        <p:txBody>
          <a:bodyPr wrap="none" lIns="0" tIns="0" rIns="0" bIns="0" rtlCol="0" anchor="ctr"/>
          <a:lstStyle/>
          <a:p>
            <a:pPr marL="0" indent="0" algn="l">
              <a:lnSpc>
                <a:spcPct val="100000"/>
              </a:lnSpc>
              <a:buNone/>
            </a:pPr>
            <a:r>
              <a:rPr lang="en-US" sz="1100" dirty="0">
                <a:solidFill>
                  <a:srgbClr val="FFFFFF"/>
                </a:solidFill>
                <a:latin typeface="Raleway Light" pitchFamily="34" charset="0"/>
                <a:ea typeface="Raleway Light" pitchFamily="34" charset="-122"/>
                <a:cs typeface="Raleway Light" pitchFamily="34" charset="-120"/>
              </a:rPr>
              <a:t>01</a:t>
            </a:r>
            <a:endParaRPr lang="en-US" sz="1100" dirty="0"/>
          </a:p>
        </p:txBody>
      </p:sp>
      <p:sp>
        <p:nvSpPr>
          <p:cNvPr id="12" name="Shape 10"/>
          <p:cNvSpPr/>
          <p:nvPr/>
        </p:nvSpPr>
        <p:spPr>
          <a:xfrm>
            <a:off x="6873505" y="1990229"/>
            <a:ext cx="4623677" cy="19050"/>
          </a:xfrm>
          <a:prstGeom prst="rect">
            <a:avLst/>
          </a:prstGeom>
          <a:solidFill>
            <a:srgbClr val="1B1B27"/>
          </a:solidFill>
          <a:ln/>
        </p:spPr>
        <p:txBody>
          <a:bodyPr/>
          <a:lstStyle/>
          <a:p>
            <a:endParaRPr lang="es-MX"/>
          </a:p>
        </p:txBody>
      </p:sp>
      <p:sp>
        <p:nvSpPr>
          <p:cNvPr id="13" name="Text 11"/>
          <p:cNvSpPr/>
          <p:nvPr/>
        </p:nvSpPr>
        <p:spPr>
          <a:xfrm>
            <a:off x="6873505" y="2098576"/>
            <a:ext cx="4623677" cy="219571"/>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aleway" pitchFamily="34" charset="0"/>
                <a:ea typeface="Raleway" pitchFamily="34" charset="-122"/>
                <a:cs typeface="Raleway" pitchFamily="34" charset="-120"/>
              </a:rPr>
              <a:t>Extensión</a:t>
            </a:r>
            <a:endParaRPr lang="en-US" sz="1350" dirty="0"/>
          </a:p>
        </p:txBody>
      </p:sp>
      <p:sp>
        <p:nvSpPr>
          <p:cNvPr id="14" name="Text 12"/>
          <p:cNvSpPr/>
          <p:nvPr/>
        </p:nvSpPr>
        <p:spPr>
          <a:xfrm>
            <a:off x="6873505" y="2437606"/>
            <a:ext cx="4623677" cy="214412"/>
          </a:xfrm>
          <a:prstGeom prst="rect">
            <a:avLst/>
          </a:prstGeom>
          <a:noFill/>
          <a:ln/>
        </p:spPr>
        <p:txBody>
          <a:bodyPr wrap="none" lIns="0" tIns="0" rIns="0" bIns="0" rtlCol="0" anchor="t"/>
          <a:lstStyle/>
          <a:p>
            <a:pPr marL="0" indent="0" algn="l">
              <a:lnSpc>
                <a:spcPct val="123000"/>
              </a:lnSpc>
              <a:buNone/>
            </a:pPr>
            <a:r>
              <a:rPr lang="en-US" sz="1100" dirty="0">
                <a:solidFill>
                  <a:srgbClr val="FFFFFF"/>
                </a:solidFill>
                <a:highlight>
                  <a:srgbClr val="282834"/>
                </a:highlight>
                <a:latin typeface="Consolas" pitchFamily="34" charset="0"/>
                <a:ea typeface="Consolas" pitchFamily="34" charset="-122"/>
                <a:cs typeface="Consolas" pitchFamily="34" charset="-120"/>
              </a:rPr>
              <a:t>*.gbk</a:t>
            </a:r>
            <a:r>
              <a:rPr lang="en-US" sz="1100" dirty="0">
                <a:solidFill>
                  <a:srgbClr val="FFFFFF"/>
                </a:solidFill>
                <a:latin typeface="Roboto" pitchFamily="34" charset="0"/>
                <a:ea typeface="Roboto" pitchFamily="34" charset="-122"/>
                <a:cs typeface="Roboto" pitchFamily="34" charset="-120"/>
              </a:rPr>
              <a:t> — descargable directamente desde NCBI</a:t>
            </a:r>
            <a:endParaRPr lang="en-US" sz="1100" dirty="0"/>
          </a:p>
        </p:txBody>
      </p:sp>
      <p:sp>
        <p:nvSpPr>
          <p:cNvPr id="15" name="Text 13"/>
          <p:cNvSpPr/>
          <p:nvPr/>
        </p:nvSpPr>
        <p:spPr>
          <a:xfrm>
            <a:off x="6873505" y="2876848"/>
            <a:ext cx="281080" cy="175716"/>
          </a:xfrm>
          <a:prstGeom prst="rect">
            <a:avLst/>
          </a:prstGeom>
          <a:noFill/>
          <a:ln/>
        </p:spPr>
        <p:txBody>
          <a:bodyPr wrap="none" lIns="0" tIns="0" rIns="0" bIns="0" rtlCol="0" anchor="ctr"/>
          <a:lstStyle/>
          <a:p>
            <a:pPr marL="0" indent="0" algn="l">
              <a:lnSpc>
                <a:spcPct val="100000"/>
              </a:lnSpc>
              <a:buNone/>
            </a:pPr>
            <a:r>
              <a:rPr lang="en-US" sz="1100" dirty="0">
                <a:solidFill>
                  <a:srgbClr val="FFFFFF"/>
                </a:solidFill>
                <a:latin typeface="Raleway Light" pitchFamily="34" charset="0"/>
                <a:ea typeface="Raleway Light" pitchFamily="34" charset="-122"/>
                <a:cs typeface="Raleway Light" pitchFamily="34" charset="-120"/>
              </a:rPr>
              <a:t>02</a:t>
            </a:r>
            <a:endParaRPr lang="en-US" sz="1100" dirty="0"/>
          </a:p>
        </p:txBody>
      </p:sp>
      <p:sp>
        <p:nvSpPr>
          <p:cNvPr id="16" name="Shape 14"/>
          <p:cNvSpPr/>
          <p:nvPr/>
        </p:nvSpPr>
        <p:spPr>
          <a:xfrm>
            <a:off x="6873505" y="3096716"/>
            <a:ext cx="4623677" cy="19050"/>
          </a:xfrm>
          <a:prstGeom prst="rect">
            <a:avLst/>
          </a:prstGeom>
          <a:solidFill>
            <a:srgbClr val="1B1B27"/>
          </a:solidFill>
          <a:ln/>
        </p:spPr>
        <p:txBody>
          <a:bodyPr/>
          <a:lstStyle/>
          <a:p>
            <a:endParaRPr lang="es-MX"/>
          </a:p>
        </p:txBody>
      </p:sp>
      <p:sp>
        <p:nvSpPr>
          <p:cNvPr id="17" name="Text 15"/>
          <p:cNvSpPr/>
          <p:nvPr/>
        </p:nvSpPr>
        <p:spPr>
          <a:xfrm>
            <a:off x="6873505" y="3205063"/>
            <a:ext cx="4623677" cy="219571"/>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aleway" pitchFamily="34" charset="0"/>
                <a:ea typeface="Raleway" pitchFamily="34" charset="-122"/>
                <a:cs typeface="Raleway" pitchFamily="34" charset="-120"/>
              </a:rPr>
              <a:t>Cobertura</a:t>
            </a:r>
            <a:endParaRPr lang="en-US" sz="1350" dirty="0"/>
          </a:p>
        </p:txBody>
      </p:sp>
      <p:sp>
        <p:nvSpPr>
          <p:cNvPr id="18" name="Text 16"/>
          <p:cNvSpPr/>
          <p:nvPr/>
        </p:nvSpPr>
        <p:spPr>
          <a:xfrm>
            <a:off x="6873505" y="3544094"/>
            <a:ext cx="4623677" cy="208062"/>
          </a:xfrm>
          <a:prstGeom prst="rect">
            <a:avLst/>
          </a:prstGeom>
          <a:noFill/>
          <a:ln/>
        </p:spPr>
        <p:txBody>
          <a:bodyPr wrap="none" lIns="0" tIns="0" rIns="0" bIns="0" rtlCol="0" anchor="t"/>
          <a:lstStyle/>
          <a:p>
            <a:pPr marL="0" indent="0" algn="l">
              <a:lnSpc>
                <a:spcPct val="123000"/>
              </a:lnSpc>
              <a:buNone/>
            </a:pPr>
            <a:r>
              <a:rPr lang="en-US" sz="1100" dirty="0">
                <a:solidFill>
                  <a:srgbClr val="FFFFFF"/>
                </a:solidFill>
                <a:latin typeface="Roboto" pitchFamily="34" charset="0"/>
                <a:ea typeface="Roboto" pitchFamily="34" charset="-122"/>
                <a:cs typeface="Roboto" pitchFamily="34" charset="-120"/>
              </a:rPr>
              <a:t>Nucleótidos y aminoácidos con anotaciones completas</a:t>
            </a:r>
            <a:endParaRPr lang="en-US" sz="1100" dirty="0"/>
          </a:p>
        </p:txBody>
      </p:sp>
      <p:sp>
        <p:nvSpPr>
          <p:cNvPr id="19" name="Text 17"/>
          <p:cNvSpPr/>
          <p:nvPr/>
        </p:nvSpPr>
        <p:spPr>
          <a:xfrm>
            <a:off x="6873505" y="3976985"/>
            <a:ext cx="281080" cy="175716"/>
          </a:xfrm>
          <a:prstGeom prst="rect">
            <a:avLst/>
          </a:prstGeom>
          <a:noFill/>
          <a:ln/>
        </p:spPr>
        <p:txBody>
          <a:bodyPr wrap="none" lIns="0" tIns="0" rIns="0" bIns="0" rtlCol="0" anchor="ctr"/>
          <a:lstStyle/>
          <a:p>
            <a:pPr marL="0" indent="0" algn="l">
              <a:lnSpc>
                <a:spcPct val="100000"/>
              </a:lnSpc>
              <a:buNone/>
            </a:pPr>
            <a:r>
              <a:rPr lang="en-US" sz="1100" dirty="0">
                <a:solidFill>
                  <a:srgbClr val="FFFFFF"/>
                </a:solidFill>
                <a:latin typeface="Raleway Light" pitchFamily="34" charset="0"/>
                <a:ea typeface="Raleway Light" pitchFamily="34" charset="-122"/>
                <a:cs typeface="Raleway Light" pitchFamily="34" charset="-120"/>
              </a:rPr>
              <a:t>03</a:t>
            </a:r>
            <a:endParaRPr lang="en-US" sz="1100" dirty="0"/>
          </a:p>
        </p:txBody>
      </p:sp>
      <p:sp>
        <p:nvSpPr>
          <p:cNvPr id="20" name="Shape 18"/>
          <p:cNvSpPr/>
          <p:nvPr/>
        </p:nvSpPr>
        <p:spPr>
          <a:xfrm>
            <a:off x="6873505" y="4196854"/>
            <a:ext cx="4623677" cy="19050"/>
          </a:xfrm>
          <a:prstGeom prst="rect">
            <a:avLst/>
          </a:prstGeom>
          <a:solidFill>
            <a:srgbClr val="1B1B27"/>
          </a:solidFill>
          <a:ln/>
        </p:spPr>
        <p:txBody>
          <a:bodyPr/>
          <a:lstStyle/>
          <a:p>
            <a:endParaRPr lang="es-MX"/>
          </a:p>
        </p:txBody>
      </p:sp>
      <p:sp>
        <p:nvSpPr>
          <p:cNvPr id="21" name="Text 19"/>
          <p:cNvSpPr/>
          <p:nvPr/>
        </p:nvSpPr>
        <p:spPr>
          <a:xfrm>
            <a:off x="6873505" y="4305201"/>
            <a:ext cx="4623677" cy="219571"/>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aleway" pitchFamily="34" charset="0"/>
                <a:ea typeface="Raleway" pitchFamily="34" charset="-122"/>
                <a:cs typeface="Raleway" pitchFamily="34" charset="-120"/>
              </a:rPr>
              <a:t>Información</a:t>
            </a:r>
            <a:endParaRPr lang="en-US" sz="1350" dirty="0"/>
          </a:p>
        </p:txBody>
      </p:sp>
      <p:sp>
        <p:nvSpPr>
          <p:cNvPr id="22" name="Text 20"/>
          <p:cNvSpPr/>
          <p:nvPr/>
        </p:nvSpPr>
        <p:spPr>
          <a:xfrm>
            <a:off x="6873505" y="4644231"/>
            <a:ext cx="4623677" cy="208062"/>
          </a:xfrm>
          <a:prstGeom prst="rect">
            <a:avLst/>
          </a:prstGeom>
          <a:noFill/>
          <a:ln/>
        </p:spPr>
        <p:txBody>
          <a:bodyPr wrap="none" lIns="0" tIns="0" rIns="0" bIns="0" rtlCol="0" anchor="t"/>
          <a:lstStyle/>
          <a:p>
            <a:pPr marL="0" indent="0" algn="l">
              <a:lnSpc>
                <a:spcPct val="123000"/>
              </a:lnSpc>
              <a:buNone/>
            </a:pPr>
            <a:r>
              <a:rPr lang="en-US" sz="1100" dirty="0">
                <a:solidFill>
                  <a:srgbClr val="FFFFFF"/>
                </a:solidFill>
                <a:latin typeface="Roboto" pitchFamily="34" charset="0"/>
                <a:ea typeface="Roboto" pitchFamily="34" charset="-122"/>
                <a:cs typeface="Roboto" pitchFamily="34" charset="-120"/>
              </a:rPr>
              <a:t>Máxima — incluye datos del depositador, publicación y función</a:t>
            </a:r>
            <a:endParaRPr lang="en-US" sz="1100" dirty="0"/>
          </a:p>
        </p:txBody>
      </p:sp>
      <p:sp>
        <p:nvSpPr>
          <p:cNvPr id="23" name="Text 21"/>
          <p:cNvSpPr/>
          <p:nvPr/>
        </p:nvSpPr>
        <p:spPr>
          <a:xfrm>
            <a:off x="6873505" y="5077123"/>
            <a:ext cx="281080" cy="175716"/>
          </a:xfrm>
          <a:prstGeom prst="rect">
            <a:avLst/>
          </a:prstGeom>
          <a:noFill/>
          <a:ln/>
        </p:spPr>
        <p:txBody>
          <a:bodyPr wrap="none" lIns="0" tIns="0" rIns="0" bIns="0" rtlCol="0" anchor="ctr"/>
          <a:lstStyle/>
          <a:p>
            <a:pPr marL="0" indent="0" algn="l">
              <a:lnSpc>
                <a:spcPct val="100000"/>
              </a:lnSpc>
              <a:buNone/>
            </a:pPr>
            <a:r>
              <a:rPr lang="en-US" sz="1100" dirty="0">
                <a:solidFill>
                  <a:srgbClr val="FFFFFF"/>
                </a:solidFill>
                <a:latin typeface="Raleway Light" pitchFamily="34" charset="0"/>
                <a:ea typeface="Raleway Light" pitchFamily="34" charset="-122"/>
                <a:cs typeface="Raleway Light" pitchFamily="34" charset="-120"/>
              </a:rPr>
              <a:t>04</a:t>
            </a:r>
            <a:endParaRPr lang="en-US" sz="1100" dirty="0"/>
          </a:p>
        </p:txBody>
      </p:sp>
      <p:sp>
        <p:nvSpPr>
          <p:cNvPr id="24" name="Shape 22"/>
          <p:cNvSpPr/>
          <p:nvPr/>
        </p:nvSpPr>
        <p:spPr>
          <a:xfrm>
            <a:off x="6873505" y="5296991"/>
            <a:ext cx="4623677" cy="19050"/>
          </a:xfrm>
          <a:prstGeom prst="rect">
            <a:avLst/>
          </a:prstGeom>
          <a:solidFill>
            <a:srgbClr val="1B1B27"/>
          </a:solidFill>
          <a:ln/>
        </p:spPr>
        <p:txBody>
          <a:bodyPr/>
          <a:lstStyle/>
          <a:p>
            <a:endParaRPr lang="es-MX"/>
          </a:p>
        </p:txBody>
      </p:sp>
      <p:sp>
        <p:nvSpPr>
          <p:cNvPr id="25" name="Text 23"/>
          <p:cNvSpPr/>
          <p:nvPr/>
        </p:nvSpPr>
        <p:spPr>
          <a:xfrm>
            <a:off x="6873505" y="5405338"/>
            <a:ext cx="4623677" cy="219571"/>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aleway" pitchFamily="34" charset="0"/>
                <a:ea typeface="Raleway" pitchFamily="34" charset="-122"/>
                <a:cs typeface="Raleway" pitchFamily="34" charset="-120"/>
              </a:rPr>
              <a:t>Conversión</a:t>
            </a:r>
            <a:endParaRPr lang="en-US" sz="1350" dirty="0"/>
          </a:p>
        </p:txBody>
      </p:sp>
      <p:sp>
        <p:nvSpPr>
          <p:cNvPr id="26" name="Text 24"/>
          <p:cNvSpPr/>
          <p:nvPr/>
        </p:nvSpPr>
        <p:spPr>
          <a:xfrm>
            <a:off x="6873505" y="5744369"/>
            <a:ext cx="4623677" cy="208062"/>
          </a:xfrm>
          <a:prstGeom prst="rect">
            <a:avLst/>
          </a:prstGeom>
          <a:noFill/>
          <a:ln/>
        </p:spPr>
        <p:txBody>
          <a:bodyPr wrap="none" lIns="0" tIns="0" rIns="0" bIns="0" rtlCol="0" anchor="t"/>
          <a:lstStyle/>
          <a:p>
            <a:pPr marL="0" indent="0" algn="l">
              <a:lnSpc>
                <a:spcPct val="123000"/>
              </a:lnSpc>
              <a:buNone/>
            </a:pPr>
            <a:r>
              <a:rPr lang="en-US" sz="1100" dirty="0">
                <a:solidFill>
                  <a:srgbClr val="FFFFFF"/>
                </a:solidFill>
                <a:latin typeface="Roboto" pitchFamily="34" charset="0"/>
                <a:ea typeface="Roboto" pitchFamily="34" charset="-122"/>
                <a:cs typeface="Roboto" pitchFamily="34" charset="-120"/>
              </a:rPr>
              <a:t>Transformable a FASTA para análisis posteriores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980182"/>
            <a:ext cx="10868745" cy="53578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Formato FASTA </a:t>
            </a:r>
            <a:r>
              <a:rPr lang="en-US" sz="3250" dirty="0">
                <a:solidFill>
                  <a:srgbClr val="3C3939"/>
                </a:solidFill>
                <a:highlight>
                  <a:srgbClr val="F2F2F2"/>
                </a:highlight>
                <a:latin typeface="Consolas" pitchFamily="34" charset="0"/>
                <a:ea typeface="Consolas" pitchFamily="34" charset="-122"/>
                <a:cs typeface="Consolas" pitchFamily="34" charset="-120"/>
              </a:rPr>
              <a:t>(*.fas / *.fasta)</a:t>
            </a:r>
            <a:endParaRPr lang="en-US" sz="3250" dirty="0"/>
          </a:p>
        </p:txBody>
      </p:sp>
      <p:sp>
        <p:nvSpPr>
          <p:cNvPr id="3" name="Text 1"/>
          <p:cNvSpPr/>
          <p:nvPr/>
        </p:nvSpPr>
        <p:spPr>
          <a:xfrm>
            <a:off x="661475" y="1846659"/>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formato FASTA es uno de los más empleados en la actualidad por ser un formato sencillo y ampliamente compatible. Su estructura mínima lo hace ideal para el intercambio de secuencias entre plataformas.</a:t>
            </a:r>
            <a:endParaRPr lang="en-US" sz="1300" dirty="0"/>
          </a:p>
        </p:txBody>
      </p:sp>
      <p:sp>
        <p:nvSpPr>
          <p:cNvPr id="4" name="Shape 2"/>
          <p:cNvSpPr/>
          <p:nvPr/>
        </p:nvSpPr>
        <p:spPr>
          <a:xfrm>
            <a:off x="542415" y="2561927"/>
            <a:ext cx="5470785" cy="3315891"/>
          </a:xfrm>
          <a:prstGeom prst="roundRect">
            <a:avLst>
              <a:gd name="adj" fmla="val 3591"/>
            </a:avLst>
          </a:prstGeom>
          <a:solidFill>
            <a:srgbClr val="1B1B27">
              <a:alpha val="95000"/>
            </a:srgbClr>
          </a:solidFill>
          <a:ln/>
        </p:spPr>
        <p:txBody>
          <a:bodyPr/>
          <a:lstStyle/>
          <a:p>
            <a:endParaRPr lang="es-MX"/>
          </a:p>
        </p:txBody>
      </p:sp>
      <p:sp>
        <p:nvSpPr>
          <p:cNvPr id="5" name="Text 3"/>
          <p:cNvSpPr/>
          <p:nvPr/>
        </p:nvSpPr>
        <p:spPr>
          <a:xfrm>
            <a:off x="707710" y="2727226"/>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Estructura del archivo</a:t>
            </a:r>
            <a:endParaRPr lang="en-US" sz="1600" dirty="0"/>
          </a:p>
        </p:txBody>
      </p:sp>
      <p:sp>
        <p:nvSpPr>
          <p:cNvPr id="6" name="Text 4"/>
          <p:cNvSpPr/>
          <p:nvPr/>
        </p:nvSpPr>
        <p:spPr>
          <a:xfrm>
            <a:off x="707710" y="3150989"/>
            <a:ext cx="514019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Está constituido por un </a:t>
            </a:r>
            <a:r>
              <a:rPr lang="en-US" sz="1300" b="1" dirty="0">
                <a:solidFill>
                  <a:srgbClr val="FFFFFF"/>
                </a:solidFill>
                <a:latin typeface="Roboto Bold" pitchFamily="34" charset="0"/>
                <a:ea typeface="Roboto Bold" pitchFamily="34" charset="-122"/>
                <a:cs typeface="Roboto Bold" pitchFamily="34" charset="-120"/>
              </a:rPr>
              <a:t>signo mayor que (&gt;)</a:t>
            </a:r>
            <a:r>
              <a:rPr lang="en-US" sz="1300" dirty="0">
                <a:solidFill>
                  <a:srgbClr val="FFFFFF"/>
                </a:solidFill>
                <a:latin typeface="Roboto" pitchFamily="34" charset="0"/>
                <a:ea typeface="Roboto" pitchFamily="34" charset="-122"/>
                <a:cs typeface="Roboto" pitchFamily="34" charset="-120"/>
              </a:rPr>
              <a:t> seguido del nombre de la especie o gen en la primera línea del archivo. Las líneas posteriores contienen la secuencia de nucleótidos o aminoácidos correspondiente.</a:t>
            </a:r>
            <a:endParaRPr lang="en-US" sz="1300" dirty="0"/>
          </a:p>
        </p:txBody>
      </p:sp>
      <p:sp>
        <p:nvSpPr>
          <p:cNvPr id="7" name="Text 5"/>
          <p:cNvSpPr/>
          <p:nvPr/>
        </p:nvSpPr>
        <p:spPr>
          <a:xfrm>
            <a:off x="707710" y="4374753"/>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Secuencias múltiples</a:t>
            </a:r>
            <a:endParaRPr lang="en-US" sz="1600" dirty="0"/>
          </a:p>
        </p:txBody>
      </p:sp>
      <p:sp>
        <p:nvSpPr>
          <p:cNvPr id="8" name="Text 6"/>
          <p:cNvSpPr/>
          <p:nvPr/>
        </p:nvSpPr>
        <p:spPr>
          <a:xfrm>
            <a:off x="707710" y="4798516"/>
            <a:ext cx="514019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Un mismo archivo FASTA puede incluir múltiples ejemplares, cada uno diferenciado por el símbolo </a:t>
            </a:r>
            <a:r>
              <a:rPr lang="en-US" sz="1300" b="1" dirty="0">
                <a:solidFill>
                  <a:srgbClr val="FFFFFF"/>
                </a:solidFill>
                <a:latin typeface="Roboto Bold" pitchFamily="34" charset="0"/>
                <a:ea typeface="Roboto Bold" pitchFamily="34" charset="-122"/>
                <a:cs typeface="Roboto Bold" pitchFamily="34" charset="-120"/>
              </a:rPr>
              <a:t>&gt;</a:t>
            </a:r>
            <a:r>
              <a:rPr lang="en-US" sz="1300" dirty="0">
                <a:solidFill>
                  <a:srgbClr val="FFFFFF"/>
                </a:solidFill>
                <a:latin typeface="Roboto" pitchFamily="34" charset="0"/>
                <a:ea typeface="Roboto" pitchFamily="34" charset="-122"/>
                <a:cs typeface="Roboto" pitchFamily="34" charset="-120"/>
              </a:rPr>
              <a:t> al inicio de su encabezado. Las secuencias en este formato </a:t>
            </a:r>
            <a:r>
              <a:rPr lang="en-US" sz="1300" b="1" dirty="0">
                <a:solidFill>
                  <a:srgbClr val="FFFFFF"/>
                </a:solidFill>
                <a:latin typeface="Roboto Bold" pitchFamily="34" charset="0"/>
                <a:ea typeface="Roboto Bold" pitchFamily="34" charset="-122"/>
                <a:cs typeface="Roboto Bold" pitchFamily="34" charset="-120"/>
              </a:rPr>
              <a:t>no necesitan estar alineadas</a:t>
            </a:r>
            <a:r>
              <a:rPr lang="en-US" sz="1300" dirty="0">
                <a:solidFill>
                  <a:srgbClr val="FFFFFF"/>
                </a:solidFill>
                <a:latin typeface="Roboto" pitchFamily="34" charset="0"/>
                <a:ea typeface="Roboto" pitchFamily="34" charset="-122"/>
                <a:cs typeface="Roboto" pitchFamily="34" charset="-120"/>
              </a:rPr>
              <a:t> entre sí.</a:t>
            </a:r>
            <a:endParaRPr lang="en-US" sz="1300" dirty="0"/>
          </a:p>
        </p:txBody>
      </p:sp>
      <p:sp>
        <p:nvSpPr>
          <p:cNvPr id="9" name="Text 7"/>
          <p:cNvSpPr/>
          <p:nvPr/>
        </p:nvSpPr>
        <p:spPr>
          <a:xfrm>
            <a:off x="6303904" y="2727226"/>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Recomendaciones de edición</a:t>
            </a:r>
            <a:endParaRPr lang="en-US" sz="1600" dirty="0"/>
          </a:p>
        </p:txBody>
      </p:sp>
      <p:pic>
        <p:nvPicPr>
          <p:cNvPr id="10"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65914" y="3179862"/>
            <a:ext cx="248041" cy="248047"/>
          </a:xfrm>
          <a:prstGeom prst="rect">
            <a:avLst/>
          </a:prstGeom>
        </p:spPr>
      </p:pic>
      <p:sp>
        <p:nvSpPr>
          <p:cNvPr id="11" name="Text 8"/>
          <p:cNvSpPr/>
          <p:nvPr/>
        </p:nvSpPr>
        <p:spPr>
          <a:xfrm>
            <a:off x="6841259" y="3171726"/>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Los primeros </a:t>
            </a:r>
            <a:r>
              <a:rPr lang="en-US" sz="1300" b="1" dirty="0">
                <a:solidFill>
                  <a:srgbClr val="3C3939"/>
                </a:solidFill>
                <a:latin typeface="Roboto Bold" pitchFamily="34" charset="0"/>
                <a:ea typeface="Roboto Bold" pitchFamily="34" charset="-122"/>
                <a:cs typeface="Roboto Bold" pitchFamily="34" charset="-120"/>
              </a:rPr>
              <a:t>8 caracteres</a:t>
            </a:r>
            <a:r>
              <a:rPr lang="en-US" sz="1300" dirty="0">
                <a:solidFill>
                  <a:srgbClr val="3C3939"/>
                </a:solidFill>
                <a:latin typeface="Roboto" pitchFamily="34" charset="0"/>
                <a:ea typeface="Roboto" pitchFamily="34" charset="-122"/>
                <a:cs typeface="Roboto" pitchFamily="34" charset="-120"/>
              </a:rPr>
              <a:t> del nombre de cada secuencia deben ser únicos para evitar conflictos en programas posteriores.</a:t>
            </a:r>
            <a:endParaRPr lang="en-US" sz="1300" dirty="0"/>
          </a:p>
        </p:txBody>
      </p:sp>
      <p:pic>
        <p:nvPicPr>
          <p:cNvPr id="12"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65914" y="4304407"/>
            <a:ext cx="248041" cy="248047"/>
          </a:xfrm>
          <a:prstGeom prst="rect">
            <a:avLst/>
          </a:prstGeom>
        </p:spPr>
      </p:pic>
      <p:sp>
        <p:nvSpPr>
          <p:cNvPr id="13" name="Text 9"/>
          <p:cNvSpPr/>
          <p:nvPr/>
        </p:nvSpPr>
        <p:spPr>
          <a:xfrm>
            <a:off x="6841259" y="4296271"/>
            <a:ext cx="469531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Evitar espacios, tildes y caracteres especiales en los identificadores de secuencia.</a:t>
            </a:r>
            <a:endParaRPr lang="en-US" sz="1300" dirty="0"/>
          </a:p>
        </p:txBody>
      </p:sp>
      <p:pic>
        <p:nvPicPr>
          <p:cNvPr id="14"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65914" y="5164336"/>
            <a:ext cx="248041" cy="248047"/>
          </a:xfrm>
          <a:prstGeom prst="rect">
            <a:avLst/>
          </a:prstGeom>
        </p:spPr>
      </p:pic>
      <p:sp>
        <p:nvSpPr>
          <p:cNvPr id="15" name="Text 10"/>
          <p:cNvSpPr/>
          <p:nvPr/>
        </p:nvSpPr>
        <p:spPr>
          <a:xfrm>
            <a:off x="6841259" y="5156200"/>
            <a:ext cx="4695311" cy="53558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Verificar que el encabezado </a:t>
            </a:r>
            <a:r>
              <a:rPr lang="en-US" sz="1300" dirty="0">
                <a:solidFill>
                  <a:srgbClr val="3C3939"/>
                </a:solidFill>
                <a:highlight>
                  <a:srgbClr val="F2F2F2"/>
                </a:highlight>
                <a:latin typeface="Consolas" pitchFamily="34" charset="0"/>
                <a:ea typeface="Consolas" pitchFamily="34" charset="-122"/>
                <a:cs typeface="Consolas" pitchFamily="34" charset="-120"/>
              </a:rPr>
              <a:t>&gt;</a:t>
            </a:r>
            <a:r>
              <a:rPr lang="en-US" sz="1300" dirty="0">
                <a:solidFill>
                  <a:srgbClr val="3C3939"/>
                </a:solidFill>
                <a:latin typeface="Roboto" pitchFamily="34" charset="0"/>
                <a:ea typeface="Roboto" pitchFamily="34" charset="-122"/>
                <a:cs typeface="Roboto" pitchFamily="34" charset="-120"/>
              </a:rPr>
              <a:t> esté presente en cada secuencia antes de la conversión a otros formatos.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202432"/>
            <a:ext cx="10868745" cy="53578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Formato CLUSTAL W </a:t>
            </a:r>
            <a:r>
              <a:rPr lang="en-US" sz="3250" dirty="0">
                <a:solidFill>
                  <a:srgbClr val="3C3939"/>
                </a:solidFill>
                <a:highlight>
                  <a:srgbClr val="F2F2F2"/>
                </a:highlight>
                <a:latin typeface="Consolas" pitchFamily="34" charset="0"/>
                <a:ea typeface="Consolas" pitchFamily="34" charset="-122"/>
                <a:cs typeface="Consolas" pitchFamily="34" charset="-120"/>
              </a:rPr>
              <a:t>(*.aln)</a:t>
            </a:r>
            <a:endParaRPr lang="en-US" sz="3250" dirty="0"/>
          </a:p>
        </p:txBody>
      </p:sp>
      <p:sp>
        <p:nvSpPr>
          <p:cNvPr id="3" name="Text 1"/>
          <p:cNvSpPr/>
          <p:nvPr/>
        </p:nvSpPr>
        <p:spPr>
          <a:xfrm>
            <a:off x="661475" y="2068909"/>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alineamiento en CLUSTAL W es uno de los muchos formatos para archivos de secuencias alineadas utilizadas por los programas de análisis de secuencias. Es generado por el programa CLUSTAL W tras realizar un alineamiento múltiple.</a:t>
            </a:r>
            <a:endParaRPr lang="en-US" sz="1300" dirty="0"/>
          </a:p>
        </p:txBody>
      </p:sp>
      <p:sp>
        <p:nvSpPr>
          <p:cNvPr id="4" name="Shape 2"/>
          <p:cNvSpPr/>
          <p:nvPr/>
        </p:nvSpPr>
        <p:spPr>
          <a:xfrm>
            <a:off x="661475" y="2784177"/>
            <a:ext cx="3512653" cy="1759446"/>
          </a:xfrm>
          <a:prstGeom prst="roundRect">
            <a:avLst>
              <a:gd name="adj" fmla="val 3948"/>
            </a:avLst>
          </a:prstGeom>
          <a:solidFill>
            <a:srgbClr val="E1E1EA"/>
          </a:solidFill>
          <a:ln w="6350">
            <a:solidFill>
              <a:srgbClr val="C7C7D0"/>
            </a:solidFill>
            <a:prstDash val="solid"/>
          </a:ln>
        </p:spPr>
        <p:txBody>
          <a:bodyPr/>
          <a:lstStyle/>
          <a:p>
            <a:endParaRPr lang="es-MX"/>
          </a:p>
        </p:txBody>
      </p:sp>
      <p:sp>
        <p:nvSpPr>
          <p:cNvPr id="5" name="Text 3"/>
          <p:cNvSpPr/>
          <p:nvPr/>
        </p:nvSpPr>
        <p:spPr>
          <a:xfrm>
            <a:off x="833119" y="2955826"/>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Código de una letra</a:t>
            </a:r>
            <a:endParaRPr lang="en-US" sz="1600" dirty="0"/>
          </a:p>
        </p:txBody>
      </p:sp>
      <p:sp>
        <p:nvSpPr>
          <p:cNvPr id="6" name="Text 4"/>
          <p:cNvSpPr/>
          <p:nvPr/>
        </p:nvSpPr>
        <p:spPr>
          <a:xfrm>
            <a:off x="833119" y="3313509"/>
            <a:ext cx="31693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Tanto nucleótidos como aminoácidos están representados por el </a:t>
            </a:r>
            <a:r>
              <a:rPr lang="en-US" sz="1300" b="1" dirty="0">
                <a:solidFill>
                  <a:srgbClr val="3C3939"/>
                </a:solidFill>
                <a:latin typeface="Roboto Bold" pitchFamily="34" charset="0"/>
                <a:ea typeface="Roboto Bold" pitchFamily="34" charset="-122"/>
                <a:cs typeface="Roboto Bold" pitchFamily="34" charset="-120"/>
              </a:rPr>
              <a:t>código de una letra</a:t>
            </a:r>
            <a:r>
              <a:rPr lang="en-US" sz="1300" dirty="0">
                <a:solidFill>
                  <a:srgbClr val="3C3939"/>
                </a:solidFill>
                <a:latin typeface="Roboto" pitchFamily="34" charset="0"/>
                <a:ea typeface="Roboto" pitchFamily="34" charset="-122"/>
                <a:cs typeface="Roboto" pitchFamily="34" charset="-120"/>
              </a:rPr>
              <a:t>, lo que hace el archivo compacto y legible para los programas de análisis.</a:t>
            </a:r>
            <a:endParaRPr lang="en-US" sz="1300" dirty="0"/>
          </a:p>
        </p:txBody>
      </p:sp>
      <p:sp>
        <p:nvSpPr>
          <p:cNvPr id="7" name="Shape 5"/>
          <p:cNvSpPr/>
          <p:nvPr/>
        </p:nvSpPr>
        <p:spPr>
          <a:xfrm>
            <a:off x="4339422" y="2784177"/>
            <a:ext cx="3512752" cy="1759446"/>
          </a:xfrm>
          <a:prstGeom prst="roundRect">
            <a:avLst>
              <a:gd name="adj" fmla="val 3948"/>
            </a:avLst>
          </a:prstGeom>
          <a:solidFill>
            <a:srgbClr val="E1E1EA"/>
          </a:solidFill>
          <a:ln w="6350">
            <a:solidFill>
              <a:srgbClr val="C7C7D0"/>
            </a:solidFill>
            <a:prstDash val="solid"/>
          </a:ln>
        </p:spPr>
        <p:txBody>
          <a:bodyPr/>
          <a:lstStyle/>
          <a:p>
            <a:endParaRPr lang="es-MX"/>
          </a:p>
        </p:txBody>
      </p:sp>
      <p:sp>
        <p:nvSpPr>
          <p:cNvPr id="8" name="Text 6"/>
          <p:cNvSpPr/>
          <p:nvPr/>
        </p:nvSpPr>
        <p:spPr>
          <a:xfrm>
            <a:off x="4511066" y="2955826"/>
            <a:ext cx="31694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Indicación de gaps</a:t>
            </a:r>
            <a:endParaRPr lang="en-US" sz="1600" dirty="0"/>
          </a:p>
        </p:txBody>
      </p:sp>
      <p:sp>
        <p:nvSpPr>
          <p:cNvPr id="9" name="Text 7"/>
          <p:cNvSpPr/>
          <p:nvPr/>
        </p:nvSpPr>
        <p:spPr>
          <a:xfrm>
            <a:off x="4511066" y="3313509"/>
            <a:ext cx="31694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Los gaps (sitios de inserción/deleción introducidos durante el alineamiento) se indican con un </a:t>
            </a:r>
            <a:r>
              <a:rPr lang="en-US" sz="1300" b="1" dirty="0">
                <a:solidFill>
                  <a:srgbClr val="3C3939"/>
                </a:solidFill>
                <a:latin typeface="Roboto Bold" pitchFamily="34" charset="0"/>
                <a:ea typeface="Roboto Bold" pitchFamily="34" charset="-122"/>
                <a:cs typeface="Roboto Bold" pitchFamily="34" charset="-120"/>
              </a:rPr>
              <a:t>guión (-)</a:t>
            </a:r>
            <a:r>
              <a:rPr lang="en-US" sz="1300" dirty="0">
                <a:solidFill>
                  <a:srgbClr val="3C3939"/>
                </a:solidFill>
                <a:latin typeface="Roboto" pitchFamily="34" charset="0"/>
                <a:ea typeface="Roboto" pitchFamily="34" charset="-122"/>
                <a:cs typeface="Roboto" pitchFamily="34" charset="-120"/>
              </a:rPr>
              <a:t>, convención estándar en bioinformática.</a:t>
            </a:r>
            <a:endParaRPr lang="en-US" sz="1300" dirty="0"/>
          </a:p>
        </p:txBody>
      </p:sp>
      <p:sp>
        <p:nvSpPr>
          <p:cNvPr id="10" name="Shape 8"/>
          <p:cNvSpPr/>
          <p:nvPr/>
        </p:nvSpPr>
        <p:spPr>
          <a:xfrm>
            <a:off x="8017468" y="2784177"/>
            <a:ext cx="3512653" cy="1759446"/>
          </a:xfrm>
          <a:prstGeom prst="roundRect">
            <a:avLst>
              <a:gd name="adj" fmla="val 3948"/>
            </a:avLst>
          </a:prstGeom>
          <a:solidFill>
            <a:srgbClr val="E1E1EA"/>
          </a:solidFill>
          <a:ln w="6350">
            <a:solidFill>
              <a:srgbClr val="C7C7D0"/>
            </a:solidFill>
            <a:prstDash val="solid"/>
          </a:ln>
        </p:spPr>
        <p:txBody>
          <a:bodyPr/>
          <a:lstStyle/>
          <a:p>
            <a:endParaRPr lang="es-MX"/>
          </a:p>
        </p:txBody>
      </p:sp>
      <p:sp>
        <p:nvSpPr>
          <p:cNvPr id="11" name="Text 9"/>
          <p:cNvSpPr/>
          <p:nvPr/>
        </p:nvSpPr>
        <p:spPr>
          <a:xfrm>
            <a:off x="8189112" y="2955826"/>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Renglón de identidad</a:t>
            </a:r>
            <a:endParaRPr lang="en-US" sz="1600" dirty="0"/>
          </a:p>
        </p:txBody>
      </p:sp>
      <p:sp>
        <p:nvSpPr>
          <p:cNvPr id="12" name="Text 10"/>
          <p:cNvSpPr/>
          <p:nvPr/>
        </p:nvSpPr>
        <p:spPr>
          <a:xfrm>
            <a:off x="8189112" y="3313509"/>
            <a:ext cx="31693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Al final de cada bloque de secuencias aparece un renglón extra que indica los </a:t>
            </a:r>
            <a:r>
              <a:rPr lang="en-US" sz="1300" b="1" dirty="0">
                <a:solidFill>
                  <a:srgbClr val="3C3939"/>
                </a:solidFill>
                <a:latin typeface="Roboto Bold" pitchFamily="34" charset="0"/>
                <a:ea typeface="Roboto Bold" pitchFamily="34" charset="-122"/>
                <a:cs typeface="Roboto Bold" pitchFamily="34" charset="-120"/>
              </a:rPr>
              <a:t>sitios idénticos</a:t>
            </a:r>
            <a:r>
              <a:rPr lang="en-US" sz="1300" dirty="0">
                <a:solidFill>
                  <a:srgbClr val="3C3939"/>
                </a:solidFill>
                <a:latin typeface="Roboto" pitchFamily="34" charset="0"/>
                <a:ea typeface="Roboto" pitchFamily="34" charset="-122"/>
                <a:cs typeface="Roboto" pitchFamily="34" charset="-120"/>
              </a:rPr>
              <a:t> entre todas las secuencias mediante un </a:t>
            </a:r>
            <a:r>
              <a:rPr lang="en-US" sz="1300" b="1" dirty="0">
                <a:solidFill>
                  <a:srgbClr val="3C3939"/>
                </a:solidFill>
                <a:latin typeface="Roboto Bold" pitchFamily="34" charset="0"/>
                <a:ea typeface="Roboto Bold" pitchFamily="34" charset="-122"/>
                <a:cs typeface="Roboto Bold" pitchFamily="34" charset="-120"/>
              </a:rPr>
              <a:t>asterisco (*)</a:t>
            </a:r>
            <a:r>
              <a:rPr lang="en-US" sz="1300" dirty="0">
                <a:solidFill>
                  <a:srgbClr val="3C3939"/>
                </a:solidFill>
                <a:latin typeface="Roboto" pitchFamily="34" charset="0"/>
                <a:ea typeface="Roboto" pitchFamily="34" charset="-122"/>
                <a:cs typeface="Roboto" pitchFamily="34" charset="-120"/>
              </a:rPr>
              <a:t>.</a:t>
            </a:r>
            <a:endParaRPr lang="en-US" sz="1300" dirty="0"/>
          </a:p>
        </p:txBody>
      </p:sp>
      <p:sp>
        <p:nvSpPr>
          <p:cNvPr id="13" name="Shape 11"/>
          <p:cNvSpPr/>
          <p:nvPr/>
        </p:nvSpPr>
        <p:spPr>
          <a:xfrm>
            <a:off x="661475" y="4729659"/>
            <a:ext cx="10868745" cy="925909"/>
          </a:xfrm>
          <a:prstGeom prst="roundRect">
            <a:avLst>
              <a:gd name="adj" fmla="val 7502"/>
            </a:avLst>
          </a:prstGeom>
          <a:solidFill>
            <a:srgbClr val="E1E1EA"/>
          </a:solidFill>
          <a:ln/>
        </p:spPr>
        <p:txBody>
          <a:bodyPr/>
          <a:lstStyle/>
          <a:p>
            <a:endParaRPr lang="es-MX"/>
          </a:p>
        </p:txBody>
      </p:sp>
      <p:pic>
        <p:nvPicPr>
          <p:cNvPr id="14" name="Image 0" descr="preencoded.png"/>
          <p:cNvPicPr>
            <a:picLocks noChangeAspect="1"/>
          </p:cNvPicPr>
          <p:nvPr/>
        </p:nvPicPr>
        <p:blipFill>
          <a:blip r:embed="rId3"/>
          <a:stretch>
            <a:fillRect/>
          </a:stretch>
        </p:blipFill>
        <p:spPr>
          <a:xfrm>
            <a:off x="826769" y="4969371"/>
            <a:ext cx="206667" cy="165298"/>
          </a:xfrm>
          <a:prstGeom prst="rect">
            <a:avLst/>
          </a:prstGeom>
        </p:spPr>
      </p:pic>
      <p:sp>
        <p:nvSpPr>
          <p:cNvPr id="15" name="Text 12"/>
          <p:cNvSpPr/>
          <p:nvPr/>
        </p:nvSpPr>
        <p:spPr>
          <a:xfrm>
            <a:off x="1198731" y="4936232"/>
            <a:ext cx="1016619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Roboto" pitchFamily="34" charset="0"/>
                <a:ea typeface="Roboto" pitchFamily="34" charset="-122"/>
                <a:cs typeface="Roboto" pitchFamily="34" charset="-120"/>
              </a:rPr>
              <a:t>El formato *.aln es específico del programa CLUSTAL W y debe convertirse a PHYLIP o NEXUS para su uso en programas de inferencia filogenética.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03163"/>
            <a:ext cx="10868745" cy="477837"/>
          </a:xfrm>
          <a:prstGeom prst="rect">
            <a:avLst/>
          </a:prstGeom>
          <a:noFill/>
          <a:ln/>
        </p:spPr>
        <p:txBody>
          <a:bodyPr wrap="none" lIns="0" tIns="0" rIns="0" bIns="0" rtlCol="0" anchor="t"/>
          <a:lstStyle/>
          <a:p>
            <a:pPr marL="0" indent="0" algn="l">
              <a:lnSpc>
                <a:spcPct val="104000"/>
              </a:lnSpc>
              <a:buNone/>
            </a:pPr>
            <a:r>
              <a:rPr lang="en-US" sz="2900" dirty="0">
                <a:solidFill>
                  <a:srgbClr val="1B1B27"/>
                </a:solidFill>
                <a:latin typeface="Raleway" pitchFamily="34" charset="0"/>
                <a:ea typeface="Raleway" pitchFamily="34" charset="-122"/>
                <a:cs typeface="Raleway" pitchFamily="34" charset="-120"/>
              </a:rPr>
              <a:t>Formato PHYLIP </a:t>
            </a:r>
            <a:r>
              <a:rPr lang="en-US" sz="2900" dirty="0">
                <a:solidFill>
                  <a:srgbClr val="3C3939"/>
                </a:solidFill>
                <a:highlight>
                  <a:srgbClr val="F2F2F2"/>
                </a:highlight>
                <a:latin typeface="Consolas" pitchFamily="34" charset="0"/>
                <a:ea typeface="Consolas" pitchFamily="34" charset="-122"/>
                <a:cs typeface="Consolas" pitchFamily="34" charset="-120"/>
              </a:rPr>
              <a:t>(*.phy)</a:t>
            </a:r>
            <a:endParaRPr lang="en-US" sz="2900" dirty="0"/>
          </a:p>
        </p:txBody>
      </p:sp>
      <p:sp>
        <p:nvSpPr>
          <p:cNvPr id="3" name="Shape 1"/>
          <p:cNvSpPr/>
          <p:nvPr/>
        </p:nvSpPr>
        <p:spPr>
          <a:xfrm>
            <a:off x="554321" y="1381919"/>
            <a:ext cx="4905451" cy="4772918"/>
          </a:xfrm>
          <a:prstGeom prst="roundRect">
            <a:avLst>
              <a:gd name="adj" fmla="val 2245"/>
            </a:avLst>
          </a:prstGeom>
          <a:solidFill>
            <a:srgbClr val="1B1B27">
              <a:alpha val="95000"/>
            </a:srgbClr>
          </a:solidFill>
          <a:ln/>
        </p:spPr>
        <p:txBody>
          <a:bodyPr/>
          <a:lstStyle/>
          <a:p>
            <a:endParaRPr lang="es-MX"/>
          </a:p>
        </p:txBody>
      </p:sp>
      <p:sp>
        <p:nvSpPr>
          <p:cNvPr id="4" name="Text 2"/>
          <p:cNvSpPr/>
          <p:nvPr/>
        </p:nvSpPr>
        <p:spPr>
          <a:xfrm>
            <a:off x="703146" y="1515864"/>
            <a:ext cx="4607802" cy="23247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Raleway" pitchFamily="34" charset="0"/>
                <a:ea typeface="Raleway" pitchFamily="34" charset="-122"/>
                <a:cs typeface="Raleway" pitchFamily="34" charset="-120"/>
              </a:rPr>
              <a:t>Descripción</a:t>
            </a:r>
            <a:endParaRPr lang="en-US" sz="1450" dirty="0"/>
          </a:p>
        </p:txBody>
      </p:sp>
      <p:sp>
        <p:nvSpPr>
          <p:cNvPr id="5" name="Text 3"/>
          <p:cNvSpPr/>
          <p:nvPr/>
        </p:nvSpPr>
        <p:spPr>
          <a:xfrm>
            <a:off x="703146" y="1882279"/>
            <a:ext cx="4607802" cy="1131094"/>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FFFFFF"/>
                </a:solidFill>
                <a:latin typeface="Roboto" pitchFamily="34" charset="0"/>
                <a:ea typeface="Roboto" pitchFamily="34" charset="-122"/>
                <a:cs typeface="Roboto" pitchFamily="34" charset="-120"/>
              </a:rPr>
              <a:t>El formato PHYLIP es un formato de secuencias de nucleótidos y de residuos de aminoácidos que se utiliza frecuentemente como formato de entrada de diferentes programas o paquetes de análisis, tales como </a:t>
            </a:r>
            <a:r>
              <a:rPr lang="en-US" sz="1150" b="1" dirty="0">
                <a:solidFill>
                  <a:srgbClr val="FFFFFF"/>
                </a:solidFill>
                <a:latin typeface="Roboto Bold" pitchFamily="34" charset="0"/>
                <a:ea typeface="Roboto Bold" pitchFamily="34" charset="-122"/>
                <a:cs typeface="Roboto Bold" pitchFamily="34" charset="-120"/>
              </a:rPr>
              <a:t>PHYLIP</a:t>
            </a:r>
            <a:r>
              <a:rPr lang="en-US" sz="1150" dirty="0">
                <a:solidFill>
                  <a:srgbClr val="FFFFFF"/>
                </a:solidFill>
                <a:latin typeface="Roboto" pitchFamily="34" charset="0"/>
                <a:ea typeface="Roboto" pitchFamily="34" charset="-122"/>
                <a:cs typeface="Roboto" pitchFamily="34" charset="-120"/>
              </a:rPr>
              <a:t> (que le dio el nombre), </a:t>
            </a:r>
            <a:r>
              <a:rPr lang="en-US" sz="1150" b="1" dirty="0">
                <a:solidFill>
                  <a:srgbClr val="FFFFFF"/>
                </a:solidFill>
                <a:latin typeface="Roboto Bold" pitchFamily="34" charset="0"/>
                <a:ea typeface="Roboto Bold" pitchFamily="34" charset="-122"/>
                <a:cs typeface="Roboto Bold" pitchFamily="34" charset="-120"/>
              </a:rPr>
              <a:t>RaxML</a:t>
            </a:r>
            <a:r>
              <a:rPr lang="en-US" sz="1150" dirty="0">
                <a:solidFill>
                  <a:srgbClr val="FFFFFF"/>
                </a:solidFill>
                <a:latin typeface="Roboto" pitchFamily="34" charset="0"/>
                <a:ea typeface="Roboto" pitchFamily="34" charset="-122"/>
                <a:cs typeface="Roboto" pitchFamily="34" charset="-120"/>
              </a:rPr>
              <a:t> y </a:t>
            </a:r>
            <a:r>
              <a:rPr lang="en-US" sz="1150" b="1" dirty="0">
                <a:solidFill>
                  <a:srgbClr val="FFFFFF"/>
                </a:solidFill>
                <a:latin typeface="Roboto Bold" pitchFamily="34" charset="0"/>
                <a:ea typeface="Roboto Bold" pitchFamily="34" charset="-122"/>
                <a:cs typeface="Roboto Bold" pitchFamily="34" charset="-120"/>
              </a:rPr>
              <a:t>Mesquite</a:t>
            </a:r>
            <a:r>
              <a:rPr lang="en-US" sz="1150" dirty="0">
                <a:solidFill>
                  <a:srgbClr val="FFFFFF"/>
                </a:solidFill>
                <a:latin typeface="Roboto" pitchFamily="34" charset="0"/>
                <a:ea typeface="Roboto" pitchFamily="34" charset="-122"/>
                <a:cs typeface="Roboto" pitchFamily="34" charset="-120"/>
              </a:rPr>
              <a:t>, entre otros.</a:t>
            </a:r>
            <a:endParaRPr lang="en-US" sz="1150" dirty="0"/>
          </a:p>
        </p:txBody>
      </p:sp>
      <p:sp>
        <p:nvSpPr>
          <p:cNvPr id="6" name="Text 4"/>
          <p:cNvSpPr/>
          <p:nvPr/>
        </p:nvSpPr>
        <p:spPr>
          <a:xfrm>
            <a:off x="703146" y="3147318"/>
            <a:ext cx="4607802" cy="23247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Raleway" pitchFamily="34" charset="0"/>
                <a:ea typeface="Raleway" pitchFamily="34" charset="-122"/>
                <a:cs typeface="Raleway" pitchFamily="34" charset="-120"/>
              </a:rPr>
              <a:t>Programas compatibles</a:t>
            </a:r>
            <a:endParaRPr lang="en-US" sz="1450" dirty="0"/>
          </a:p>
        </p:txBody>
      </p:sp>
      <p:sp>
        <p:nvSpPr>
          <p:cNvPr id="7" name="Text 5"/>
          <p:cNvSpPr/>
          <p:nvPr/>
        </p:nvSpPr>
        <p:spPr>
          <a:xfrm>
            <a:off x="703146" y="3513733"/>
            <a:ext cx="4607802" cy="772319"/>
          </a:xfrm>
          <a:prstGeom prst="rect">
            <a:avLst/>
          </a:prstGeom>
          <a:noFill/>
          <a:ln/>
        </p:spPr>
        <p:txBody>
          <a:bodyPr wrap="square" lIns="0" tIns="59541" rIns="0" bIns="0" rtlCol="0" anchor="t">
            <a:normAutofit/>
          </a:bodyPr>
          <a:lstStyle/>
          <a:p>
            <a:pPr marL="233680" indent="-233680" algn="l">
              <a:lnSpc>
                <a:spcPct val="127000"/>
              </a:lnSpc>
              <a:buSzPct val="100000"/>
              <a:buChar char="•"/>
            </a:pPr>
            <a:r>
              <a:rPr lang="en-US" sz="1150" dirty="0">
                <a:solidFill>
                  <a:srgbClr val="FFFFFF"/>
                </a:solidFill>
                <a:latin typeface="Roboto" pitchFamily="34" charset="0"/>
                <a:ea typeface="Roboto" pitchFamily="34" charset="-122"/>
                <a:cs typeface="Roboto" pitchFamily="34" charset="-120"/>
              </a:rPr>
              <a:t>PHYLIP — paquete de inferencia filogenética</a:t>
            </a:r>
            <a:endParaRPr lang="en-US" sz="1150" dirty="0"/>
          </a:p>
          <a:p>
            <a:pPr marL="233680" indent="-233680" algn="l">
              <a:lnSpc>
                <a:spcPct val="127000"/>
              </a:lnSpc>
              <a:buSzPct val="100000"/>
              <a:buChar char="•"/>
            </a:pPr>
            <a:r>
              <a:rPr lang="en-US" sz="1150" dirty="0">
                <a:solidFill>
                  <a:srgbClr val="FFFFFF"/>
                </a:solidFill>
                <a:latin typeface="Roboto" pitchFamily="34" charset="0"/>
                <a:ea typeface="Roboto" pitchFamily="34" charset="-122"/>
                <a:cs typeface="Roboto" pitchFamily="34" charset="-120"/>
              </a:rPr>
              <a:t>RaxML — análisis de máxima verosimilitud</a:t>
            </a:r>
            <a:endParaRPr lang="en-US" sz="1150" dirty="0"/>
          </a:p>
          <a:p>
            <a:pPr marL="233680" indent="-233680" algn="l">
              <a:lnSpc>
                <a:spcPct val="127000"/>
              </a:lnSpc>
              <a:buSzPct val="100000"/>
              <a:buChar char="•"/>
            </a:pPr>
            <a:r>
              <a:rPr lang="en-US" sz="1150" dirty="0">
                <a:solidFill>
                  <a:srgbClr val="FFFFFF"/>
                </a:solidFill>
                <a:latin typeface="Roboto" pitchFamily="34" charset="0"/>
                <a:ea typeface="Roboto" pitchFamily="34" charset="-122"/>
                <a:cs typeface="Roboto" pitchFamily="34" charset="-120"/>
              </a:rPr>
              <a:t>Mesquite — análisis evolutivo modular</a:t>
            </a:r>
            <a:endParaRPr lang="en-US" sz="1150" dirty="0"/>
          </a:p>
        </p:txBody>
      </p:sp>
      <p:sp>
        <p:nvSpPr>
          <p:cNvPr id="8" name="Text 6"/>
          <p:cNvSpPr/>
          <p:nvPr/>
        </p:nvSpPr>
        <p:spPr>
          <a:xfrm>
            <a:off x="5722100" y="1515864"/>
            <a:ext cx="5814371" cy="232470"/>
          </a:xfrm>
          <a:prstGeom prst="rect">
            <a:avLst/>
          </a:prstGeom>
          <a:noFill/>
          <a:ln/>
        </p:spPr>
        <p:txBody>
          <a:bodyPr wrap="none" lIns="0" tIns="0" rIns="0" bIns="0" rtlCol="0" anchor="t"/>
          <a:lstStyle/>
          <a:p>
            <a:pPr marL="0" indent="0" algn="l">
              <a:lnSpc>
                <a:spcPct val="104000"/>
              </a:lnSpc>
              <a:buNone/>
            </a:pPr>
            <a:r>
              <a:rPr lang="en-US" sz="1450" dirty="0">
                <a:solidFill>
                  <a:srgbClr val="1B1B27"/>
                </a:solidFill>
                <a:latin typeface="Raleway" pitchFamily="34" charset="0"/>
                <a:ea typeface="Raleway" pitchFamily="34" charset="-122"/>
                <a:cs typeface="Raleway" pitchFamily="34" charset="-120"/>
              </a:rPr>
              <a:t>Estructura del archivo</a:t>
            </a:r>
            <a:endParaRPr lang="en-US" sz="1450" dirty="0"/>
          </a:p>
        </p:txBody>
      </p:sp>
      <p:sp>
        <p:nvSpPr>
          <p:cNvPr id="9" name="Text 7"/>
          <p:cNvSpPr/>
          <p:nvPr/>
        </p:nvSpPr>
        <p:spPr>
          <a:xfrm>
            <a:off x="5722100" y="1899047"/>
            <a:ext cx="297649" cy="186035"/>
          </a:xfrm>
          <a:prstGeom prst="rect">
            <a:avLst/>
          </a:prstGeom>
          <a:noFill/>
          <a:ln/>
        </p:spPr>
        <p:txBody>
          <a:bodyPr wrap="none" lIns="0" tIns="0" rIns="0" bIns="0" rtlCol="0" anchor="ctr"/>
          <a:lstStyle/>
          <a:p>
            <a:pPr marL="0" indent="0" algn="l">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01</a:t>
            </a:r>
            <a:endParaRPr lang="en-US" sz="1150" dirty="0"/>
          </a:p>
        </p:txBody>
      </p:sp>
      <p:sp>
        <p:nvSpPr>
          <p:cNvPr id="10" name="Shape 8"/>
          <p:cNvSpPr/>
          <p:nvPr/>
        </p:nvSpPr>
        <p:spPr>
          <a:xfrm>
            <a:off x="5722100" y="2133005"/>
            <a:ext cx="5814371" cy="19050"/>
          </a:xfrm>
          <a:prstGeom prst="rect">
            <a:avLst/>
          </a:prstGeom>
          <a:solidFill>
            <a:srgbClr val="1B1B27"/>
          </a:solidFill>
          <a:ln/>
        </p:spPr>
        <p:txBody>
          <a:bodyPr/>
          <a:lstStyle/>
          <a:p>
            <a:endParaRPr lang="es-MX"/>
          </a:p>
        </p:txBody>
      </p:sp>
      <p:sp>
        <p:nvSpPr>
          <p:cNvPr id="11" name="Text 9"/>
          <p:cNvSpPr/>
          <p:nvPr/>
        </p:nvSpPr>
        <p:spPr>
          <a:xfrm>
            <a:off x="5722100" y="2245519"/>
            <a:ext cx="5814371" cy="232470"/>
          </a:xfrm>
          <a:prstGeom prst="rect">
            <a:avLst/>
          </a:prstGeom>
          <a:noFill/>
          <a:ln/>
        </p:spPr>
        <p:txBody>
          <a:bodyPr wrap="none" lIns="0" tIns="0" rIns="0" bIns="0" rtlCol="0" anchor="t"/>
          <a:lstStyle/>
          <a:p>
            <a:pPr marL="0" indent="0" algn="l">
              <a:lnSpc>
                <a:spcPct val="104000"/>
              </a:lnSpc>
              <a:buNone/>
            </a:pPr>
            <a:r>
              <a:rPr lang="en-US" sz="1450" dirty="0">
                <a:solidFill>
                  <a:srgbClr val="3C3939"/>
                </a:solidFill>
                <a:latin typeface="Raleway" pitchFamily="34" charset="0"/>
                <a:ea typeface="Raleway" pitchFamily="34" charset="-122"/>
                <a:cs typeface="Raleway" pitchFamily="34" charset="-120"/>
              </a:rPr>
              <a:t>Primera línea</a:t>
            </a:r>
            <a:endParaRPr lang="en-US" sz="1450" dirty="0"/>
          </a:p>
        </p:txBody>
      </p:sp>
      <p:sp>
        <p:nvSpPr>
          <p:cNvPr id="12" name="Text 10"/>
          <p:cNvSpPr/>
          <p:nvPr/>
        </p:nvSpPr>
        <p:spPr>
          <a:xfrm>
            <a:off x="5722100" y="2611934"/>
            <a:ext cx="5814371" cy="45878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Número de especies seguido del número de caracteres, separados por un espacio. Ej.: </a:t>
            </a:r>
            <a:r>
              <a:rPr lang="en-US" sz="1150" dirty="0">
                <a:solidFill>
                  <a:srgbClr val="3C3939"/>
                </a:solidFill>
                <a:highlight>
                  <a:srgbClr val="F2F2F2"/>
                </a:highlight>
                <a:latin typeface="Consolas" pitchFamily="34" charset="0"/>
                <a:ea typeface="Consolas" pitchFamily="34" charset="-122"/>
                <a:cs typeface="Consolas" pitchFamily="34" charset="-120"/>
              </a:rPr>
              <a:t>10 650</a:t>
            </a:r>
            <a:endParaRPr lang="en-US" sz="1150" dirty="0"/>
          </a:p>
        </p:txBody>
      </p:sp>
      <p:sp>
        <p:nvSpPr>
          <p:cNvPr id="13" name="Text 11"/>
          <p:cNvSpPr/>
          <p:nvPr/>
        </p:nvSpPr>
        <p:spPr>
          <a:xfrm>
            <a:off x="5722100" y="3316288"/>
            <a:ext cx="297649" cy="186035"/>
          </a:xfrm>
          <a:prstGeom prst="rect">
            <a:avLst/>
          </a:prstGeom>
          <a:noFill/>
          <a:ln/>
        </p:spPr>
        <p:txBody>
          <a:bodyPr wrap="none" lIns="0" tIns="0" rIns="0" bIns="0" rtlCol="0" anchor="ctr"/>
          <a:lstStyle/>
          <a:p>
            <a:pPr marL="0" indent="0" algn="l">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02</a:t>
            </a:r>
            <a:endParaRPr lang="en-US" sz="1150" dirty="0"/>
          </a:p>
        </p:txBody>
      </p:sp>
      <p:sp>
        <p:nvSpPr>
          <p:cNvPr id="14" name="Shape 12"/>
          <p:cNvSpPr/>
          <p:nvPr/>
        </p:nvSpPr>
        <p:spPr>
          <a:xfrm>
            <a:off x="5722100" y="3550245"/>
            <a:ext cx="5814371" cy="19050"/>
          </a:xfrm>
          <a:prstGeom prst="rect">
            <a:avLst/>
          </a:prstGeom>
          <a:solidFill>
            <a:srgbClr val="1B1B27"/>
          </a:solidFill>
          <a:ln/>
        </p:spPr>
        <p:txBody>
          <a:bodyPr/>
          <a:lstStyle/>
          <a:p>
            <a:endParaRPr lang="es-MX"/>
          </a:p>
        </p:txBody>
      </p:sp>
      <p:sp>
        <p:nvSpPr>
          <p:cNvPr id="15" name="Text 13"/>
          <p:cNvSpPr/>
          <p:nvPr/>
        </p:nvSpPr>
        <p:spPr>
          <a:xfrm>
            <a:off x="5722100" y="3662759"/>
            <a:ext cx="5814371" cy="232470"/>
          </a:xfrm>
          <a:prstGeom prst="rect">
            <a:avLst/>
          </a:prstGeom>
          <a:noFill/>
          <a:ln/>
        </p:spPr>
        <p:txBody>
          <a:bodyPr wrap="none" lIns="0" tIns="0" rIns="0" bIns="0" rtlCol="0" anchor="t"/>
          <a:lstStyle/>
          <a:p>
            <a:pPr marL="0" indent="0" algn="l">
              <a:lnSpc>
                <a:spcPct val="104000"/>
              </a:lnSpc>
              <a:buNone/>
            </a:pPr>
            <a:r>
              <a:rPr lang="en-US" sz="1450" dirty="0">
                <a:solidFill>
                  <a:srgbClr val="3C3939"/>
                </a:solidFill>
                <a:latin typeface="Raleway" pitchFamily="34" charset="0"/>
                <a:ea typeface="Raleway" pitchFamily="34" charset="-122"/>
                <a:cs typeface="Raleway" pitchFamily="34" charset="-120"/>
              </a:rPr>
              <a:t>Líneas de secuencia</a:t>
            </a:r>
            <a:endParaRPr lang="en-US" sz="1450" dirty="0"/>
          </a:p>
        </p:txBody>
      </p:sp>
      <p:sp>
        <p:nvSpPr>
          <p:cNvPr id="16" name="Text 14"/>
          <p:cNvSpPr/>
          <p:nvPr/>
        </p:nvSpPr>
        <p:spPr>
          <a:xfrm>
            <a:off x="5722100" y="4029174"/>
            <a:ext cx="5814371"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Nombre o identificador de cada especie (</a:t>
            </a:r>
            <a:r>
              <a:rPr lang="en-US" sz="1150" b="1" dirty="0">
                <a:solidFill>
                  <a:srgbClr val="3C3939"/>
                </a:solidFill>
                <a:latin typeface="Roboto Bold" pitchFamily="34" charset="0"/>
                <a:ea typeface="Roboto Bold" pitchFamily="34" charset="-122"/>
                <a:cs typeface="Roboto Bold" pitchFamily="34" charset="-120"/>
              </a:rPr>
              <a:t>máximo 10 caracteres</a:t>
            </a:r>
            <a:r>
              <a:rPr lang="en-US" sz="1150" dirty="0">
                <a:solidFill>
                  <a:srgbClr val="3C3939"/>
                </a:solidFill>
                <a:latin typeface="Roboto" pitchFamily="34" charset="0"/>
                <a:ea typeface="Roboto" pitchFamily="34" charset="-122"/>
                <a:cs typeface="Roboto" pitchFamily="34" charset="-120"/>
              </a:rPr>
              <a:t>) seguido directamente de la secuencia alineada.</a:t>
            </a:r>
            <a:endParaRPr lang="en-US" sz="1150" dirty="0"/>
          </a:p>
        </p:txBody>
      </p:sp>
      <p:sp>
        <p:nvSpPr>
          <p:cNvPr id="17" name="Text 15"/>
          <p:cNvSpPr/>
          <p:nvPr/>
        </p:nvSpPr>
        <p:spPr>
          <a:xfrm>
            <a:off x="5722100" y="4727178"/>
            <a:ext cx="297649" cy="186035"/>
          </a:xfrm>
          <a:prstGeom prst="rect">
            <a:avLst/>
          </a:prstGeom>
          <a:noFill/>
          <a:ln/>
        </p:spPr>
        <p:txBody>
          <a:bodyPr wrap="none" lIns="0" tIns="0" rIns="0" bIns="0" rtlCol="0" anchor="ctr"/>
          <a:lstStyle/>
          <a:p>
            <a:pPr marL="0" indent="0" algn="l">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03</a:t>
            </a:r>
            <a:endParaRPr lang="en-US" sz="1150" dirty="0"/>
          </a:p>
        </p:txBody>
      </p:sp>
      <p:sp>
        <p:nvSpPr>
          <p:cNvPr id="18" name="Shape 16"/>
          <p:cNvSpPr/>
          <p:nvPr/>
        </p:nvSpPr>
        <p:spPr>
          <a:xfrm>
            <a:off x="5722100" y="4961136"/>
            <a:ext cx="5814371" cy="19050"/>
          </a:xfrm>
          <a:prstGeom prst="rect">
            <a:avLst/>
          </a:prstGeom>
          <a:solidFill>
            <a:srgbClr val="1B1B27"/>
          </a:solidFill>
          <a:ln/>
        </p:spPr>
        <p:txBody>
          <a:bodyPr/>
          <a:lstStyle/>
          <a:p>
            <a:endParaRPr lang="es-MX"/>
          </a:p>
        </p:txBody>
      </p:sp>
      <p:sp>
        <p:nvSpPr>
          <p:cNvPr id="19" name="Text 17"/>
          <p:cNvSpPr/>
          <p:nvPr/>
        </p:nvSpPr>
        <p:spPr>
          <a:xfrm>
            <a:off x="5722100" y="5073650"/>
            <a:ext cx="5814371" cy="232470"/>
          </a:xfrm>
          <a:prstGeom prst="rect">
            <a:avLst/>
          </a:prstGeom>
          <a:noFill/>
          <a:ln/>
        </p:spPr>
        <p:txBody>
          <a:bodyPr wrap="none" lIns="0" tIns="0" rIns="0" bIns="0" rtlCol="0" anchor="t"/>
          <a:lstStyle/>
          <a:p>
            <a:pPr marL="0" indent="0" algn="l">
              <a:lnSpc>
                <a:spcPct val="104000"/>
              </a:lnSpc>
              <a:buNone/>
            </a:pPr>
            <a:r>
              <a:rPr lang="en-US" sz="1450" dirty="0">
                <a:solidFill>
                  <a:srgbClr val="3C3939"/>
                </a:solidFill>
                <a:latin typeface="Raleway" pitchFamily="34" charset="0"/>
                <a:ea typeface="Raleway" pitchFamily="34" charset="-122"/>
                <a:cs typeface="Raleway" pitchFamily="34" charset="-120"/>
              </a:rPr>
              <a:t>Requisito de alineación</a:t>
            </a:r>
            <a:endParaRPr lang="en-US" sz="1450" dirty="0"/>
          </a:p>
        </p:txBody>
      </p:sp>
      <p:sp>
        <p:nvSpPr>
          <p:cNvPr id="20" name="Text 18"/>
          <p:cNvSpPr/>
          <p:nvPr/>
        </p:nvSpPr>
        <p:spPr>
          <a:xfrm>
            <a:off x="5722100" y="5440065"/>
            <a:ext cx="5814371"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Todas las secuencias deben contener el </a:t>
            </a:r>
            <a:r>
              <a:rPr lang="en-US" sz="1150" b="1" dirty="0">
                <a:solidFill>
                  <a:srgbClr val="3C3939"/>
                </a:solidFill>
                <a:latin typeface="Roboto Bold" pitchFamily="34" charset="0"/>
                <a:ea typeface="Roboto Bold" pitchFamily="34" charset="-122"/>
                <a:cs typeface="Roboto Bold" pitchFamily="34" charset="-120"/>
              </a:rPr>
              <a:t>mismo número de caracteres</a:t>
            </a:r>
            <a:r>
              <a:rPr lang="en-US" sz="1150" dirty="0">
                <a:solidFill>
                  <a:srgbClr val="3C3939"/>
                </a:solidFill>
                <a:latin typeface="Roboto" pitchFamily="34" charset="0"/>
                <a:ea typeface="Roboto" pitchFamily="34" charset="-122"/>
                <a:cs typeface="Roboto" pitchFamily="34" charset="-120"/>
              </a:rPr>
              <a:t>. El formato no admite secuencias sin alinear.</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115616"/>
            <a:ext cx="10868745" cy="53578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Formato NEXUS </a:t>
            </a:r>
            <a:r>
              <a:rPr lang="en-US" sz="3250" dirty="0">
                <a:solidFill>
                  <a:srgbClr val="3C3939"/>
                </a:solidFill>
                <a:highlight>
                  <a:srgbClr val="F2F2F2"/>
                </a:highlight>
                <a:latin typeface="Consolas" pitchFamily="34" charset="0"/>
                <a:ea typeface="Consolas" pitchFamily="34" charset="-122"/>
                <a:cs typeface="Consolas" pitchFamily="34" charset="-120"/>
              </a:rPr>
              <a:t>(*.nex)</a:t>
            </a:r>
            <a:endParaRPr lang="en-US" sz="3250" dirty="0"/>
          </a:p>
        </p:txBody>
      </p:sp>
      <p:sp>
        <p:nvSpPr>
          <p:cNvPr id="3" name="Text 1"/>
          <p:cNvSpPr/>
          <p:nvPr/>
        </p:nvSpPr>
        <p:spPr>
          <a:xfrm>
            <a:off x="661475" y="1982093"/>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formato NEXUS fue creado para facilitar el intercambio de archivos de datos entre programas usados en filogenia y clasificación, como PHYLIP, Mesquite, PAUP y MrBayes, entre otros. Es el más flexible e interoperable de los formatos bioinformáticos.</a:t>
            </a:r>
            <a:endParaRPr lang="en-US" sz="1300" dirty="0"/>
          </a:p>
        </p:txBody>
      </p:sp>
      <p:sp>
        <p:nvSpPr>
          <p:cNvPr id="4" name="Text 2"/>
          <p:cNvSpPr/>
          <p:nvPr/>
        </p:nvSpPr>
        <p:spPr>
          <a:xfrm>
            <a:off x="661475" y="2862659"/>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Módulo 1: Taxa</a:t>
            </a:r>
            <a:endParaRPr lang="en-US" sz="1600" dirty="0"/>
          </a:p>
        </p:txBody>
      </p:sp>
      <p:sp>
        <p:nvSpPr>
          <p:cNvPr id="5" name="Text 3"/>
          <p:cNvSpPr/>
          <p:nvPr/>
        </p:nvSpPr>
        <p:spPr>
          <a:xfrm>
            <a:off x="661475" y="3286423"/>
            <a:ext cx="523266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primer módulo indica el </a:t>
            </a:r>
            <a:r>
              <a:rPr lang="en-US" sz="1300" b="1" dirty="0">
                <a:solidFill>
                  <a:srgbClr val="3C3939"/>
                </a:solidFill>
                <a:latin typeface="Roboto Bold" pitchFamily="34" charset="0"/>
                <a:ea typeface="Roboto Bold" pitchFamily="34" charset="-122"/>
                <a:cs typeface="Roboto Bold" pitchFamily="34" charset="-120"/>
              </a:rPr>
              <a:t>número de individuos</a:t>
            </a:r>
            <a:r>
              <a:rPr lang="en-US" sz="1300" dirty="0">
                <a:solidFill>
                  <a:srgbClr val="3C3939"/>
                </a:solidFill>
                <a:latin typeface="Roboto" pitchFamily="34" charset="0"/>
                <a:ea typeface="Roboto" pitchFamily="34" charset="-122"/>
                <a:cs typeface="Roboto" pitchFamily="34" charset="-120"/>
              </a:rPr>
              <a:t> a analizar. Define el bloque de taxa que será referenciado en los módulos subsiguientes del archivo.</a:t>
            </a:r>
            <a:endParaRPr lang="en-US" sz="1300" dirty="0"/>
          </a:p>
        </p:txBody>
      </p:sp>
      <p:sp>
        <p:nvSpPr>
          <p:cNvPr id="6" name="Text 4"/>
          <p:cNvSpPr/>
          <p:nvPr/>
        </p:nvSpPr>
        <p:spPr>
          <a:xfrm>
            <a:off x="661475" y="4245570"/>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Módulo 2: Caracteres</a:t>
            </a:r>
            <a:endParaRPr lang="en-US" sz="1600" dirty="0"/>
          </a:p>
        </p:txBody>
      </p:sp>
      <p:sp>
        <p:nvSpPr>
          <p:cNvPr id="7" name="Text 5"/>
          <p:cNvSpPr/>
          <p:nvPr/>
        </p:nvSpPr>
        <p:spPr>
          <a:xfrm>
            <a:off x="661475" y="4669334"/>
            <a:ext cx="523266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segundo módulo indica el </a:t>
            </a:r>
            <a:r>
              <a:rPr lang="en-US" sz="1300" b="1" dirty="0">
                <a:solidFill>
                  <a:srgbClr val="3C3939"/>
                </a:solidFill>
                <a:latin typeface="Roboto Bold" pitchFamily="34" charset="0"/>
                <a:ea typeface="Roboto Bold" pitchFamily="34" charset="-122"/>
                <a:cs typeface="Roboto Bold" pitchFamily="34" charset="-120"/>
              </a:rPr>
              <a:t>número de caracteres</a:t>
            </a:r>
            <a:r>
              <a:rPr lang="en-US" sz="1300" dirty="0">
                <a:solidFill>
                  <a:srgbClr val="3C3939"/>
                </a:solidFill>
                <a:latin typeface="Roboto" pitchFamily="34" charset="0"/>
                <a:ea typeface="Roboto" pitchFamily="34" charset="-122"/>
                <a:cs typeface="Roboto" pitchFamily="34" charset="-120"/>
              </a:rPr>
              <a:t> y el </a:t>
            </a:r>
            <a:r>
              <a:rPr lang="en-US" sz="1300" b="1" dirty="0">
                <a:solidFill>
                  <a:srgbClr val="3C3939"/>
                </a:solidFill>
                <a:latin typeface="Roboto Bold" pitchFamily="34" charset="0"/>
                <a:ea typeface="Roboto Bold" pitchFamily="34" charset="-122"/>
                <a:cs typeface="Roboto Bold" pitchFamily="34" charset="-120"/>
              </a:rPr>
              <a:t>tipo de formato</a:t>
            </a:r>
            <a:r>
              <a:rPr lang="en-US" sz="1300" dirty="0">
                <a:solidFill>
                  <a:srgbClr val="3C3939"/>
                </a:solidFill>
                <a:latin typeface="Roboto" pitchFamily="34" charset="0"/>
                <a:ea typeface="Roboto" pitchFamily="34" charset="-122"/>
                <a:cs typeface="Roboto" pitchFamily="34" charset="-120"/>
              </a:rPr>
              <a:t> (nucleótidos o aminoácidos). Ambos módulos son combinables y extensibles con bloques adicionales.</a:t>
            </a:r>
            <a:endParaRPr lang="en-US" sz="1300" dirty="0"/>
          </a:p>
        </p:txBody>
      </p:sp>
      <p:sp>
        <p:nvSpPr>
          <p:cNvPr id="8" name="Shape 6"/>
          <p:cNvSpPr/>
          <p:nvPr/>
        </p:nvSpPr>
        <p:spPr>
          <a:xfrm>
            <a:off x="6184844" y="2697361"/>
            <a:ext cx="5470785" cy="3044924"/>
          </a:xfrm>
          <a:prstGeom prst="roundRect">
            <a:avLst>
              <a:gd name="adj" fmla="val 3911"/>
            </a:avLst>
          </a:prstGeom>
          <a:solidFill>
            <a:srgbClr val="1B1B27">
              <a:alpha val="95000"/>
            </a:srgbClr>
          </a:solidFill>
          <a:ln/>
        </p:spPr>
        <p:txBody>
          <a:bodyPr/>
          <a:lstStyle/>
          <a:p>
            <a:endParaRPr lang="es-MX"/>
          </a:p>
        </p:txBody>
      </p:sp>
      <p:sp>
        <p:nvSpPr>
          <p:cNvPr id="9" name="Text 7"/>
          <p:cNvSpPr/>
          <p:nvPr/>
        </p:nvSpPr>
        <p:spPr>
          <a:xfrm>
            <a:off x="6350139" y="2862659"/>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Convenciones de sintaxis</a:t>
            </a:r>
            <a:endParaRPr lang="en-US" sz="1600" dirty="0"/>
          </a:p>
        </p:txBody>
      </p:sp>
      <p:pic>
        <p:nvPicPr>
          <p:cNvPr id="10"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2149" y="3315295"/>
            <a:ext cx="248041" cy="248047"/>
          </a:xfrm>
          <a:prstGeom prst="rect">
            <a:avLst/>
          </a:prstGeom>
        </p:spPr>
      </p:pic>
      <p:sp>
        <p:nvSpPr>
          <p:cNvPr id="11" name="Text 8"/>
          <p:cNvSpPr/>
          <p:nvPr/>
        </p:nvSpPr>
        <p:spPr>
          <a:xfrm>
            <a:off x="6887494" y="3307159"/>
            <a:ext cx="460284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Las instrucciones dentro del archivo se separan mediante </a:t>
            </a:r>
            <a:r>
              <a:rPr lang="en-US" sz="1300" b="1" dirty="0">
                <a:solidFill>
                  <a:srgbClr val="FFFFFF"/>
                </a:solidFill>
                <a:latin typeface="Roboto Bold" pitchFamily="34" charset="0"/>
                <a:ea typeface="Roboto Bold" pitchFamily="34" charset="-122"/>
                <a:cs typeface="Roboto Bold" pitchFamily="34" charset="-120"/>
              </a:rPr>
              <a:t>punto y coma (;)</a:t>
            </a:r>
            <a:r>
              <a:rPr lang="en-US" sz="1300" dirty="0">
                <a:solidFill>
                  <a:srgbClr val="FFFFFF"/>
                </a:solidFill>
                <a:latin typeface="Roboto" pitchFamily="34" charset="0"/>
                <a:ea typeface="Roboto" pitchFamily="34" charset="-122"/>
                <a:cs typeface="Roboto" pitchFamily="34" charset="-120"/>
              </a:rPr>
              <a:t> al final de cada bloque de comandos.</a:t>
            </a:r>
            <a:endParaRPr lang="en-US" sz="1300" dirty="0"/>
          </a:p>
        </p:txBody>
      </p:sp>
      <p:pic>
        <p:nvPicPr>
          <p:cNvPr id="12"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2149" y="4175224"/>
            <a:ext cx="248041" cy="248047"/>
          </a:xfrm>
          <a:prstGeom prst="rect">
            <a:avLst/>
          </a:prstGeom>
        </p:spPr>
      </p:pic>
      <p:sp>
        <p:nvSpPr>
          <p:cNvPr id="13" name="Text 9"/>
          <p:cNvSpPr/>
          <p:nvPr/>
        </p:nvSpPr>
        <p:spPr>
          <a:xfrm>
            <a:off x="6887494" y="4167088"/>
            <a:ext cx="460284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El término de la matriz de datos se indica con la palabra reservada </a:t>
            </a:r>
            <a:r>
              <a:rPr lang="en-US" sz="1300" b="1" dirty="0">
                <a:solidFill>
                  <a:srgbClr val="FFFFFF"/>
                </a:solidFill>
                <a:latin typeface="Roboto Bold" pitchFamily="34" charset="0"/>
                <a:ea typeface="Roboto Bold" pitchFamily="34" charset="-122"/>
                <a:cs typeface="Roboto Bold" pitchFamily="34" charset="-120"/>
              </a:rPr>
              <a:t>END</a:t>
            </a:r>
            <a:r>
              <a:rPr lang="en-US" sz="1300" dirty="0">
                <a:solidFill>
                  <a:srgbClr val="FFFFFF"/>
                </a:solidFill>
                <a:latin typeface="Roboto" pitchFamily="34" charset="0"/>
                <a:ea typeface="Roboto" pitchFamily="34" charset="-122"/>
                <a:cs typeface="Roboto" pitchFamily="34" charset="-120"/>
              </a:rPr>
              <a:t>, cerrando el bloque de caracteres.</a:t>
            </a:r>
            <a:endParaRPr lang="en-US" sz="1300" dirty="0"/>
          </a:p>
        </p:txBody>
      </p:sp>
      <p:pic>
        <p:nvPicPr>
          <p:cNvPr id="14"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2149" y="5035153"/>
            <a:ext cx="248041" cy="248047"/>
          </a:xfrm>
          <a:prstGeom prst="rect">
            <a:avLst/>
          </a:prstGeom>
        </p:spPr>
      </p:pic>
      <p:sp>
        <p:nvSpPr>
          <p:cNvPr id="15" name="Text 10"/>
          <p:cNvSpPr/>
          <p:nvPr/>
        </p:nvSpPr>
        <p:spPr>
          <a:xfrm>
            <a:off x="6887494" y="5027017"/>
            <a:ext cx="460284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Los bloques pueden combinarse en un mismo archivo para incluir árboles, supuestos y configuraciones de análisis.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634802"/>
            <a:ext cx="10868745" cy="465138"/>
          </a:xfrm>
          <a:prstGeom prst="rect">
            <a:avLst/>
          </a:prstGeom>
          <a:noFill/>
          <a:ln/>
        </p:spPr>
        <p:txBody>
          <a:bodyPr wrap="none" lIns="0" tIns="0" rIns="0" bIns="0" rtlCol="0" anchor="t"/>
          <a:lstStyle/>
          <a:p>
            <a:pPr marL="0" indent="0" algn="l">
              <a:lnSpc>
                <a:spcPct val="104000"/>
              </a:lnSpc>
              <a:buNone/>
            </a:pPr>
            <a:r>
              <a:rPr lang="en-US" sz="2900" dirty="0">
                <a:solidFill>
                  <a:srgbClr val="1B1B27"/>
                </a:solidFill>
                <a:latin typeface="Raleway" pitchFamily="34" charset="0"/>
                <a:ea typeface="Raleway" pitchFamily="34" charset="-122"/>
                <a:cs typeface="Raleway" pitchFamily="34" charset="-120"/>
              </a:rPr>
              <a:t>Comparación de Formatos</a:t>
            </a:r>
            <a:endParaRPr lang="en-US" sz="2900" dirty="0"/>
          </a:p>
        </p:txBody>
      </p:sp>
      <p:sp>
        <p:nvSpPr>
          <p:cNvPr id="3" name="Text 1"/>
          <p:cNvSpPr/>
          <p:nvPr/>
        </p:nvSpPr>
        <p:spPr>
          <a:xfrm>
            <a:off x="661475" y="1367830"/>
            <a:ext cx="10868745"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Cada formato responde a necesidades específicas dentro del flujo de trabajo bioinformático. La selección del formato adecuado depende del programa de análisis destino y del nivel de información requerido.</a:t>
            </a:r>
            <a:endParaRPr lang="en-US" sz="1150" dirty="0"/>
          </a:p>
        </p:txBody>
      </p:sp>
      <p:sp>
        <p:nvSpPr>
          <p:cNvPr id="4" name="Shape 2"/>
          <p:cNvSpPr/>
          <p:nvPr/>
        </p:nvSpPr>
        <p:spPr>
          <a:xfrm>
            <a:off x="661475" y="1970980"/>
            <a:ext cx="10868745" cy="4252119"/>
          </a:xfrm>
          <a:prstGeom prst="roundRect">
            <a:avLst>
              <a:gd name="adj" fmla="val 1470"/>
            </a:avLst>
          </a:prstGeom>
          <a:noFill/>
          <a:ln w="6350">
            <a:solidFill>
              <a:srgbClr val="000000">
                <a:alpha val="8000"/>
              </a:srgbClr>
            </a:solidFill>
            <a:prstDash val="solid"/>
          </a:ln>
        </p:spPr>
        <p:txBody>
          <a:bodyPr/>
          <a:lstStyle/>
          <a:p>
            <a:endParaRPr lang="es-MX"/>
          </a:p>
        </p:txBody>
      </p:sp>
      <p:sp>
        <p:nvSpPr>
          <p:cNvPr id="5" name="Shape 3"/>
          <p:cNvSpPr/>
          <p:nvPr/>
        </p:nvSpPr>
        <p:spPr>
          <a:xfrm>
            <a:off x="661475" y="2380159"/>
            <a:ext cx="10868745" cy="9304"/>
          </a:xfrm>
          <a:prstGeom prst="rect">
            <a:avLst/>
          </a:prstGeom>
          <a:solidFill>
            <a:srgbClr val="000000">
              <a:alpha val="8000"/>
            </a:srgbClr>
          </a:solidFill>
          <a:ln/>
        </p:spPr>
        <p:txBody>
          <a:bodyPr/>
          <a:lstStyle/>
          <a:p>
            <a:endParaRPr lang="es-MX"/>
          </a:p>
        </p:txBody>
      </p:sp>
      <p:sp>
        <p:nvSpPr>
          <p:cNvPr id="6" name="Shape 4"/>
          <p:cNvSpPr/>
          <p:nvPr/>
        </p:nvSpPr>
        <p:spPr>
          <a:xfrm>
            <a:off x="661475" y="3238599"/>
            <a:ext cx="10868745" cy="9304"/>
          </a:xfrm>
          <a:prstGeom prst="rect">
            <a:avLst/>
          </a:prstGeom>
          <a:solidFill>
            <a:srgbClr val="000000">
              <a:alpha val="8000"/>
            </a:srgbClr>
          </a:solidFill>
          <a:ln/>
        </p:spPr>
        <p:txBody>
          <a:bodyPr/>
          <a:lstStyle/>
          <a:p>
            <a:endParaRPr lang="es-MX"/>
          </a:p>
        </p:txBody>
      </p:sp>
      <p:sp>
        <p:nvSpPr>
          <p:cNvPr id="7" name="Shape 5"/>
          <p:cNvSpPr/>
          <p:nvPr/>
        </p:nvSpPr>
        <p:spPr>
          <a:xfrm>
            <a:off x="661475" y="3870821"/>
            <a:ext cx="10868745" cy="9304"/>
          </a:xfrm>
          <a:prstGeom prst="rect">
            <a:avLst/>
          </a:prstGeom>
          <a:solidFill>
            <a:srgbClr val="000000">
              <a:alpha val="8000"/>
            </a:srgbClr>
          </a:solidFill>
          <a:ln/>
        </p:spPr>
        <p:txBody>
          <a:bodyPr/>
          <a:lstStyle/>
          <a:p>
            <a:endParaRPr lang="es-MX"/>
          </a:p>
        </p:txBody>
      </p:sp>
      <p:sp>
        <p:nvSpPr>
          <p:cNvPr id="8" name="Shape 6"/>
          <p:cNvSpPr/>
          <p:nvPr/>
        </p:nvSpPr>
        <p:spPr>
          <a:xfrm>
            <a:off x="661475" y="4503043"/>
            <a:ext cx="10868745" cy="9304"/>
          </a:xfrm>
          <a:prstGeom prst="rect">
            <a:avLst/>
          </a:prstGeom>
          <a:solidFill>
            <a:srgbClr val="000000">
              <a:alpha val="8000"/>
            </a:srgbClr>
          </a:solidFill>
          <a:ln/>
        </p:spPr>
        <p:txBody>
          <a:bodyPr/>
          <a:lstStyle/>
          <a:p>
            <a:endParaRPr lang="es-MX"/>
          </a:p>
        </p:txBody>
      </p:sp>
      <p:sp>
        <p:nvSpPr>
          <p:cNvPr id="9" name="Shape 7"/>
          <p:cNvSpPr/>
          <p:nvPr/>
        </p:nvSpPr>
        <p:spPr>
          <a:xfrm>
            <a:off x="661475" y="5361484"/>
            <a:ext cx="10868745" cy="9304"/>
          </a:xfrm>
          <a:prstGeom prst="rect">
            <a:avLst/>
          </a:prstGeom>
          <a:solidFill>
            <a:srgbClr val="000000">
              <a:alpha val="8000"/>
            </a:srgbClr>
          </a:solidFill>
          <a:ln/>
        </p:spPr>
        <p:txBody>
          <a:bodyPr/>
          <a:lstStyle/>
          <a:p>
            <a:endParaRPr lang="es-MX"/>
          </a:p>
        </p:txBody>
      </p:sp>
      <p:sp>
        <p:nvSpPr>
          <p:cNvPr id="10" name="Shape 8"/>
          <p:cNvSpPr/>
          <p:nvPr/>
        </p:nvSpPr>
        <p:spPr>
          <a:xfrm>
            <a:off x="668122" y="1977330"/>
            <a:ext cx="1954064" cy="402828"/>
          </a:xfrm>
          <a:custGeom>
            <a:avLst/>
            <a:gdLst/>
            <a:ahLst/>
            <a:cxnLst/>
            <a:rect l="l" t="t" r="r" b="b"/>
            <a:pathLst>
              <a:path w="1954064" h="402828">
                <a:moveTo>
                  <a:pt x="52098" y="0"/>
                </a:moveTo>
                <a:lnTo>
                  <a:pt x="1954064" y="0"/>
                </a:lnTo>
                <a:lnTo>
                  <a:pt x="1954064" y="402828"/>
                </a:lnTo>
                <a:lnTo>
                  <a:pt x="0" y="402828"/>
                </a:lnTo>
                <a:lnTo>
                  <a:pt x="0" y="52100"/>
                </a:lnTo>
                <a:arcTo wR="52098" hR="52100" stAng="10800000" swAng="5400000"/>
                <a:close/>
              </a:path>
            </a:pathLst>
          </a:custGeom>
          <a:solidFill>
            <a:srgbClr val="1B1B27"/>
          </a:solidFill>
          <a:ln/>
        </p:spPr>
        <p:txBody>
          <a:bodyPr/>
          <a:lstStyle/>
          <a:p>
            <a:endParaRPr lang="es-MX"/>
          </a:p>
        </p:txBody>
      </p:sp>
      <p:sp>
        <p:nvSpPr>
          <p:cNvPr id="11" name="Text 9"/>
          <p:cNvSpPr/>
          <p:nvPr/>
        </p:nvSpPr>
        <p:spPr>
          <a:xfrm>
            <a:off x="816947" y="2064048"/>
            <a:ext cx="2266000" cy="226219"/>
          </a:xfrm>
          <a:prstGeom prst="rect">
            <a:avLst/>
          </a:prstGeom>
          <a:noFill/>
          <a:ln/>
        </p:spPr>
        <p:txBody>
          <a:bodyPr wrap="none" lIns="0" tIns="0" rIns="0" bIns="0" rtlCol="0" anchor="t"/>
          <a:lstStyle/>
          <a:p>
            <a:pPr marL="0" indent="0" algn="l">
              <a:lnSpc>
                <a:spcPct val="127000"/>
              </a:lnSpc>
              <a:buNone/>
            </a:pPr>
            <a:r>
              <a:rPr lang="en-US" sz="1150" b="1" dirty="0">
                <a:solidFill>
                  <a:srgbClr val="FFFFFF"/>
                </a:solidFill>
                <a:latin typeface="Roboto Bold" pitchFamily="34" charset="0"/>
                <a:ea typeface="Roboto Bold" pitchFamily="34" charset="-122"/>
                <a:cs typeface="Roboto Bold" pitchFamily="34" charset="-120"/>
              </a:rPr>
              <a:t>Formato</a:t>
            </a:r>
            <a:endParaRPr lang="en-US" sz="1150" dirty="0"/>
          </a:p>
        </p:txBody>
      </p:sp>
      <p:sp>
        <p:nvSpPr>
          <p:cNvPr id="12" name="Shape 10"/>
          <p:cNvSpPr/>
          <p:nvPr/>
        </p:nvSpPr>
        <p:spPr>
          <a:xfrm>
            <a:off x="2622187" y="1977330"/>
            <a:ext cx="1954064" cy="402828"/>
          </a:xfrm>
          <a:prstGeom prst="rect">
            <a:avLst/>
          </a:prstGeom>
          <a:solidFill>
            <a:srgbClr val="1B1B27"/>
          </a:solidFill>
          <a:ln/>
        </p:spPr>
        <p:txBody>
          <a:bodyPr/>
          <a:lstStyle/>
          <a:p>
            <a:endParaRPr lang="es-MX"/>
          </a:p>
        </p:txBody>
      </p:sp>
      <p:sp>
        <p:nvSpPr>
          <p:cNvPr id="13" name="Text 11"/>
          <p:cNvSpPr/>
          <p:nvPr/>
        </p:nvSpPr>
        <p:spPr>
          <a:xfrm>
            <a:off x="2771011" y="2064048"/>
            <a:ext cx="2266000" cy="226219"/>
          </a:xfrm>
          <a:prstGeom prst="rect">
            <a:avLst/>
          </a:prstGeom>
          <a:noFill/>
          <a:ln/>
        </p:spPr>
        <p:txBody>
          <a:bodyPr wrap="none" lIns="0" tIns="0" rIns="0" bIns="0" rtlCol="0" anchor="t"/>
          <a:lstStyle/>
          <a:p>
            <a:pPr marL="0" indent="0" algn="l">
              <a:lnSpc>
                <a:spcPct val="127000"/>
              </a:lnSpc>
              <a:buNone/>
            </a:pPr>
            <a:r>
              <a:rPr lang="en-US" sz="1150" b="1" dirty="0">
                <a:solidFill>
                  <a:srgbClr val="FFFFFF"/>
                </a:solidFill>
                <a:latin typeface="Roboto Bold" pitchFamily="34" charset="0"/>
                <a:ea typeface="Roboto Bold" pitchFamily="34" charset="-122"/>
                <a:cs typeface="Roboto Bold" pitchFamily="34" charset="-120"/>
              </a:rPr>
              <a:t>Extensión</a:t>
            </a:r>
            <a:endParaRPr lang="en-US" sz="1150" dirty="0"/>
          </a:p>
        </p:txBody>
      </p:sp>
      <p:sp>
        <p:nvSpPr>
          <p:cNvPr id="14" name="Shape 12"/>
          <p:cNvSpPr/>
          <p:nvPr/>
        </p:nvSpPr>
        <p:spPr>
          <a:xfrm>
            <a:off x="4576251" y="1977330"/>
            <a:ext cx="2388235" cy="402828"/>
          </a:xfrm>
          <a:prstGeom prst="rect">
            <a:avLst/>
          </a:prstGeom>
          <a:solidFill>
            <a:srgbClr val="1B1B27"/>
          </a:solidFill>
          <a:ln/>
        </p:spPr>
        <p:txBody>
          <a:bodyPr/>
          <a:lstStyle/>
          <a:p>
            <a:endParaRPr lang="es-MX"/>
          </a:p>
        </p:txBody>
      </p:sp>
      <p:sp>
        <p:nvSpPr>
          <p:cNvPr id="15" name="Text 13"/>
          <p:cNvSpPr/>
          <p:nvPr/>
        </p:nvSpPr>
        <p:spPr>
          <a:xfrm>
            <a:off x="4725076" y="2064048"/>
            <a:ext cx="2700171" cy="226219"/>
          </a:xfrm>
          <a:prstGeom prst="rect">
            <a:avLst/>
          </a:prstGeom>
          <a:noFill/>
          <a:ln/>
        </p:spPr>
        <p:txBody>
          <a:bodyPr wrap="none" lIns="0" tIns="0" rIns="0" bIns="0" rtlCol="0" anchor="t"/>
          <a:lstStyle/>
          <a:p>
            <a:pPr marL="0" indent="0" algn="l">
              <a:lnSpc>
                <a:spcPct val="127000"/>
              </a:lnSpc>
              <a:buNone/>
            </a:pPr>
            <a:r>
              <a:rPr lang="en-US" sz="1150" b="1" dirty="0">
                <a:solidFill>
                  <a:srgbClr val="FFFFFF"/>
                </a:solidFill>
                <a:latin typeface="Roboto Bold" pitchFamily="34" charset="0"/>
                <a:ea typeface="Roboto Bold" pitchFamily="34" charset="-122"/>
                <a:cs typeface="Roboto Bold" pitchFamily="34" charset="-120"/>
              </a:rPr>
              <a:t>Característica principal</a:t>
            </a:r>
            <a:endParaRPr lang="en-US" sz="1150" dirty="0"/>
          </a:p>
        </p:txBody>
      </p:sp>
      <p:sp>
        <p:nvSpPr>
          <p:cNvPr id="16" name="Shape 14"/>
          <p:cNvSpPr/>
          <p:nvPr/>
        </p:nvSpPr>
        <p:spPr>
          <a:xfrm>
            <a:off x="6964486" y="1977330"/>
            <a:ext cx="2388235" cy="402828"/>
          </a:xfrm>
          <a:prstGeom prst="rect">
            <a:avLst/>
          </a:prstGeom>
          <a:solidFill>
            <a:srgbClr val="1B1B27"/>
          </a:solidFill>
          <a:ln/>
        </p:spPr>
        <p:txBody>
          <a:bodyPr/>
          <a:lstStyle/>
          <a:p>
            <a:endParaRPr lang="es-MX"/>
          </a:p>
        </p:txBody>
      </p:sp>
      <p:sp>
        <p:nvSpPr>
          <p:cNvPr id="17" name="Text 15"/>
          <p:cNvSpPr/>
          <p:nvPr/>
        </p:nvSpPr>
        <p:spPr>
          <a:xfrm>
            <a:off x="7113310" y="2064048"/>
            <a:ext cx="2700171" cy="226219"/>
          </a:xfrm>
          <a:prstGeom prst="rect">
            <a:avLst/>
          </a:prstGeom>
          <a:noFill/>
          <a:ln/>
        </p:spPr>
        <p:txBody>
          <a:bodyPr wrap="none" lIns="0" tIns="0" rIns="0" bIns="0" rtlCol="0" anchor="t"/>
          <a:lstStyle/>
          <a:p>
            <a:pPr marL="0" indent="0" algn="l">
              <a:lnSpc>
                <a:spcPct val="127000"/>
              </a:lnSpc>
              <a:buNone/>
            </a:pPr>
            <a:r>
              <a:rPr lang="en-US" sz="1150" b="1" dirty="0">
                <a:solidFill>
                  <a:srgbClr val="FFFFFF"/>
                </a:solidFill>
                <a:latin typeface="Roboto Bold" pitchFamily="34" charset="0"/>
                <a:ea typeface="Roboto Bold" pitchFamily="34" charset="-122"/>
                <a:cs typeface="Roboto Bold" pitchFamily="34" charset="-120"/>
              </a:rPr>
              <a:t>Requiere alineación</a:t>
            </a:r>
            <a:endParaRPr lang="en-US" sz="1150" dirty="0"/>
          </a:p>
        </p:txBody>
      </p:sp>
      <p:sp>
        <p:nvSpPr>
          <p:cNvPr id="18" name="Shape 16"/>
          <p:cNvSpPr/>
          <p:nvPr/>
        </p:nvSpPr>
        <p:spPr>
          <a:xfrm>
            <a:off x="9352721" y="1977330"/>
            <a:ext cx="2171150" cy="402828"/>
          </a:xfrm>
          <a:custGeom>
            <a:avLst/>
            <a:gdLst/>
            <a:ahLst/>
            <a:cxnLst/>
            <a:rect l="l" t="t" r="r" b="b"/>
            <a:pathLst>
              <a:path w="2171150" h="402828">
                <a:moveTo>
                  <a:pt x="0" y="0"/>
                </a:moveTo>
                <a:lnTo>
                  <a:pt x="2119051" y="0"/>
                </a:lnTo>
                <a:arcTo wR="52098" hR="52100" stAng="16200000" swAng="5400000"/>
                <a:lnTo>
                  <a:pt x="2171150" y="402828"/>
                </a:lnTo>
                <a:lnTo>
                  <a:pt x="0" y="402828"/>
                </a:lnTo>
                <a:lnTo>
                  <a:pt x="0" y="0"/>
                </a:lnTo>
                <a:close/>
              </a:path>
            </a:pathLst>
          </a:custGeom>
          <a:solidFill>
            <a:srgbClr val="1B1B27"/>
          </a:solidFill>
          <a:ln/>
        </p:spPr>
        <p:txBody>
          <a:bodyPr/>
          <a:lstStyle/>
          <a:p>
            <a:endParaRPr lang="es-MX"/>
          </a:p>
        </p:txBody>
      </p:sp>
      <p:sp>
        <p:nvSpPr>
          <p:cNvPr id="19" name="Text 17"/>
          <p:cNvSpPr/>
          <p:nvPr/>
        </p:nvSpPr>
        <p:spPr>
          <a:xfrm>
            <a:off x="9501545" y="2064048"/>
            <a:ext cx="2483086" cy="226219"/>
          </a:xfrm>
          <a:prstGeom prst="rect">
            <a:avLst/>
          </a:prstGeom>
          <a:noFill/>
          <a:ln/>
        </p:spPr>
        <p:txBody>
          <a:bodyPr wrap="none" lIns="0" tIns="0" rIns="0" bIns="0" rtlCol="0" anchor="t"/>
          <a:lstStyle/>
          <a:p>
            <a:pPr marL="0" indent="0" algn="l">
              <a:lnSpc>
                <a:spcPct val="127000"/>
              </a:lnSpc>
              <a:buNone/>
            </a:pPr>
            <a:r>
              <a:rPr lang="en-US" sz="1150" b="1" dirty="0">
                <a:solidFill>
                  <a:srgbClr val="FFFFFF"/>
                </a:solidFill>
                <a:latin typeface="Roboto Bold" pitchFamily="34" charset="0"/>
                <a:ea typeface="Roboto Bold" pitchFamily="34" charset="-122"/>
                <a:cs typeface="Roboto Bold" pitchFamily="34" charset="-120"/>
              </a:rPr>
              <a:t>Programas compatibles</a:t>
            </a:r>
            <a:endParaRPr lang="en-US" sz="1150" dirty="0"/>
          </a:p>
        </p:txBody>
      </p:sp>
      <p:sp>
        <p:nvSpPr>
          <p:cNvPr id="20" name="Text 18"/>
          <p:cNvSpPr/>
          <p:nvPr/>
        </p:nvSpPr>
        <p:spPr>
          <a:xfrm>
            <a:off x="816947" y="2470051"/>
            <a:ext cx="2266000" cy="226219"/>
          </a:xfrm>
          <a:prstGeom prst="rect">
            <a:avLst/>
          </a:prstGeom>
          <a:noFill/>
          <a:ln/>
        </p:spPr>
        <p:txBody>
          <a:bodyPr wrap="none" lIns="0" tIns="0" rIns="0" bIns="0" rtlCol="0" anchor="t"/>
          <a:lstStyle/>
          <a:p>
            <a:pPr marL="0" indent="0" algn="l">
              <a:lnSpc>
                <a:spcPct val="127000"/>
              </a:lnSpc>
              <a:buNone/>
            </a:pPr>
            <a:r>
              <a:rPr lang="en-US" sz="1150" b="1" dirty="0">
                <a:solidFill>
                  <a:srgbClr val="3C3939"/>
                </a:solidFill>
                <a:latin typeface="Roboto Bold" pitchFamily="34" charset="0"/>
                <a:ea typeface="Roboto Bold" pitchFamily="34" charset="-122"/>
                <a:cs typeface="Roboto Bold" pitchFamily="34" charset="-120"/>
              </a:rPr>
              <a:t>GenBank</a:t>
            </a:r>
            <a:endParaRPr lang="en-US" sz="1150" dirty="0"/>
          </a:p>
        </p:txBody>
      </p:sp>
      <p:sp>
        <p:nvSpPr>
          <p:cNvPr id="21" name="Text 19"/>
          <p:cNvSpPr/>
          <p:nvPr/>
        </p:nvSpPr>
        <p:spPr>
          <a:xfrm>
            <a:off x="2771011" y="2470051"/>
            <a:ext cx="2266000" cy="23256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highlight>
                  <a:srgbClr val="F2F2F2"/>
                </a:highlight>
                <a:latin typeface="Consolas" pitchFamily="34" charset="0"/>
                <a:ea typeface="Consolas" pitchFamily="34" charset="-122"/>
                <a:cs typeface="Consolas" pitchFamily="34" charset="-120"/>
              </a:rPr>
              <a:t>*.gbk</a:t>
            </a:r>
            <a:endParaRPr lang="en-US" sz="1150" dirty="0"/>
          </a:p>
        </p:txBody>
      </p:sp>
      <p:sp>
        <p:nvSpPr>
          <p:cNvPr id="22" name="Text 20"/>
          <p:cNvSpPr/>
          <p:nvPr/>
        </p:nvSpPr>
        <p:spPr>
          <a:xfrm>
            <a:off x="4725076" y="2470051"/>
            <a:ext cx="2090586"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Máxima información, metadatos completos del depositador</a:t>
            </a:r>
            <a:endParaRPr lang="en-US" sz="1150" dirty="0"/>
          </a:p>
        </p:txBody>
      </p:sp>
      <p:sp>
        <p:nvSpPr>
          <p:cNvPr id="23" name="Text 21"/>
          <p:cNvSpPr/>
          <p:nvPr/>
        </p:nvSpPr>
        <p:spPr>
          <a:xfrm>
            <a:off x="7113310" y="2470051"/>
            <a:ext cx="2700171"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No obligatorio</a:t>
            </a:r>
            <a:endParaRPr lang="en-US" sz="1150" dirty="0"/>
          </a:p>
        </p:txBody>
      </p:sp>
      <p:sp>
        <p:nvSpPr>
          <p:cNvPr id="24" name="Text 22"/>
          <p:cNvSpPr/>
          <p:nvPr/>
        </p:nvSpPr>
        <p:spPr>
          <a:xfrm>
            <a:off x="9501545" y="2470051"/>
            <a:ext cx="2483086"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NCBI, BioEdit</a:t>
            </a:r>
            <a:endParaRPr lang="en-US" sz="1150" dirty="0"/>
          </a:p>
        </p:txBody>
      </p:sp>
      <p:sp>
        <p:nvSpPr>
          <p:cNvPr id="25" name="Text 23"/>
          <p:cNvSpPr/>
          <p:nvPr/>
        </p:nvSpPr>
        <p:spPr>
          <a:xfrm>
            <a:off x="816947" y="3328491"/>
            <a:ext cx="2266000" cy="226219"/>
          </a:xfrm>
          <a:prstGeom prst="rect">
            <a:avLst/>
          </a:prstGeom>
          <a:noFill/>
          <a:ln/>
        </p:spPr>
        <p:txBody>
          <a:bodyPr wrap="none" lIns="0" tIns="0" rIns="0" bIns="0" rtlCol="0" anchor="t"/>
          <a:lstStyle/>
          <a:p>
            <a:pPr marL="0" indent="0" algn="l">
              <a:lnSpc>
                <a:spcPct val="127000"/>
              </a:lnSpc>
              <a:buNone/>
            </a:pPr>
            <a:r>
              <a:rPr lang="en-US" sz="1150" b="1" dirty="0">
                <a:solidFill>
                  <a:srgbClr val="3C3939"/>
                </a:solidFill>
                <a:latin typeface="Roboto Bold" pitchFamily="34" charset="0"/>
                <a:ea typeface="Roboto Bold" pitchFamily="34" charset="-122"/>
                <a:cs typeface="Roboto Bold" pitchFamily="34" charset="-120"/>
              </a:rPr>
              <a:t>FASTA</a:t>
            </a:r>
            <a:endParaRPr lang="en-US" sz="1150" dirty="0"/>
          </a:p>
        </p:txBody>
      </p:sp>
      <p:sp>
        <p:nvSpPr>
          <p:cNvPr id="26" name="Text 24"/>
          <p:cNvSpPr/>
          <p:nvPr/>
        </p:nvSpPr>
        <p:spPr>
          <a:xfrm>
            <a:off x="2771011" y="3328491"/>
            <a:ext cx="2266000" cy="23256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highlight>
                  <a:srgbClr val="F2F2F2"/>
                </a:highlight>
                <a:latin typeface="Consolas" pitchFamily="34" charset="0"/>
                <a:ea typeface="Consolas" pitchFamily="34" charset="-122"/>
                <a:cs typeface="Consolas" pitchFamily="34" charset="-120"/>
              </a:rPr>
              <a:t>*.fas / *.fasta</a:t>
            </a:r>
            <a:endParaRPr lang="en-US" sz="1150" dirty="0"/>
          </a:p>
        </p:txBody>
      </p:sp>
      <p:sp>
        <p:nvSpPr>
          <p:cNvPr id="27" name="Text 25"/>
          <p:cNvSpPr/>
          <p:nvPr/>
        </p:nvSpPr>
        <p:spPr>
          <a:xfrm>
            <a:off x="4725076" y="3328491"/>
            <a:ext cx="2090586"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Sencillo, universal, el más empleado actualmente</a:t>
            </a:r>
            <a:endParaRPr lang="en-US" sz="1150" dirty="0"/>
          </a:p>
        </p:txBody>
      </p:sp>
      <p:sp>
        <p:nvSpPr>
          <p:cNvPr id="28" name="Text 26"/>
          <p:cNvSpPr/>
          <p:nvPr/>
        </p:nvSpPr>
        <p:spPr>
          <a:xfrm>
            <a:off x="7113310" y="3328491"/>
            <a:ext cx="2700171"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No</a:t>
            </a:r>
            <a:endParaRPr lang="en-US" sz="1150" dirty="0"/>
          </a:p>
        </p:txBody>
      </p:sp>
      <p:sp>
        <p:nvSpPr>
          <p:cNvPr id="29" name="Text 27"/>
          <p:cNvSpPr/>
          <p:nvPr/>
        </p:nvSpPr>
        <p:spPr>
          <a:xfrm>
            <a:off x="9501545" y="3328491"/>
            <a:ext cx="2483086"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Universal</a:t>
            </a:r>
            <a:endParaRPr lang="en-US" sz="1150" dirty="0"/>
          </a:p>
        </p:txBody>
      </p:sp>
      <p:sp>
        <p:nvSpPr>
          <p:cNvPr id="30" name="Text 28"/>
          <p:cNvSpPr/>
          <p:nvPr/>
        </p:nvSpPr>
        <p:spPr>
          <a:xfrm>
            <a:off x="816947" y="3960713"/>
            <a:ext cx="2266000" cy="226219"/>
          </a:xfrm>
          <a:prstGeom prst="rect">
            <a:avLst/>
          </a:prstGeom>
          <a:noFill/>
          <a:ln/>
        </p:spPr>
        <p:txBody>
          <a:bodyPr wrap="none" lIns="0" tIns="0" rIns="0" bIns="0" rtlCol="0" anchor="t"/>
          <a:lstStyle/>
          <a:p>
            <a:pPr marL="0" indent="0" algn="l">
              <a:lnSpc>
                <a:spcPct val="127000"/>
              </a:lnSpc>
              <a:buNone/>
            </a:pPr>
            <a:r>
              <a:rPr lang="en-US" sz="1150" b="1" dirty="0">
                <a:solidFill>
                  <a:srgbClr val="3C3939"/>
                </a:solidFill>
                <a:latin typeface="Roboto Bold" pitchFamily="34" charset="0"/>
                <a:ea typeface="Roboto Bold" pitchFamily="34" charset="-122"/>
                <a:cs typeface="Roboto Bold" pitchFamily="34" charset="-120"/>
              </a:rPr>
              <a:t>CLUSTAL W</a:t>
            </a:r>
            <a:endParaRPr lang="en-US" sz="1150" dirty="0"/>
          </a:p>
        </p:txBody>
      </p:sp>
      <p:sp>
        <p:nvSpPr>
          <p:cNvPr id="31" name="Text 29"/>
          <p:cNvSpPr/>
          <p:nvPr/>
        </p:nvSpPr>
        <p:spPr>
          <a:xfrm>
            <a:off x="2771011" y="3960713"/>
            <a:ext cx="2266000" cy="23256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highlight>
                  <a:srgbClr val="F2F2F2"/>
                </a:highlight>
                <a:latin typeface="Consolas" pitchFamily="34" charset="0"/>
                <a:ea typeface="Consolas" pitchFamily="34" charset="-122"/>
                <a:cs typeface="Consolas" pitchFamily="34" charset="-120"/>
              </a:rPr>
              <a:t>*.aln</a:t>
            </a:r>
            <a:endParaRPr lang="en-US" sz="1150" dirty="0"/>
          </a:p>
        </p:txBody>
      </p:sp>
      <p:sp>
        <p:nvSpPr>
          <p:cNvPr id="32" name="Text 30"/>
          <p:cNvSpPr/>
          <p:nvPr/>
        </p:nvSpPr>
        <p:spPr>
          <a:xfrm>
            <a:off x="4725076" y="3960713"/>
            <a:ext cx="2090586"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Secuencias alineadas, indica sitios idénticos con asterisco</a:t>
            </a:r>
            <a:endParaRPr lang="en-US" sz="1150" dirty="0"/>
          </a:p>
        </p:txBody>
      </p:sp>
      <p:sp>
        <p:nvSpPr>
          <p:cNvPr id="33" name="Text 31"/>
          <p:cNvSpPr/>
          <p:nvPr/>
        </p:nvSpPr>
        <p:spPr>
          <a:xfrm>
            <a:off x="7113310" y="3960713"/>
            <a:ext cx="2700171"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Sí</a:t>
            </a:r>
            <a:endParaRPr lang="en-US" sz="1150" dirty="0"/>
          </a:p>
        </p:txBody>
      </p:sp>
      <p:sp>
        <p:nvSpPr>
          <p:cNvPr id="34" name="Text 32"/>
          <p:cNvSpPr/>
          <p:nvPr/>
        </p:nvSpPr>
        <p:spPr>
          <a:xfrm>
            <a:off x="9501545" y="3960713"/>
            <a:ext cx="2483086"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CLUSTAL W, BioEdit</a:t>
            </a:r>
            <a:endParaRPr lang="en-US" sz="1150" dirty="0"/>
          </a:p>
        </p:txBody>
      </p:sp>
      <p:sp>
        <p:nvSpPr>
          <p:cNvPr id="35" name="Text 33"/>
          <p:cNvSpPr/>
          <p:nvPr/>
        </p:nvSpPr>
        <p:spPr>
          <a:xfrm>
            <a:off x="816947" y="4592935"/>
            <a:ext cx="2266000" cy="226219"/>
          </a:xfrm>
          <a:prstGeom prst="rect">
            <a:avLst/>
          </a:prstGeom>
          <a:noFill/>
          <a:ln/>
        </p:spPr>
        <p:txBody>
          <a:bodyPr wrap="none" lIns="0" tIns="0" rIns="0" bIns="0" rtlCol="0" anchor="t"/>
          <a:lstStyle/>
          <a:p>
            <a:pPr marL="0" indent="0" algn="l">
              <a:lnSpc>
                <a:spcPct val="127000"/>
              </a:lnSpc>
              <a:buNone/>
            </a:pPr>
            <a:r>
              <a:rPr lang="en-US" sz="1150" b="1" dirty="0">
                <a:solidFill>
                  <a:srgbClr val="3C3939"/>
                </a:solidFill>
                <a:latin typeface="Roboto Bold" pitchFamily="34" charset="0"/>
                <a:ea typeface="Roboto Bold" pitchFamily="34" charset="-122"/>
                <a:cs typeface="Roboto Bold" pitchFamily="34" charset="-120"/>
              </a:rPr>
              <a:t>PHYLIP</a:t>
            </a:r>
            <a:endParaRPr lang="en-US" sz="1150" dirty="0"/>
          </a:p>
        </p:txBody>
      </p:sp>
      <p:sp>
        <p:nvSpPr>
          <p:cNvPr id="36" name="Text 34"/>
          <p:cNvSpPr/>
          <p:nvPr/>
        </p:nvSpPr>
        <p:spPr>
          <a:xfrm>
            <a:off x="2771011" y="4592935"/>
            <a:ext cx="2266000" cy="23256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highlight>
                  <a:srgbClr val="F2F2F2"/>
                </a:highlight>
                <a:latin typeface="Consolas" pitchFamily="34" charset="0"/>
                <a:ea typeface="Consolas" pitchFamily="34" charset="-122"/>
                <a:cs typeface="Consolas" pitchFamily="34" charset="-120"/>
              </a:rPr>
              <a:t>*.phy</a:t>
            </a:r>
            <a:endParaRPr lang="en-US" sz="1150" dirty="0"/>
          </a:p>
        </p:txBody>
      </p:sp>
      <p:sp>
        <p:nvSpPr>
          <p:cNvPr id="37" name="Text 35"/>
          <p:cNvSpPr/>
          <p:nvPr/>
        </p:nvSpPr>
        <p:spPr>
          <a:xfrm>
            <a:off x="4725076" y="4592935"/>
            <a:ext cx="2090586"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Entrada para análisis filogenéticos, nombres ≤10 caracteres</a:t>
            </a:r>
            <a:endParaRPr lang="en-US" sz="1150" dirty="0"/>
          </a:p>
        </p:txBody>
      </p:sp>
      <p:sp>
        <p:nvSpPr>
          <p:cNvPr id="38" name="Text 36"/>
          <p:cNvSpPr/>
          <p:nvPr/>
        </p:nvSpPr>
        <p:spPr>
          <a:xfrm>
            <a:off x="7113310" y="4592935"/>
            <a:ext cx="2700171"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Sí</a:t>
            </a:r>
            <a:endParaRPr lang="en-US" sz="1150" dirty="0"/>
          </a:p>
        </p:txBody>
      </p:sp>
      <p:sp>
        <p:nvSpPr>
          <p:cNvPr id="39" name="Text 37"/>
          <p:cNvSpPr/>
          <p:nvPr/>
        </p:nvSpPr>
        <p:spPr>
          <a:xfrm>
            <a:off x="9501545" y="4592935"/>
            <a:ext cx="2483086"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PHYLIP, RaxML, Mesquite</a:t>
            </a:r>
            <a:endParaRPr lang="en-US" sz="1150" dirty="0"/>
          </a:p>
        </p:txBody>
      </p:sp>
      <p:sp>
        <p:nvSpPr>
          <p:cNvPr id="40" name="Text 38"/>
          <p:cNvSpPr/>
          <p:nvPr/>
        </p:nvSpPr>
        <p:spPr>
          <a:xfrm>
            <a:off x="816947" y="5451376"/>
            <a:ext cx="2266000" cy="226219"/>
          </a:xfrm>
          <a:prstGeom prst="rect">
            <a:avLst/>
          </a:prstGeom>
          <a:noFill/>
          <a:ln/>
        </p:spPr>
        <p:txBody>
          <a:bodyPr wrap="none" lIns="0" tIns="0" rIns="0" bIns="0" rtlCol="0" anchor="t"/>
          <a:lstStyle/>
          <a:p>
            <a:pPr marL="0" indent="0" algn="l">
              <a:lnSpc>
                <a:spcPct val="127000"/>
              </a:lnSpc>
              <a:buNone/>
            </a:pPr>
            <a:r>
              <a:rPr lang="en-US" sz="1150" b="1" dirty="0">
                <a:solidFill>
                  <a:srgbClr val="3C3939"/>
                </a:solidFill>
                <a:latin typeface="Roboto Bold" pitchFamily="34" charset="0"/>
                <a:ea typeface="Roboto Bold" pitchFamily="34" charset="-122"/>
                <a:cs typeface="Roboto Bold" pitchFamily="34" charset="-120"/>
              </a:rPr>
              <a:t>NEXUS</a:t>
            </a:r>
            <a:endParaRPr lang="en-US" sz="1150" dirty="0"/>
          </a:p>
        </p:txBody>
      </p:sp>
      <p:sp>
        <p:nvSpPr>
          <p:cNvPr id="41" name="Text 39"/>
          <p:cNvSpPr/>
          <p:nvPr/>
        </p:nvSpPr>
        <p:spPr>
          <a:xfrm>
            <a:off x="2771011" y="5451376"/>
            <a:ext cx="2266000" cy="23256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highlight>
                  <a:srgbClr val="F2F2F2"/>
                </a:highlight>
                <a:latin typeface="Consolas" pitchFamily="34" charset="0"/>
                <a:ea typeface="Consolas" pitchFamily="34" charset="-122"/>
                <a:cs typeface="Consolas" pitchFamily="34" charset="-120"/>
              </a:rPr>
              <a:t>*.nex</a:t>
            </a:r>
            <a:endParaRPr lang="en-US" sz="1150" dirty="0"/>
          </a:p>
        </p:txBody>
      </p:sp>
      <p:sp>
        <p:nvSpPr>
          <p:cNvPr id="42" name="Text 40"/>
          <p:cNvSpPr/>
          <p:nvPr/>
        </p:nvSpPr>
        <p:spPr>
          <a:xfrm>
            <a:off x="4725076" y="5451376"/>
            <a:ext cx="2090586"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Flexible, intercambiable entre múltiples programas de filogenia</a:t>
            </a:r>
            <a:endParaRPr lang="en-US" sz="1150" dirty="0"/>
          </a:p>
        </p:txBody>
      </p:sp>
      <p:sp>
        <p:nvSpPr>
          <p:cNvPr id="43" name="Text 41"/>
          <p:cNvSpPr/>
          <p:nvPr/>
        </p:nvSpPr>
        <p:spPr>
          <a:xfrm>
            <a:off x="7113310" y="5451376"/>
            <a:ext cx="2700171"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Sí</a:t>
            </a:r>
            <a:endParaRPr lang="en-US" sz="1150" dirty="0"/>
          </a:p>
        </p:txBody>
      </p:sp>
      <p:sp>
        <p:nvSpPr>
          <p:cNvPr id="44" name="Text 42"/>
          <p:cNvSpPr/>
          <p:nvPr/>
        </p:nvSpPr>
        <p:spPr>
          <a:xfrm>
            <a:off x="9501545" y="5451376"/>
            <a:ext cx="2483086"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PAUP, MrBayes, Mesquite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649089"/>
            <a:ext cx="10868745" cy="490934"/>
          </a:xfrm>
          <a:prstGeom prst="rect">
            <a:avLst/>
          </a:prstGeom>
          <a:noFill/>
          <a:ln/>
        </p:spPr>
        <p:txBody>
          <a:bodyPr wrap="none" lIns="0" tIns="0" rIns="0" bIns="0" rtlCol="0" anchor="t"/>
          <a:lstStyle/>
          <a:p>
            <a:pPr marL="0" indent="0" algn="l">
              <a:lnSpc>
                <a:spcPct val="104000"/>
              </a:lnSpc>
              <a:buNone/>
            </a:pPr>
            <a:r>
              <a:rPr lang="en-US" sz="3050" dirty="0">
                <a:solidFill>
                  <a:srgbClr val="1B1B27"/>
                </a:solidFill>
                <a:latin typeface="Raleway" pitchFamily="34" charset="0"/>
                <a:ea typeface="Raleway" pitchFamily="34" charset="-122"/>
                <a:cs typeface="Raleway" pitchFamily="34" charset="-120"/>
              </a:rPr>
              <a:t>Herramientas de Conversión</a:t>
            </a:r>
            <a:endParaRPr lang="en-US" sz="3050" dirty="0"/>
          </a:p>
        </p:txBody>
      </p:sp>
      <p:sp>
        <p:nvSpPr>
          <p:cNvPr id="3" name="Text 1"/>
          <p:cNvSpPr/>
          <p:nvPr/>
        </p:nvSpPr>
        <p:spPr>
          <a:xfrm>
            <a:off x="661475" y="1438473"/>
            <a:ext cx="10868745"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3C3939"/>
                </a:solidFill>
                <a:latin typeface="Roboto" pitchFamily="34" charset="0"/>
                <a:ea typeface="Roboto" pitchFamily="34" charset="-122"/>
                <a:cs typeface="Roboto" pitchFamily="34" charset="-120"/>
              </a:rPr>
              <a:t>La conversión entre formatos es un paso rutinario en bioinformática. Existen recursos en línea de acceso libre que permiten transformar matrices entre los formatos descritos, siempre que se cumplan los requisitos previos de alineación y edición de nombres.</a:t>
            </a:r>
            <a:endParaRPr lang="en-US" sz="1200" dirty="0"/>
          </a:p>
        </p:txBody>
      </p:sp>
      <p:sp>
        <p:nvSpPr>
          <p:cNvPr id="4" name="Shape 2"/>
          <p:cNvSpPr/>
          <p:nvPr/>
        </p:nvSpPr>
        <p:spPr>
          <a:xfrm>
            <a:off x="548269" y="2096691"/>
            <a:ext cx="5469098" cy="3337123"/>
          </a:xfrm>
          <a:prstGeom prst="roundRect">
            <a:avLst>
              <a:gd name="adj" fmla="val 3390"/>
            </a:avLst>
          </a:prstGeom>
          <a:solidFill>
            <a:srgbClr val="1B1B27">
              <a:alpha val="95000"/>
            </a:srgbClr>
          </a:solidFill>
          <a:ln/>
        </p:spPr>
        <p:txBody>
          <a:bodyPr/>
          <a:lstStyle/>
          <a:p>
            <a:endParaRPr lang="es-MX"/>
          </a:p>
        </p:txBody>
      </p:sp>
      <p:sp>
        <p:nvSpPr>
          <p:cNvPr id="5" name="Text 3"/>
          <p:cNvSpPr/>
          <p:nvPr/>
        </p:nvSpPr>
        <p:spPr>
          <a:xfrm>
            <a:off x="705328" y="2245916"/>
            <a:ext cx="5154980" cy="245566"/>
          </a:xfrm>
          <a:prstGeom prst="rect">
            <a:avLst/>
          </a:prstGeom>
          <a:noFill/>
          <a:ln/>
        </p:spPr>
        <p:txBody>
          <a:bodyPr wrap="none" lIns="0" tIns="0" rIns="0" bIns="0" rtlCol="0" anchor="t"/>
          <a:lstStyle/>
          <a:p>
            <a:pPr marL="0" indent="0" algn="l">
              <a:lnSpc>
                <a:spcPct val="104000"/>
              </a:lnSpc>
              <a:buNone/>
            </a:pPr>
            <a:r>
              <a:rPr lang="en-US" sz="1500" dirty="0">
                <a:solidFill>
                  <a:srgbClr val="FFFFFF"/>
                </a:solidFill>
                <a:latin typeface="Raleway" pitchFamily="34" charset="0"/>
                <a:ea typeface="Raleway" pitchFamily="34" charset="-122"/>
                <a:cs typeface="Raleway" pitchFamily="34" charset="-120"/>
              </a:rPr>
              <a:t>Requisitos previos a la conversión</a:t>
            </a:r>
            <a:endParaRPr lang="en-US" sz="150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263" y="2667149"/>
            <a:ext cx="235639" cy="235645"/>
          </a:xfrm>
          <a:prstGeom prst="rect">
            <a:avLst/>
          </a:prstGeom>
        </p:spPr>
      </p:pic>
      <p:sp>
        <p:nvSpPr>
          <p:cNvPr id="7" name="Text 4"/>
          <p:cNvSpPr/>
          <p:nvPr/>
        </p:nvSpPr>
        <p:spPr>
          <a:xfrm>
            <a:off x="1215895" y="2659360"/>
            <a:ext cx="4644413"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FFFFFF"/>
                </a:solidFill>
                <a:latin typeface="Roboto" pitchFamily="34" charset="0"/>
                <a:ea typeface="Roboto" pitchFamily="34" charset="-122"/>
                <a:cs typeface="Roboto" pitchFamily="34" charset="-120"/>
              </a:rPr>
              <a:t>La matriz original debe estar </a:t>
            </a:r>
            <a:r>
              <a:rPr lang="en-US" sz="1200" b="1" dirty="0">
                <a:solidFill>
                  <a:srgbClr val="FFFFFF"/>
                </a:solidFill>
                <a:latin typeface="Roboto Bold" pitchFamily="34" charset="0"/>
                <a:ea typeface="Roboto Bold" pitchFamily="34" charset="-122"/>
                <a:cs typeface="Roboto Bold" pitchFamily="34" charset="-120"/>
              </a:rPr>
              <a:t>alineada</a:t>
            </a:r>
            <a:r>
              <a:rPr lang="en-US" sz="1200" dirty="0">
                <a:solidFill>
                  <a:srgbClr val="FFFFFF"/>
                </a:solidFill>
                <a:latin typeface="Roboto" pitchFamily="34" charset="0"/>
                <a:ea typeface="Roboto" pitchFamily="34" charset="-122"/>
                <a:cs typeface="Roboto" pitchFamily="34" charset="-120"/>
              </a:rPr>
              <a:t>: todas las secuencias con el mismo número de caracteres.</a:t>
            </a:r>
            <a:endParaRPr lang="en-US" sz="120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263" y="3455938"/>
            <a:ext cx="235639" cy="235645"/>
          </a:xfrm>
          <a:prstGeom prst="rect">
            <a:avLst/>
          </a:prstGeom>
        </p:spPr>
      </p:pic>
      <p:sp>
        <p:nvSpPr>
          <p:cNvPr id="9" name="Text 5"/>
          <p:cNvSpPr/>
          <p:nvPr/>
        </p:nvSpPr>
        <p:spPr>
          <a:xfrm>
            <a:off x="1215895" y="3448149"/>
            <a:ext cx="4644413"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FFFFFF"/>
                </a:solidFill>
                <a:latin typeface="Roboto" pitchFamily="34" charset="0"/>
                <a:ea typeface="Roboto" pitchFamily="34" charset="-122"/>
                <a:cs typeface="Roboto" pitchFamily="34" charset="-120"/>
              </a:rPr>
              <a:t>Los nombres deben estar </a:t>
            </a:r>
            <a:r>
              <a:rPr lang="en-US" sz="1200" b="1" dirty="0">
                <a:solidFill>
                  <a:srgbClr val="FFFFFF"/>
                </a:solidFill>
                <a:latin typeface="Roboto Bold" pitchFamily="34" charset="0"/>
                <a:ea typeface="Roboto Bold" pitchFamily="34" charset="-122"/>
                <a:cs typeface="Roboto Bold" pitchFamily="34" charset="-120"/>
              </a:rPr>
              <a:t>editados</a:t>
            </a:r>
            <a:r>
              <a:rPr lang="en-US" sz="1200" dirty="0">
                <a:solidFill>
                  <a:srgbClr val="FFFFFF"/>
                </a:solidFill>
                <a:latin typeface="Roboto" pitchFamily="34" charset="0"/>
                <a:ea typeface="Roboto" pitchFamily="34" charset="-122"/>
                <a:cs typeface="Roboto" pitchFamily="34" charset="-120"/>
              </a:rPr>
              <a:t>: primeros 8–16 caracteres únicos según el programa destino.</a:t>
            </a:r>
            <a:endParaRPr lang="en-US" sz="120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263" y="4244727"/>
            <a:ext cx="235639" cy="235645"/>
          </a:xfrm>
          <a:prstGeom prst="rect">
            <a:avLst/>
          </a:prstGeom>
        </p:spPr>
      </p:pic>
      <p:sp>
        <p:nvSpPr>
          <p:cNvPr id="11" name="Text 6"/>
          <p:cNvSpPr/>
          <p:nvPr/>
        </p:nvSpPr>
        <p:spPr>
          <a:xfrm>
            <a:off x="1215895" y="4236938"/>
            <a:ext cx="4644413"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FFFFFF"/>
                </a:solidFill>
                <a:latin typeface="Roboto" pitchFamily="34" charset="0"/>
                <a:ea typeface="Roboto" pitchFamily="34" charset="-122"/>
                <a:cs typeface="Roboto" pitchFamily="34" charset="-120"/>
              </a:rPr>
              <a:t>Verificar la ausencia de caracteres especiales, espacios o tildes en los identificadores.</a:t>
            </a:r>
            <a:endParaRPr lang="en-US" sz="1200" dirty="0"/>
          </a:p>
        </p:txBody>
      </p:sp>
      <p:sp>
        <p:nvSpPr>
          <p:cNvPr id="12" name="Text 7"/>
          <p:cNvSpPr/>
          <p:nvPr/>
        </p:nvSpPr>
        <p:spPr>
          <a:xfrm>
            <a:off x="6293883" y="2245916"/>
            <a:ext cx="5242687" cy="245566"/>
          </a:xfrm>
          <a:prstGeom prst="rect">
            <a:avLst/>
          </a:prstGeom>
          <a:noFill/>
          <a:ln/>
        </p:spPr>
        <p:txBody>
          <a:bodyPr wrap="none" lIns="0" tIns="0" rIns="0" bIns="0" rtlCol="0" anchor="t"/>
          <a:lstStyle/>
          <a:p>
            <a:pPr marL="0" indent="0" algn="l">
              <a:lnSpc>
                <a:spcPct val="104000"/>
              </a:lnSpc>
              <a:buNone/>
            </a:pPr>
            <a:r>
              <a:rPr lang="en-US" sz="1500" dirty="0">
                <a:solidFill>
                  <a:srgbClr val="1B1B27"/>
                </a:solidFill>
                <a:latin typeface="Raleway" pitchFamily="34" charset="0"/>
                <a:ea typeface="Raleway" pitchFamily="34" charset="-122"/>
                <a:cs typeface="Raleway" pitchFamily="34" charset="-120"/>
              </a:rPr>
              <a:t>Recursos recomendados</a:t>
            </a:r>
            <a:endParaRPr lang="en-US" sz="1500" dirty="0"/>
          </a:p>
        </p:txBody>
      </p:sp>
      <p:sp>
        <p:nvSpPr>
          <p:cNvPr id="13" name="Text 8"/>
          <p:cNvSpPr/>
          <p:nvPr/>
        </p:nvSpPr>
        <p:spPr>
          <a:xfrm>
            <a:off x="6293883" y="2640707"/>
            <a:ext cx="5242687" cy="1379240"/>
          </a:xfrm>
          <a:prstGeom prst="rect">
            <a:avLst/>
          </a:prstGeom>
          <a:noFill/>
          <a:ln/>
        </p:spPr>
        <p:txBody>
          <a:bodyPr wrap="square" lIns="0" tIns="0" rIns="0" bIns="0" rtlCol="0" anchor="t">
            <a:normAutofit/>
          </a:bodyPr>
          <a:lstStyle/>
          <a:p>
            <a:pPr marL="0" indent="0" algn="l">
              <a:lnSpc>
                <a:spcPct val="130000"/>
              </a:lnSpc>
              <a:buNone/>
            </a:pPr>
            <a:r>
              <a:rPr lang="en-US" sz="1200" b="1" dirty="0">
                <a:solidFill>
                  <a:srgbClr val="3C3939"/>
                </a:solidFill>
                <a:latin typeface="Roboto Bold" pitchFamily="34" charset="0"/>
                <a:ea typeface="Roboto Bold" pitchFamily="34" charset="-122"/>
                <a:cs typeface="Roboto Bold" pitchFamily="34" charset="-120"/>
              </a:rPr>
              <a:t>Herramienta NCI:</a:t>
            </a:r>
            <a:endParaRPr lang="en-US" sz="1200" dirty="0"/>
          </a:p>
          <a:p>
            <a:pPr marL="0" indent="0" algn="l">
              <a:lnSpc>
                <a:spcPct val="130000"/>
              </a:lnSpc>
              <a:spcAft>
                <a:spcPts val="1050"/>
              </a:spcAft>
              <a:buNone/>
            </a:pPr>
            <a:r>
              <a:rPr lang="en-US" sz="1200" dirty="0">
                <a:solidFill>
                  <a:srgbClr val="3C3939"/>
                </a:solidFill>
                <a:highlight>
                  <a:srgbClr val="F2F2F2"/>
                </a:highlight>
                <a:latin typeface="Consolas" pitchFamily="34" charset="0"/>
                <a:ea typeface="Consolas" pitchFamily="34" charset="-122"/>
                <a:cs typeface="Consolas" pitchFamily="34" charset="-120"/>
              </a:rPr>
              <a:t>http://genome.nci.nih.gov/tools/reformat.html</a:t>
            </a:r>
            <a:endParaRPr lang="en-US" sz="1200" dirty="0"/>
          </a:p>
          <a:p>
            <a:pPr marL="0" indent="0" algn="l">
              <a:lnSpc>
                <a:spcPct val="130000"/>
              </a:lnSpc>
              <a:buNone/>
            </a:pPr>
            <a:r>
              <a:rPr lang="en-US" sz="1200" b="1" dirty="0">
                <a:solidFill>
                  <a:srgbClr val="3C3939"/>
                </a:solidFill>
                <a:latin typeface="Roboto Bold" pitchFamily="34" charset="0"/>
                <a:ea typeface="Roboto Bold" pitchFamily="34" charset="-122"/>
                <a:cs typeface="Roboto Bold" pitchFamily="34" charset="-120"/>
              </a:rPr>
              <a:t>Herramienta LANL (HIV):</a:t>
            </a:r>
            <a:endParaRPr lang="en-US" sz="1200" dirty="0"/>
          </a:p>
          <a:p>
            <a:pPr marL="0" indent="0" algn="l">
              <a:lnSpc>
                <a:spcPct val="1300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http://www.hiv.lanl.gov/content/sequence/FORMAT_CONVERSION/form.html</a:t>
            </a:r>
            <a:endParaRPr lang="en-US" sz="1200" dirty="0"/>
          </a:p>
        </p:txBody>
      </p:sp>
      <p:sp>
        <p:nvSpPr>
          <p:cNvPr id="14" name="Text 9"/>
          <p:cNvSpPr/>
          <p:nvPr/>
        </p:nvSpPr>
        <p:spPr>
          <a:xfrm>
            <a:off x="6293883" y="4169172"/>
            <a:ext cx="5242687" cy="245566"/>
          </a:xfrm>
          <a:prstGeom prst="rect">
            <a:avLst/>
          </a:prstGeom>
          <a:noFill/>
          <a:ln/>
        </p:spPr>
        <p:txBody>
          <a:bodyPr wrap="none" lIns="0" tIns="0" rIns="0" bIns="0" rtlCol="0" anchor="t"/>
          <a:lstStyle/>
          <a:p>
            <a:pPr marL="0" indent="0" algn="l">
              <a:lnSpc>
                <a:spcPct val="104000"/>
              </a:lnSpc>
              <a:buNone/>
            </a:pPr>
            <a:r>
              <a:rPr lang="en-US" sz="1500" dirty="0">
                <a:solidFill>
                  <a:srgbClr val="1B1B27"/>
                </a:solidFill>
                <a:latin typeface="Raleway" pitchFamily="34" charset="0"/>
                <a:ea typeface="Raleway" pitchFamily="34" charset="-122"/>
                <a:cs typeface="Raleway" pitchFamily="34" charset="-120"/>
              </a:rPr>
              <a:t>Consideraciones de uso</a:t>
            </a:r>
            <a:endParaRPr lang="en-US" sz="1500" dirty="0"/>
          </a:p>
        </p:txBody>
      </p:sp>
      <p:sp>
        <p:nvSpPr>
          <p:cNvPr id="15" name="Text 10"/>
          <p:cNvSpPr/>
          <p:nvPr/>
        </p:nvSpPr>
        <p:spPr>
          <a:xfrm>
            <a:off x="6293883" y="4563963"/>
            <a:ext cx="5242687" cy="73550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3C3939"/>
                </a:solidFill>
                <a:latin typeface="Roboto" pitchFamily="34" charset="0"/>
                <a:ea typeface="Roboto" pitchFamily="34" charset="-122"/>
                <a:cs typeface="Roboto" pitchFamily="34" charset="-120"/>
              </a:rPr>
              <a:t>Ambas herramientas son de acceso libre y permiten convertir entre los principales formatos bioinformáticos. Se recomienda verificar el resultado de la conversión antes de proceder con el análisis filogenético.</a:t>
            </a:r>
            <a:endParaRPr lang="en-US" sz="1200" dirty="0"/>
          </a:p>
        </p:txBody>
      </p:sp>
      <p:sp>
        <p:nvSpPr>
          <p:cNvPr id="16" name="Shape 11"/>
          <p:cNvSpPr/>
          <p:nvPr/>
        </p:nvSpPr>
        <p:spPr>
          <a:xfrm>
            <a:off x="661475" y="5601692"/>
            <a:ext cx="10868745" cy="607120"/>
          </a:xfrm>
          <a:prstGeom prst="roundRect">
            <a:avLst>
              <a:gd name="adj" fmla="val 10870"/>
            </a:avLst>
          </a:prstGeom>
          <a:solidFill>
            <a:srgbClr val="E1E1EA"/>
          </a:solidFill>
          <a:ln/>
        </p:spPr>
        <p:txBody>
          <a:bodyPr/>
          <a:lstStyle/>
          <a:p>
            <a:endParaRPr lang="es-MX"/>
          </a:p>
        </p:txBody>
      </p:sp>
      <p:pic>
        <p:nvPicPr>
          <p:cNvPr id="17" name="Image 3" descr="preencoded.png"/>
          <p:cNvPicPr>
            <a:picLocks noChangeAspect="1"/>
          </p:cNvPicPr>
          <p:nvPr/>
        </p:nvPicPr>
        <p:blipFill>
          <a:blip r:embed="rId5"/>
          <a:stretch>
            <a:fillRect/>
          </a:stretch>
        </p:blipFill>
        <p:spPr>
          <a:xfrm>
            <a:off x="818534" y="5817691"/>
            <a:ext cx="196349" cy="157063"/>
          </a:xfrm>
          <a:prstGeom prst="rect">
            <a:avLst/>
          </a:prstGeom>
        </p:spPr>
      </p:pic>
      <p:sp>
        <p:nvSpPr>
          <p:cNvPr id="18" name="Text 12"/>
          <p:cNvSpPr/>
          <p:nvPr/>
        </p:nvSpPr>
        <p:spPr>
          <a:xfrm>
            <a:off x="1171943" y="5790109"/>
            <a:ext cx="10810803" cy="245170"/>
          </a:xfrm>
          <a:prstGeom prst="rect">
            <a:avLst/>
          </a:prstGeom>
          <a:noFill/>
          <a:ln/>
        </p:spPr>
        <p:txBody>
          <a:bodyPr wrap="none" lIns="0" tIns="0" rIns="0" bIns="0" rtlCol="0" anchor="t"/>
          <a:lstStyle/>
          <a:p>
            <a:pPr marL="0" indent="0" algn="l">
              <a:lnSpc>
                <a:spcPct val="130000"/>
              </a:lnSpc>
              <a:buNone/>
            </a:pPr>
            <a:r>
              <a:rPr lang="en-US" sz="1200" dirty="0">
                <a:solidFill>
                  <a:srgbClr val="000000"/>
                </a:solidFill>
                <a:latin typeface="Roboto" pitchFamily="34" charset="0"/>
                <a:ea typeface="Roboto" pitchFamily="34" charset="-122"/>
                <a:cs typeface="Roboto" pitchFamily="34" charset="-120"/>
              </a:rPr>
              <a:t>La correcta edición de nombres y el alineamiento previo son condiciones indispensables para que la conversión entre formatos sea exitosa.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8F4A94-0A84-84B3-47B8-12635611EC1A}"/>
              </a:ext>
            </a:extLst>
          </p:cNvPr>
          <p:cNvSpPr txBox="1"/>
          <p:nvPr/>
        </p:nvSpPr>
        <p:spPr>
          <a:xfrm>
            <a:off x="825304" y="565281"/>
            <a:ext cx="10958733" cy="4801314"/>
          </a:xfrm>
          <a:prstGeom prst="rect">
            <a:avLst/>
          </a:prstGeom>
          <a:noFill/>
        </p:spPr>
        <p:txBody>
          <a:bodyPr wrap="square">
            <a:spAutoFit/>
          </a:bodyPr>
          <a:lstStyle/>
          <a:p>
            <a:r>
              <a:rPr lang="es-MX" b="1" dirty="0">
                <a:effectLst/>
              </a:rPr>
              <a:t>Recomendaciones</a:t>
            </a:r>
            <a:r>
              <a:rPr lang="es-MX" dirty="0">
                <a:effectLst/>
              </a:rPr>
              <a:t> </a:t>
            </a:r>
            <a:r>
              <a:rPr lang="es-MX" b="1" dirty="0">
                <a:effectLst/>
              </a:rPr>
              <a:t>Prácticas</a:t>
            </a:r>
            <a:r>
              <a:rPr lang="es-MX" dirty="0">
                <a:effectLst/>
              </a:rPr>
              <a:t> </a:t>
            </a:r>
          </a:p>
          <a:p>
            <a:endParaRPr lang="es-MX" dirty="0"/>
          </a:p>
          <a:p>
            <a:pPr marL="285750" indent="-285750">
              <a:buFont typeface="Arial" panose="020B0604020202020204" pitchFamily="34" charset="0"/>
              <a:buChar char="•"/>
            </a:pPr>
            <a:r>
              <a:rPr lang="es-MX" dirty="0">
                <a:effectLst/>
              </a:rPr>
              <a:t>Editar nombres de secuencias para asegurar diferencia en primeros 8 caracteres 12 </a:t>
            </a:r>
          </a:p>
          <a:p>
            <a:pPr marL="285750" indent="-285750">
              <a:buFont typeface="Arial" panose="020B0604020202020204" pitchFamily="34" charset="0"/>
              <a:buChar char="•"/>
            </a:pPr>
            <a:r>
              <a:rPr lang="es-MX" dirty="0">
                <a:effectLst/>
              </a:rPr>
              <a:t>Verificar alineación antes de conversión de formatos </a:t>
            </a:r>
          </a:p>
          <a:p>
            <a:pPr marL="285750" indent="-285750">
              <a:buFont typeface="Arial" panose="020B0604020202020204" pitchFamily="34" charset="0"/>
              <a:buChar char="•"/>
            </a:pPr>
            <a:r>
              <a:rPr lang="es-MX" dirty="0">
                <a:effectLst/>
              </a:rPr>
              <a:t>Seleccionar formato según programa de análisis a utilizar </a:t>
            </a:r>
          </a:p>
          <a:p>
            <a:pPr marL="285750" indent="-285750">
              <a:buFont typeface="Arial" panose="020B0604020202020204" pitchFamily="34" charset="0"/>
              <a:buChar char="•"/>
            </a:pPr>
            <a:r>
              <a:rPr lang="es-MX" dirty="0">
                <a:effectLst/>
              </a:rPr>
              <a:t>Considerar compatibilidad entre programas al elegir formato </a:t>
            </a:r>
          </a:p>
          <a:p>
            <a:pPr marL="285750" indent="-285750">
              <a:buFont typeface="Arial" panose="020B0604020202020204" pitchFamily="34" charset="0"/>
              <a:buChar char="•"/>
            </a:pPr>
            <a:r>
              <a:rPr lang="es-MX" dirty="0">
                <a:effectLst/>
              </a:rPr>
              <a:t>Usar herramientas de conversión en línea para facilitar transformaciones </a:t>
            </a:r>
          </a:p>
          <a:p>
            <a:endParaRPr lang="es-MX" dirty="0"/>
          </a:p>
          <a:p>
            <a:r>
              <a:rPr lang="es-MX" b="1" dirty="0">
                <a:effectLst/>
              </a:rPr>
              <a:t>Referencias</a:t>
            </a:r>
            <a:r>
              <a:rPr lang="es-MX" dirty="0">
                <a:effectLst/>
              </a:rPr>
              <a:t> </a:t>
            </a:r>
          </a:p>
          <a:p>
            <a:endParaRPr lang="es-MX" dirty="0"/>
          </a:p>
          <a:p>
            <a:pPr marL="285750" indent="-285750">
              <a:buFont typeface="Arial" panose="020B0604020202020204" pitchFamily="34" charset="0"/>
              <a:buChar char="•"/>
            </a:pPr>
            <a:r>
              <a:rPr lang="es-MX" dirty="0" err="1">
                <a:effectLst/>
              </a:rPr>
              <a:t>Entrez</a:t>
            </a:r>
            <a:r>
              <a:rPr lang="es-MX" dirty="0">
                <a:effectLst/>
              </a:rPr>
              <a:t> </a:t>
            </a:r>
            <a:r>
              <a:rPr lang="es-MX" dirty="0" err="1">
                <a:effectLst/>
              </a:rPr>
              <a:t>Help</a:t>
            </a:r>
            <a:r>
              <a:rPr lang="es-MX" dirty="0">
                <a:effectLst/>
              </a:rPr>
              <a:t>. [en línea] Ncbi.nlm.nih.gov. 2006 Jan 20 [Actualizado 9 Abril 2014]. Disponible en: https://www.NCBI.nlm.nih.gov/books/NBK3837/ Jameson, D.J., 2005. </a:t>
            </a:r>
          </a:p>
          <a:p>
            <a:pPr marL="285750" indent="-285750">
              <a:buFont typeface="Arial" panose="020B0604020202020204" pitchFamily="34" charset="0"/>
              <a:buChar char="•"/>
            </a:pPr>
            <a:r>
              <a:rPr lang="es-MX" dirty="0">
                <a:effectLst/>
              </a:rPr>
              <a:t>Perl </a:t>
            </a:r>
            <a:r>
              <a:rPr lang="es-MX" dirty="0" err="1">
                <a:effectLst/>
              </a:rPr>
              <a:t>Programming</a:t>
            </a:r>
            <a:r>
              <a:rPr lang="es-MX" dirty="0">
                <a:effectLst/>
              </a:rPr>
              <a:t> </a:t>
            </a:r>
            <a:r>
              <a:rPr lang="es-MX" dirty="0" err="1">
                <a:effectLst/>
              </a:rPr>
              <a:t>for</a:t>
            </a:r>
            <a:r>
              <a:rPr lang="es-MX" dirty="0">
                <a:effectLst/>
              </a:rPr>
              <a:t> </a:t>
            </a:r>
            <a:r>
              <a:rPr lang="es-MX" dirty="0" err="1">
                <a:effectLst/>
              </a:rPr>
              <a:t>Biologists</a:t>
            </a:r>
            <a:r>
              <a:rPr lang="es-MX" dirty="0">
                <a:effectLst/>
              </a:rPr>
              <a:t>. Wiley Online Library. 13 </a:t>
            </a:r>
            <a:r>
              <a:rPr lang="es-MX" dirty="0" err="1">
                <a:effectLst/>
              </a:rPr>
              <a:t>Maddison</a:t>
            </a:r>
            <a:r>
              <a:rPr lang="es-MX" dirty="0">
                <a:effectLst/>
              </a:rPr>
              <a:t>, D.R., </a:t>
            </a:r>
            <a:r>
              <a:rPr lang="es-MX" dirty="0" err="1">
                <a:effectLst/>
              </a:rPr>
              <a:t>Swofford</a:t>
            </a:r>
            <a:r>
              <a:rPr lang="es-MX" dirty="0">
                <a:effectLst/>
              </a:rPr>
              <a:t>, D.L. y </a:t>
            </a:r>
            <a:r>
              <a:rPr lang="es-MX" dirty="0" err="1">
                <a:effectLst/>
              </a:rPr>
              <a:t>Maddison</a:t>
            </a:r>
            <a:r>
              <a:rPr lang="es-MX" dirty="0">
                <a:effectLst/>
              </a:rPr>
              <a:t>, W.P., 1997. </a:t>
            </a:r>
          </a:p>
          <a:p>
            <a:pPr marL="285750" indent="-285750">
              <a:buFont typeface="Arial" panose="020B0604020202020204" pitchFamily="34" charset="0"/>
              <a:buChar char="•"/>
            </a:pPr>
            <a:r>
              <a:rPr lang="es-MX" dirty="0">
                <a:effectLst/>
              </a:rPr>
              <a:t>NEXUS: </a:t>
            </a:r>
            <a:r>
              <a:rPr lang="es-MX" dirty="0" err="1">
                <a:effectLst/>
              </a:rPr>
              <a:t>an</a:t>
            </a:r>
            <a:r>
              <a:rPr lang="es-MX" dirty="0">
                <a:effectLst/>
              </a:rPr>
              <a:t> extensible file </a:t>
            </a:r>
            <a:r>
              <a:rPr lang="es-MX" dirty="0" err="1">
                <a:effectLst/>
              </a:rPr>
              <a:t>format</a:t>
            </a:r>
            <a:r>
              <a:rPr lang="es-MX" dirty="0">
                <a:effectLst/>
              </a:rPr>
              <a:t> </a:t>
            </a:r>
            <a:r>
              <a:rPr lang="es-MX" dirty="0" err="1">
                <a:effectLst/>
              </a:rPr>
              <a:t>for</a:t>
            </a:r>
            <a:r>
              <a:rPr lang="es-MX" dirty="0">
                <a:effectLst/>
              </a:rPr>
              <a:t> </a:t>
            </a:r>
            <a:r>
              <a:rPr lang="es-MX" dirty="0" err="1">
                <a:effectLst/>
              </a:rPr>
              <a:t>systematic</a:t>
            </a:r>
            <a:r>
              <a:rPr lang="es-MX" dirty="0">
                <a:effectLst/>
              </a:rPr>
              <a:t> </a:t>
            </a:r>
            <a:r>
              <a:rPr lang="es-MX" dirty="0" err="1">
                <a:effectLst/>
              </a:rPr>
              <a:t>information</a:t>
            </a:r>
            <a:r>
              <a:rPr lang="es-MX" dirty="0">
                <a:effectLst/>
              </a:rPr>
              <a:t>. </a:t>
            </a:r>
            <a:r>
              <a:rPr lang="es-MX" dirty="0" err="1">
                <a:effectLst/>
              </a:rPr>
              <a:t>Systematic</a:t>
            </a:r>
            <a:r>
              <a:rPr lang="es-MX" dirty="0">
                <a:effectLst/>
              </a:rPr>
              <a:t> </a:t>
            </a:r>
            <a:r>
              <a:rPr lang="es-MX" dirty="0" err="1">
                <a:effectLst/>
              </a:rPr>
              <a:t>Biology</a:t>
            </a:r>
            <a:r>
              <a:rPr lang="es-MX" dirty="0">
                <a:effectLst/>
              </a:rPr>
              <a:t> 46(4), pp.590-621. </a:t>
            </a:r>
          </a:p>
          <a:p>
            <a:pPr marL="285750" indent="-285750">
              <a:buFont typeface="Arial" panose="020B0604020202020204" pitchFamily="34" charset="0"/>
              <a:buChar char="•"/>
            </a:pPr>
            <a:r>
              <a:rPr lang="es-MX" dirty="0" err="1">
                <a:effectLst/>
              </a:rPr>
              <a:t>National</a:t>
            </a:r>
            <a:r>
              <a:rPr lang="es-MX" dirty="0">
                <a:effectLst/>
              </a:rPr>
              <a:t> Center </a:t>
            </a:r>
            <a:r>
              <a:rPr lang="es-MX" dirty="0" err="1">
                <a:effectLst/>
              </a:rPr>
              <a:t>for</a:t>
            </a:r>
            <a:r>
              <a:rPr lang="es-MX" dirty="0">
                <a:effectLst/>
              </a:rPr>
              <a:t> </a:t>
            </a:r>
            <a:r>
              <a:rPr lang="es-MX" dirty="0" err="1">
                <a:effectLst/>
              </a:rPr>
              <a:t>Biotechnology</a:t>
            </a:r>
            <a:r>
              <a:rPr lang="es-MX" dirty="0">
                <a:effectLst/>
              </a:rPr>
              <a:t> </a:t>
            </a:r>
            <a:r>
              <a:rPr lang="es-MX" dirty="0" err="1">
                <a:effectLst/>
              </a:rPr>
              <a:t>Information</a:t>
            </a:r>
            <a:r>
              <a:rPr lang="es-MX" dirty="0">
                <a:effectLst/>
              </a:rPr>
              <a:t> (US). NCBI </a:t>
            </a:r>
            <a:r>
              <a:rPr lang="es-MX" dirty="0" err="1">
                <a:effectLst/>
              </a:rPr>
              <a:t>Help</a:t>
            </a:r>
            <a:r>
              <a:rPr lang="es-MX" dirty="0">
                <a:effectLst/>
              </a:rPr>
              <a:t> Manual [en línea]. </a:t>
            </a:r>
          </a:p>
          <a:p>
            <a:pPr marL="285750" indent="-285750">
              <a:buFont typeface="Arial" panose="020B0604020202020204" pitchFamily="34" charset="0"/>
              <a:buChar char="•"/>
            </a:pPr>
            <a:r>
              <a:rPr lang="es-MX" dirty="0">
                <a:effectLst/>
              </a:rPr>
              <a:t>Bethesda (MD): </a:t>
            </a:r>
            <a:r>
              <a:rPr lang="es-MX" dirty="0" err="1">
                <a:effectLst/>
              </a:rPr>
              <a:t>National</a:t>
            </a:r>
            <a:r>
              <a:rPr lang="es-MX" dirty="0">
                <a:effectLst/>
              </a:rPr>
              <a:t> Center </a:t>
            </a:r>
            <a:r>
              <a:rPr lang="es-MX" dirty="0" err="1">
                <a:effectLst/>
              </a:rPr>
              <a:t>for</a:t>
            </a:r>
            <a:r>
              <a:rPr lang="es-MX" dirty="0">
                <a:effectLst/>
              </a:rPr>
              <a:t> </a:t>
            </a:r>
            <a:r>
              <a:rPr lang="es-MX" dirty="0" err="1">
                <a:effectLst/>
              </a:rPr>
              <a:t>Biotechnology</a:t>
            </a:r>
            <a:r>
              <a:rPr lang="es-MX" dirty="0">
                <a:effectLst/>
              </a:rPr>
              <a:t> </a:t>
            </a:r>
            <a:r>
              <a:rPr lang="es-MX" dirty="0" err="1">
                <a:effectLst/>
              </a:rPr>
              <a:t>Information</a:t>
            </a:r>
            <a:r>
              <a:rPr lang="es-MX" dirty="0">
                <a:effectLst/>
              </a:rPr>
              <a:t> (US); 2005-. Disponible en: http://www.NCBI.nlm.nih.gov/books/NBK3831/</a:t>
            </a:r>
            <a:endParaRPr lang="es-MX" dirty="0"/>
          </a:p>
        </p:txBody>
      </p:sp>
    </p:spTree>
    <p:extLst>
      <p:ext uri="{BB962C8B-B14F-4D97-AF65-F5344CB8AC3E}">
        <p14:creationId xmlns:p14="http://schemas.microsoft.com/office/powerpoint/2010/main" val="2955491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1807</Words>
  <Application>Microsoft Office PowerPoint</Application>
  <PresentationFormat>Widescreen</PresentationFormat>
  <Paragraphs>175</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Raleway</vt:lpstr>
      <vt:lpstr>Roboto</vt:lpstr>
      <vt:lpstr>Raleway Light</vt:lpstr>
      <vt:lpstr>Roboto 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Luis Germán López Valdez</dc:creator>
  <cp:lastModifiedBy>LUIS GERMAN LOPEZ VALDEZ</cp:lastModifiedBy>
  <cp:revision>2</cp:revision>
  <dcterms:created xsi:type="dcterms:W3CDTF">2026-08-24T07:54:38Z</dcterms:created>
  <dcterms:modified xsi:type="dcterms:W3CDTF">2026-08-24T08:00:14Z</dcterms:modified>
</cp:coreProperties>
</file>