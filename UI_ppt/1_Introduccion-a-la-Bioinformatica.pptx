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Raleway" pitchFamily="2" charset="0"/>
      <p:regular r:id="rId18"/>
    </p:embeddedFont>
    <p:embeddedFont>
      <p:font typeface="Roboto" panose="02000000000000000000" pitchFamily="2" charset="0"/>
      <p:regular r:id="rId19"/>
      <p:italic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0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125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3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jpeg"/><Relationship Id="rId7" Type="http://schemas.openxmlformats.org/officeDocument/2006/relationships/image" Target="../media/image26.sv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Introducción a la Bioinformática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disciplina en la intersección de la biología, la informática y la estadística — transformando datos en descubrimientos.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483E9C5-719A-3BEC-3C74-9DAC73672FC1}"/>
              </a:ext>
            </a:extLst>
          </p:cNvPr>
          <p:cNvSpPr/>
          <p:nvPr/>
        </p:nvSpPr>
        <p:spPr>
          <a:xfrm>
            <a:off x="496119" y="365736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Por. Dr. Luis Germán López Valdez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83BF45-2DFA-250A-092A-753D99A1B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465" y="0"/>
            <a:ext cx="1161535" cy="5575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AC71A6-EA96-880C-BAB0-55ADD32E24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285"/>
            <a:ext cx="1584533" cy="4326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2624" y="647514"/>
            <a:ext cx="4075881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¿Qué es la Bioinformática?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89534"/>
            <a:ext cx="5188893" cy="294032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3206" y="1153790"/>
            <a:ext cx="2649364" cy="994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03082" y="1296516"/>
            <a:ext cx="230676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Integración de disciplinas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203082" y="1613595"/>
            <a:ext cx="2306762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Combina biología, informática y estadística en una sola ciencia aplicada.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3206" y="2264569"/>
            <a:ext cx="2649364" cy="119032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03082" y="2407295"/>
            <a:ext cx="230676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Métodos y herramientas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6203082" y="2724373"/>
            <a:ext cx="2306762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Desarrolla algoritmos y software para analizar datos biológicos de gran escala y complejidad.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3206" y="3571280"/>
            <a:ext cx="2649364" cy="99439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03082" y="3714006"/>
            <a:ext cx="230676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Conocimiento procesable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203082" y="4031084"/>
            <a:ext cx="2306762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Transforma información biológica cruda en hallazgos interpretables y aplicables.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17E3A9-98F5-EFB4-727C-42BB1EE95A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2464" y="4585962"/>
            <a:ext cx="1161535" cy="5575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3FE429-8391-3982-D738-E41A400C56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285"/>
            <a:ext cx="1584533" cy="4326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3095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Surge la Bioinformática?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957462"/>
            <a:ext cx="2622724" cy="1955081"/>
          </a:xfrm>
          <a:prstGeom prst="roundRect">
            <a:avLst>
              <a:gd name="adj" fmla="val 304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2640" y="2103983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💥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Explosión de datos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410495"/>
            <a:ext cx="2329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secuenciación de genomas, la proteómica y la metabolómica generan volúmenes masivos de datos que superan la capacidad humana de procesamiento manual.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957462"/>
            <a:ext cx="2622724" cy="1955081"/>
          </a:xfrm>
          <a:prstGeom prst="roundRect">
            <a:avLst>
              <a:gd name="adj" fmla="val 304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407122" y="2103983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🧬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Complejidad biológica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410495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imposible analizar manualmente millones de secuencias. Se necesitan métodos computacionales robustos y escalables.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957462"/>
            <a:ext cx="2622724" cy="1955081"/>
          </a:xfrm>
          <a:prstGeom prst="roundRect">
            <a:avLst>
              <a:gd name="adj" fmla="val 304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171605" y="2103983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🔗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Necesidad de integración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631951"/>
            <a:ext cx="2329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Combinar múltiples tipos de datos biológicos — genómicos, transcriptómicos, proteómicos — requiere plataformas unificadas de análisis.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230C7B-F057-4D0E-6CCA-7BBA5EC1D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464" y="4585962"/>
            <a:ext cx="1161535" cy="5575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5CD4B1-543B-6D33-8AF7-93F8A2D8C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285"/>
            <a:ext cx="1584533" cy="4326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081" y="713333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Biología como Generadora Masiva de Datos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96119" y="1729957"/>
            <a:ext cx="22886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3B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496119" y="2305401"/>
            <a:ext cx="22886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Pares de bases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96119" y="2575896"/>
            <a:ext cx="228860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el genoma humano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930203" y="1729957"/>
            <a:ext cx="22886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100M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2930203" y="2305401"/>
            <a:ext cx="22886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Lecturas por experimento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930203" y="2575896"/>
            <a:ext cx="22886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un ensayo típico de RNA-seq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13161" y="3068889"/>
            <a:ext cx="22886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18-24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1713161" y="3644333"/>
            <a:ext cx="22886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Meses para duplicar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713161" y="3914828"/>
            <a:ext cx="228860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volumen de datos biológicos globales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6119" y="4241729"/>
            <a:ext cx="4722763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bases de datos públicas concentran hoy millones de secuencias disponibles para la comunidad científica global, y ese número sigue creciendo de forma exponencial.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528D8B-5FB8-68B3-4582-B6AE73494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285"/>
            <a:ext cx="1584533" cy="4326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543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Experimentos Biológicos a Datos Digitales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39" y="1710407"/>
            <a:ext cx="3873178" cy="22987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9723" y="3383197"/>
            <a:ext cx="962776" cy="370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digitales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2636361" y="3383197"/>
            <a:ext cx="962776" cy="370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Adquisición de datos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403217" y="3383197"/>
            <a:ext cx="962776" cy="370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Experimento biológico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03206" y="1086966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Conversiones clave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51352" y="1422574"/>
            <a:ext cx="192658" cy="1926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20669" y="1418630"/>
            <a:ext cx="223190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Secuenciación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20669" y="1735708"/>
            <a:ext cx="2231901" cy="597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ADN/ARN → archivos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FASTQ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millones de lecturas cortas listas para mapeo y ensamblaje.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51352" y="2569815"/>
            <a:ext cx="192658" cy="1926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20669" y="2565871"/>
            <a:ext cx="223190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Espectrometría de masas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420669" y="2882950"/>
            <a:ext cx="2231901" cy="597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Proteínas e metabolitos → datos de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m/z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abundancia para identificación molecular.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51352" y="3717057"/>
            <a:ext cx="192658" cy="19265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20669" y="3713113"/>
            <a:ext cx="223190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Microscopía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6420669" y="4030191"/>
            <a:ext cx="2231901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Imágenes celulares → matrices numéricas procesables para análisis cuantitativo.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FDED4D9-2678-17C8-2A9C-849EACE92A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464" y="4585962"/>
            <a:ext cx="1161535" cy="5575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B6DA4D1-CE08-D193-E092-95E532294E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3285"/>
            <a:ext cx="1584533" cy="4326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656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Problemas que Resuelve la Bioinformática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03306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2033067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genes y variantes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339578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Localiza genes funcionales y variantes asociadas a fenotipos de interés agronómico o clínico.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203306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92092" y="2033067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Predicción de proteínas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92092" y="2339578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Infiere estructura tridimensional y función a partir de secuencias de aminoácidos.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7658" y="3076724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Expresión génica diferencial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27658" y="3383235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Detecta genes que cambian su nivel de expresión bajo distintas condiciones biológicas o experimentales.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92092" y="3076724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Rutas metabólicas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92092" y="3383235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Reconstruye y modela redes metabólicas complejas para comprender el funcionamiento celular.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83C02DE-37F9-5A3D-6E34-D47A016D8E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82464" y="4585962"/>
            <a:ext cx="1161535" cy="5575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3D3478-F79A-AFD2-38E3-883255AD67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3285"/>
            <a:ext cx="1584533" cy="4326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7609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en Agricultura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350473"/>
            <a:ext cx="4722763" cy="108175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9967" y="1784977"/>
            <a:ext cx="212601" cy="21260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23963" y="1511282"/>
            <a:ext cx="3834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Mejora genética</a:t>
            </a:r>
            <a:endParaRPr lang="en-US" sz="1350" dirty="0"/>
          </a:p>
        </p:txBody>
      </p:sp>
      <p:sp>
        <p:nvSpPr>
          <p:cNvPr id="7" name="Text 2"/>
          <p:cNvSpPr/>
          <p:nvPr/>
        </p:nvSpPr>
        <p:spPr>
          <a:xfrm>
            <a:off x="1223963" y="1817793"/>
            <a:ext cx="38341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marcadores moleculares para la selección asistida de cultivos con características superiores.</a:t>
            </a:r>
            <a:endParaRPr lang="en-US" sz="11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573989"/>
            <a:ext cx="4722763" cy="1081757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9967" y="3008493"/>
            <a:ext cx="212601" cy="212601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223963" y="2734798"/>
            <a:ext cx="3834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Resistencia a estrés</a:t>
            </a:r>
            <a:endParaRPr lang="en-US" sz="1350" dirty="0"/>
          </a:p>
        </p:txBody>
      </p:sp>
      <p:sp>
        <p:nvSpPr>
          <p:cNvPr id="11" name="Text 4"/>
          <p:cNvSpPr/>
          <p:nvPr/>
        </p:nvSpPr>
        <p:spPr>
          <a:xfrm>
            <a:off x="1223963" y="3041309"/>
            <a:ext cx="38341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genes implicados en tolerancia a sequía, salinidad y plagas para el desarrollo de variedades resilientes.</a:t>
            </a:r>
            <a:endParaRPr lang="en-US" sz="11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797505"/>
            <a:ext cx="4722763" cy="1081757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9967" y="4232009"/>
            <a:ext cx="212601" cy="212601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223963" y="3958314"/>
            <a:ext cx="3834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Predicción de rendimiento</a:t>
            </a:r>
            <a:endParaRPr lang="en-US" sz="1350" dirty="0"/>
          </a:p>
        </p:txBody>
      </p:sp>
      <p:sp>
        <p:nvSpPr>
          <p:cNvPr id="15" name="Text 6"/>
          <p:cNvSpPr/>
          <p:nvPr/>
        </p:nvSpPr>
        <p:spPr>
          <a:xfrm>
            <a:off x="1223963" y="4264825"/>
            <a:ext cx="38341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Predecir fenotipos complejos mediante genómica predictiva, optimizando decisiones de selección y cruzamiento.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251B9D-D255-CD02-AE1E-2A7175AC10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3285"/>
            <a:ext cx="1584533" cy="4326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552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en Alimentos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68772"/>
            <a:ext cx="5194622" cy="29435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2713" y="1054894"/>
            <a:ext cx="265993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Bioinformática al servicio de la cadena alimentaria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371406" y="1595140"/>
            <a:ext cx="228123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Trazabilidad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371406" y="1890117"/>
            <a:ext cx="2281238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Identificación de especies y detección de adulteraciones mediante secuenciación de DNA barcoding.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371406" y="2684859"/>
            <a:ext cx="228123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Calidad nutricional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371406" y="2979837"/>
            <a:ext cx="2281238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de perfiles metabolómicos para caracterizar propiedades nutricionales y funcionales de alimentos.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371406" y="3774579"/>
            <a:ext cx="228123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Seguridad alimentaria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371406" y="4069556"/>
            <a:ext cx="2281238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Detección rápida de patógenos mediante análisis bioinformático de secuencias metagenómicas.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724E22-ABD3-4C6E-8462-6F216FAB3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464" y="4585962"/>
            <a:ext cx="1161535" cy="5575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3265DD-3501-D5B7-EF88-B63B63DC2C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285"/>
            <a:ext cx="1584533" cy="4326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715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en Salud y Biotecnología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73659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Medicina personalizada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8901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de variantes genéticas individuales para diseñar tratamientos y terapias a medida del paciente.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773659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Descubrimiento de fármacos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189015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Modelado molecular y </a:t>
            </a:r>
            <a:r>
              <a:rPr lang="en-US" sz="11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screening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virtual de compuestos para identificar candidatos terapéuticos de forma eficiente.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773659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Diagnóstico avanzado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189015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Identificación de biomarcadores clínicos mediante análisis integrado de datos genómicos, proteómicos y metabolómicos.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FE658F-93E1-12D5-1212-5C6636DC98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464" y="4585962"/>
            <a:ext cx="1161535" cy="5575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701B18-FA5E-30C3-8BD5-A26FBEFAFE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3285"/>
            <a:ext cx="1584533" cy="4326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Herramientas y Disciplinas Clave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0425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8278" y="1253947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ecosistema bioinformático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738278" y="1400096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bioinformática moderna se articula en cuatro grandes disciplinas que, en conjunto, permiten abordar la complejidad de los sistemas biológicos desde distintos niveles moleculares.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3993" y="2083020"/>
            <a:ext cx="2014240" cy="3210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83410" y="2092545"/>
            <a:ext cx="191482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Genómica</a:t>
            </a:r>
            <a:endParaRPr lang="en-US" sz="800" b="1" dirty="0"/>
          </a:p>
        </p:txBody>
      </p:sp>
      <p:sp>
        <p:nvSpPr>
          <p:cNvPr id="8" name="Text 4"/>
          <p:cNvSpPr/>
          <p:nvPr/>
        </p:nvSpPr>
        <p:spPr>
          <a:xfrm>
            <a:off x="4783410" y="2224481"/>
            <a:ext cx="191482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e interpretación de genomas completos a escala masiva.</a:t>
            </a:r>
            <a:endParaRPr lang="en-US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3993" y="2740172"/>
            <a:ext cx="2014240" cy="3210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83410" y="2749697"/>
            <a:ext cx="191482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Proteómica</a:t>
            </a:r>
            <a:endParaRPr lang="en-US" sz="800" b="1" dirty="0"/>
          </a:p>
        </p:txBody>
      </p:sp>
      <p:sp>
        <p:nvSpPr>
          <p:cNvPr id="11" name="Text 6"/>
          <p:cNvSpPr/>
          <p:nvPr/>
        </p:nvSpPr>
        <p:spPr>
          <a:xfrm>
            <a:off x="4783410" y="2881633"/>
            <a:ext cx="191482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Estudio del proteoma: identificación, cuantificación e interacciones de proteínas.</a:t>
            </a:r>
            <a:endParaRPr lang="en-US" sz="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5280" y="2083020"/>
            <a:ext cx="2014240" cy="32109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64697" y="2092545"/>
            <a:ext cx="191482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Metabolómica</a:t>
            </a:r>
            <a:endParaRPr lang="en-US" sz="800" b="1" dirty="0"/>
          </a:p>
        </p:txBody>
      </p:sp>
      <p:sp>
        <p:nvSpPr>
          <p:cNvPr id="14" name="Text 8"/>
          <p:cNvSpPr/>
          <p:nvPr/>
        </p:nvSpPr>
        <p:spPr>
          <a:xfrm>
            <a:off x="6964697" y="2224481"/>
            <a:ext cx="191482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global de metabolitos presentes en células, tejidos o fluidos biológicos.</a:t>
            </a:r>
            <a:endParaRPr lang="en-US" sz="8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5206" y="2729859"/>
            <a:ext cx="2014314" cy="32109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64623" y="2739384"/>
            <a:ext cx="191489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Bioinformática estructural</a:t>
            </a:r>
            <a:endParaRPr lang="en-US" sz="800" b="1" dirty="0"/>
          </a:p>
        </p:txBody>
      </p:sp>
      <p:sp>
        <p:nvSpPr>
          <p:cNvPr id="17" name="Text 10"/>
          <p:cNvSpPr/>
          <p:nvPr/>
        </p:nvSpPr>
        <p:spPr>
          <a:xfrm>
            <a:off x="6964623" y="2871320"/>
            <a:ext cx="191489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Modelado tridimensional de proteínas, ácidos nucleicos y complejos moleculares.</a:t>
            </a:r>
            <a:endParaRPr lang="en-US" sz="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EA4206C-99F7-7DD7-59FB-73E5BFBF2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6606" y="4605169"/>
            <a:ext cx="1045028" cy="5016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F576553-03FC-0061-B269-7104390483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3285"/>
            <a:ext cx="1584533" cy="4326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63972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Futuro de la Bioinformática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25119" y="1092622"/>
            <a:ext cx="4722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bioinformática evoluciona hacia una ciencia más integrada, autónoma y de mayor impacto en la vida real.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1674912"/>
            <a:ext cx="686619" cy="10015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44715" y="1812206"/>
            <a:ext cx="39031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IA y Machine Learning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744715" y="2106513"/>
            <a:ext cx="3903166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Algoritmos de aprendizaje profundo para descifrar patrones en datos biológicos de alta dimensionalidad.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2676451"/>
            <a:ext cx="686619" cy="100153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44715" y="2813745"/>
            <a:ext cx="39031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en tiempo real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744715" y="3108052"/>
            <a:ext cx="3903166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Procesamiento instantáneo de datos ómicos para aplicaciones clínicas urgentes y monitoreo agrícola continuo.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119" y="3677989"/>
            <a:ext cx="686619" cy="100153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44715" y="3815283"/>
            <a:ext cx="39031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Herramienta indispensable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744715" y="4109591"/>
            <a:ext cx="3903166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disciplina emergente a pilar central en la investigación biológica, agrícola, alimentaria y biomédica del siglo XXI.</a:t>
            </a:r>
            <a:endParaRPr lang="en-US" sz="10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C5717B-A4F0-C0B9-8177-8BDA3C2842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3943" y="4582619"/>
            <a:ext cx="1164437" cy="5608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696</Words>
  <Application>Microsoft Office PowerPoint</Application>
  <PresentationFormat>On-screen Show (16:9)</PresentationFormat>
  <Paragraphs>100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Raleway</vt:lpstr>
      <vt:lpstr>Arial</vt:lpstr>
      <vt:lpstr>Roboto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Luis Germán López Valdez</dc:creator>
  <cp:lastModifiedBy>LUIS GERMAN LOPEZ VALDEZ</cp:lastModifiedBy>
  <cp:revision>3</cp:revision>
  <dcterms:created xsi:type="dcterms:W3CDTF">2026-08-15T18:04:09Z</dcterms:created>
  <dcterms:modified xsi:type="dcterms:W3CDTF">2026-08-15T20:11:35Z</dcterms:modified>
</cp:coreProperties>
</file>